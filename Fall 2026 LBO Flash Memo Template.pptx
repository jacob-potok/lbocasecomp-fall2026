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2"/>
    <p:sldId id="257" r:id="rId3"/>
    <p:sldId id="258" r:id="rId4"/>
    <p:sldId id="259" r:id="rId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329"/>
    <p:restoredTop sz="85157"/>
  </p:normalViewPr>
  <p:slideViewPr>
    <p:cSldViewPr snapToGrid="0">
      <p:cViewPr varScale="1">
        <p:scale>
          <a:sx n="188" d="100"/>
          <a:sy n="188" d="100"/>
        </p:scale>
        <p:origin x="31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508318368915265E-2"/>
          <c:y val="9.5849679790351906E-4"/>
          <c:w val="0.62948391518374391"/>
          <c:h val="0.97962055544356386"/>
        </c:manualLayout>
      </c:layout>
      <c:pieChart>
        <c:varyColors val="1"/>
        <c:ser>
          <c:idx val="0"/>
          <c:order val="0"/>
          <c:tx>
            <c:strRef>
              <c:f>Sheet1!$B$1</c:f>
              <c:strCache>
                <c:ptCount val="1"/>
                <c:pt idx="0">
                  <c:v>Sales</c:v>
                </c:pt>
              </c:strCache>
            </c:strRef>
          </c:tx>
          <c:spPr>
            <a:ln w="6350">
              <a:solidFill>
                <a:schemeClr val="tx1"/>
              </a:solidFill>
            </a:ln>
          </c:spPr>
          <c:explosion val="2"/>
          <c:dPt>
            <c:idx val="0"/>
            <c:bubble3D val="0"/>
            <c:spPr>
              <a:solidFill>
                <a:schemeClr val="accent1"/>
              </a:solidFill>
              <a:ln w="6350">
                <a:solidFill>
                  <a:schemeClr val="tx1"/>
                </a:solidFill>
              </a:ln>
            </c:spPr>
            <c:extLst>
              <c:ext xmlns:c16="http://schemas.microsoft.com/office/drawing/2014/chart" uri="{C3380CC4-5D6E-409C-BE32-E72D297353CC}">
                <c16:uniqueId val="{00000001-1888-744D-BCE5-11197A19BFBA}"/>
              </c:ext>
            </c:extLst>
          </c:dPt>
          <c:dPt>
            <c:idx val="1"/>
            <c:bubble3D val="0"/>
            <c:spPr>
              <a:solidFill>
                <a:schemeClr val="accent4">
                  <a:lumMod val="50000"/>
                </a:schemeClr>
              </a:solidFill>
              <a:ln w="6350">
                <a:solidFill>
                  <a:schemeClr val="tx1"/>
                </a:solidFill>
              </a:ln>
            </c:spPr>
            <c:extLst>
              <c:ext xmlns:c16="http://schemas.microsoft.com/office/drawing/2014/chart" uri="{C3380CC4-5D6E-409C-BE32-E72D297353CC}">
                <c16:uniqueId val="{00000003-1888-744D-BCE5-11197A19BFBA}"/>
              </c:ext>
            </c:extLst>
          </c:dPt>
          <c:dPt>
            <c:idx val="2"/>
            <c:bubble3D val="0"/>
            <c:spPr>
              <a:solidFill>
                <a:schemeClr val="bg2">
                  <a:lumMod val="60000"/>
                  <a:lumOff val="40000"/>
                </a:schemeClr>
              </a:solidFill>
              <a:ln w="6350">
                <a:solidFill>
                  <a:schemeClr val="tx1"/>
                </a:solidFill>
              </a:ln>
            </c:spPr>
            <c:extLst>
              <c:ext xmlns:c16="http://schemas.microsoft.com/office/drawing/2014/chart" uri="{C3380CC4-5D6E-409C-BE32-E72D297353CC}">
                <c16:uniqueId val="{00000005-1888-744D-BCE5-11197A19BFBA}"/>
              </c:ext>
            </c:extLst>
          </c:dPt>
          <c:dPt>
            <c:idx val="3"/>
            <c:bubble3D val="0"/>
            <c:spPr>
              <a:solidFill>
                <a:schemeClr val="accent4"/>
              </a:solidFill>
              <a:ln w="6350">
                <a:solidFill>
                  <a:schemeClr val="tx1"/>
                </a:solidFill>
              </a:ln>
            </c:spPr>
            <c:extLst>
              <c:ext xmlns:c16="http://schemas.microsoft.com/office/drawing/2014/chart" uri="{C3380CC4-5D6E-409C-BE32-E72D297353CC}">
                <c16:uniqueId val="{00000007-1888-744D-BCE5-11197A19BFBA}"/>
              </c:ext>
            </c:extLst>
          </c:dPt>
          <c:dLbls>
            <c:numFmt formatCode="0.0%_);\(0.0%\);&quot;--&quot;_)" sourceLinked="0"/>
            <c:spPr>
              <a:noFill/>
              <a:ln>
                <a:noFill/>
              </a:ln>
            </c:spPr>
            <c:txPr>
              <a:bodyPr anchorCtr="1"/>
              <a:lstStyle/>
              <a:p>
                <a:pPr>
                  <a:defRPr sz="900" b="1" i="0" u="none">
                    <a:solidFill>
                      <a:schemeClr val="bg1"/>
                    </a:solidFill>
                    <a:latin typeface="Arial"/>
                    <a:ea typeface="Arial"/>
                    <a:cs typeface="Arial"/>
                  </a:defRPr>
                </a:pPr>
                <a:endParaRPr lang="en-US"/>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Sheet1!$A$2:$A$5</c:f>
              <c:strCache>
                <c:ptCount val="4"/>
                <c:pt idx="0">
                  <c:v>United States</c:v>
                </c:pt>
                <c:pt idx="1">
                  <c:v>Canada &amp; Mexico</c:v>
                </c:pt>
                <c:pt idx="2">
                  <c:v>EMEA</c:v>
                </c:pt>
                <c:pt idx="3">
                  <c:v>APAC</c:v>
                </c:pt>
              </c:strCache>
            </c:strRef>
          </c:cat>
          <c:val>
            <c:numRef>
              <c:f>Sheet1!$B$2:$B$5</c:f>
              <c:numCache>
                <c:formatCode>0.00%</c:formatCode>
                <c:ptCount val="4"/>
                <c:pt idx="0">
                  <c:v>0.53</c:v>
                </c:pt>
                <c:pt idx="1">
                  <c:v>0.16</c:v>
                </c:pt>
                <c:pt idx="2">
                  <c:v>0.22</c:v>
                </c:pt>
                <c:pt idx="3">
                  <c:v>0.09</c:v>
                </c:pt>
              </c:numCache>
            </c:numRef>
          </c:val>
          <c:extLst>
            <c:ext xmlns:c16="http://schemas.microsoft.com/office/drawing/2014/chart" uri="{C3380CC4-5D6E-409C-BE32-E72D297353CC}">
              <c16:uniqueId val="{00000008-1888-744D-BCE5-11197A19BFBA}"/>
            </c:ext>
          </c:extLst>
        </c:ser>
        <c:dLbls>
          <c:showLegendKey val="0"/>
          <c:showVal val="0"/>
          <c:showCatName val="0"/>
          <c:showSerName val="0"/>
          <c:showPercent val="0"/>
          <c:showBubbleSize val="0"/>
          <c:showLeaderLines val="1"/>
        </c:dLbls>
        <c:firstSliceAng val="0"/>
      </c:pieChart>
      <c:spPr>
        <a:noFill/>
        <a:ln>
          <a:noFill/>
        </a:ln>
      </c:spPr>
    </c:plotArea>
    <c:plotVisOnly val="1"/>
    <c:dispBlanksAs val="zero"/>
    <c:showDLblsOverMax val="1"/>
  </c:chart>
  <c:spPr>
    <a:noFill/>
    <a:ln>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508318368915265E-2"/>
          <c:y val="9.5849679790351906E-4"/>
          <c:w val="0.62948391518374391"/>
          <c:h val="0.97962055544356386"/>
        </c:manualLayout>
      </c:layout>
      <c:pieChart>
        <c:varyColors val="1"/>
        <c:ser>
          <c:idx val="0"/>
          <c:order val="0"/>
          <c:tx>
            <c:strRef>
              <c:f>Sheet1!$B$1</c:f>
              <c:strCache>
                <c:ptCount val="1"/>
                <c:pt idx="0">
                  <c:v>Sales</c:v>
                </c:pt>
              </c:strCache>
            </c:strRef>
          </c:tx>
          <c:spPr>
            <a:ln w="6350">
              <a:solidFill>
                <a:schemeClr val="tx1"/>
              </a:solidFill>
            </a:ln>
          </c:spPr>
          <c:explosion val="2"/>
          <c:dPt>
            <c:idx val="0"/>
            <c:bubble3D val="0"/>
            <c:spPr>
              <a:solidFill>
                <a:schemeClr val="accent1"/>
              </a:solidFill>
              <a:ln w="6350">
                <a:solidFill>
                  <a:schemeClr val="tx1"/>
                </a:solidFill>
              </a:ln>
            </c:spPr>
            <c:extLst>
              <c:ext xmlns:c16="http://schemas.microsoft.com/office/drawing/2014/chart" uri="{C3380CC4-5D6E-409C-BE32-E72D297353CC}">
                <c16:uniqueId val="{00000001-98F8-B145-B362-AA9389557727}"/>
              </c:ext>
            </c:extLst>
          </c:dPt>
          <c:dPt>
            <c:idx val="1"/>
            <c:bubble3D val="0"/>
            <c:spPr>
              <a:solidFill>
                <a:schemeClr val="accent4">
                  <a:lumMod val="50000"/>
                </a:schemeClr>
              </a:solidFill>
              <a:ln w="6350">
                <a:solidFill>
                  <a:schemeClr val="tx1"/>
                </a:solidFill>
              </a:ln>
            </c:spPr>
            <c:extLst>
              <c:ext xmlns:c16="http://schemas.microsoft.com/office/drawing/2014/chart" uri="{C3380CC4-5D6E-409C-BE32-E72D297353CC}">
                <c16:uniqueId val="{00000003-98F8-B145-B362-AA9389557727}"/>
              </c:ext>
            </c:extLst>
          </c:dPt>
          <c:dPt>
            <c:idx val="2"/>
            <c:bubble3D val="0"/>
            <c:spPr>
              <a:solidFill>
                <a:schemeClr val="bg2">
                  <a:lumMod val="60000"/>
                  <a:lumOff val="40000"/>
                </a:schemeClr>
              </a:solidFill>
              <a:ln w="6350">
                <a:solidFill>
                  <a:schemeClr val="tx1"/>
                </a:solidFill>
              </a:ln>
            </c:spPr>
            <c:extLst>
              <c:ext xmlns:c16="http://schemas.microsoft.com/office/drawing/2014/chart" uri="{C3380CC4-5D6E-409C-BE32-E72D297353CC}">
                <c16:uniqueId val="{00000005-98F8-B145-B362-AA9389557727}"/>
              </c:ext>
            </c:extLst>
          </c:dPt>
          <c:dPt>
            <c:idx val="3"/>
            <c:bubble3D val="0"/>
            <c:spPr>
              <a:solidFill>
                <a:schemeClr val="accent4"/>
              </a:solidFill>
              <a:ln w="6350">
                <a:solidFill>
                  <a:schemeClr val="tx1"/>
                </a:solidFill>
              </a:ln>
            </c:spPr>
            <c:extLst>
              <c:ext xmlns:c16="http://schemas.microsoft.com/office/drawing/2014/chart" uri="{C3380CC4-5D6E-409C-BE32-E72D297353CC}">
                <c16:uniqueId val="{00000007-98F8-B145-B362-AA9389557727}"/>
              </c:ext>
            </c:extLst>
          </c:dPt>
          <c:dPt>
            <c:idx val="4"/>
            <c:bubble3D val="0"/>
            <c:spPr>
              <a:solidFill>
                <a:schemeClr val="bg2">
                  <a:lumMod val="20000"/>
                  <a:lumOff val="80000"/>
                </a:schemeClr>
              </a:solidFill>
              <a:ln w="6350">
                <a:solidFill>
                  <a:schemeClr val="tx1"/>
                </a:solidFill>
              </a:ln>
            </c:spPr>
            <c:extLst>
              <c:ext xmlns:c16="http://schemas.microsoft.com/office/drawing/2014/chart" uri="{C3380CC4-5D6E-409C-BE32-E72D297353CC}">
                <c16:uniqueId val="{00000009-98F8-B145-B362-AA9389557727}"/>
              </c:ext>
            </c:extLst>
          </c:dPt>
          <c:dPt>
            <c:idx val="5"/>
            <c:bubble3D val="0"/>
            <c:spPr>
              <a:solidFill>
                <a:schemeClr val="accent4">
                  <a:lumMod val="20000"/>
                  <a:lumOff val="80000"/>
                </a:schemeClr>
              </a:solidFill>
              <a:ln w="6350">
                <a:solidFill>
                  <a:schemeClr val="tx1"/>
                </a:solidFill>
              </a:ln>
            </c:spPr>
            <c:extLst>
              <c:ext xmlns:c16="http://schemas.microsoft.com/office/drawing/2014/chart" uri="{C3380CC4-5D6E-409C-BE32-E72D297353CC}">
                <c16:uniqueId val="{0000000B-98F8-B145-B362-AA9389557727}"/>
              </c:ext>
            </c:extLst>
          </c:dPt>
          <c:dLbls>
            <c:dLbl>
              <c:idx val="4"/>
              <c:spPr>
                <a:noFill/>
                <a:ln>
                  <a:noFill/>
                </a:ln>
              </c:spPr>
              <c:txPr>
                <a:bodyPr anchorCtr="1"/>
                <a:lstStyle/>
                <a:p>
                  <a:pPr>
                    <a:defRPr sz="900" b="1" i="0" u="none">
                      <a:solidFill>
                        <a:schemeClr val="tx1"/>
                      </a:solidFill>
                      <a:latin typeface="Arial"/>
                      <a:ea typeface="Arial"/>
                      <a:cs typeface="Arial"/>
                    </a:defRPr>
                  </a:pPr>
                  <a:endParaRPr lang="en-US"/>
                </a:p>
              </c:txPr>
              <c:showLegendKey val="0"/>
              <c:showVal val="1"/>
              <c:showCatName val="0"/>
              <c:showSerName val="0"/>
              <c:showPercent val="0"/>
              <c:showBubbleSize val="0"/>
              <c:extLst>
                <c:ext xmlns:c16="http://schemas.microsoft.com/office/drawing/2014/chart" uri="{C3380CC4-5D6E-409C-BE32-E72D297353CC}">
                  <c16:uniqueId val="{00000009-98F8-B145-B362-AA9389557727}"/>
                </c:ext>
              </c:extLst>
            </c:dLbl>
            <c:dLbl>
              <c:idx val="5"/>
              <c:spPr>
                <a:noFill/>
                <a:ln>
                  <a:noFill/>
                </a:ln>
              </c:spPr>
              <c:txPr>
                <a:bodyPr anchorCtr="1"/>
                <a:lstStyle/>
                <a:p>
                  <a:pPr>
                    <a:defRPr sz="900" b="1" i="0" u="none">
                      <a:solidFill>
                        <a:schemeClr val="tx1"/>
                      </a:solidFill>
                      <a:latin typeface="Arial"/>
                      <a:ea typeface="Arial"/>
                      <a:cs typeface="Arial"/>
                    </a:defRPr>
                  </a:pPr>
                  <a:endParaRPr lang="en-US"/>
                </a:p>
              </c:txPr>
              <c:showLegendKey val="0"/>
              <c:showVal val="1"/>
              <c:showCatName val="0"/>
              <c:showSerName val="0"/>
              <c:showPercent val="0"/>
              <c:showBubbleSize val="0"/>
              <c:extLst>
                <c:ext xmlns:c16="http://schemas.microsoft.com/office/drawing/2014/chart" uri="{C3380CC4-5D6E-409C-BE32-E72D297353CC}">
                  <c16:uniqueId val="{0000000B-98F8-B145-B362-AA9389557727}"/>
                </c:ext>
              </c:extLst>
            </c:dLbl>
            <c:numFmt formatCode="0.0%_);\(0.0%\);&quot;--&quot;_)" sourceLinked="0"/>
            <c:spPr>
              <a:noFill/>
              <a:ln>
                <a:noFill/>
              </a:ln>
            </c:spPr>
            <c:txPr>
              <a:bodyPr anchorCtr="1"/>
              <a:lstStyle/>
              <a:p>
                <a:pPr>
                  <a:defRPr sz="900" b="1" i="0" u="none">
                    <a:solidFill>
                      <a:schemeClr val="bg1"/>
                    </a:solidFill>
                    <a:latin typeface="Arial"/>
                    <a:ea typeface="Arial"/>
                    <a:cs typeface="Arial"/>
                  </a:defRPr>
                </a:pPr>
                <a:endParaRPr lang="en-US"/>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Sheet1!$A$2:$A$7</c:f>
              <c:strCache>
                <c:ptCount val="6"/>
                <c:pt idx="0">
                  <c:v>Customer 1</c:v>
                </c:pt>
                <c:pt idx="1">
                  <c:v>Customer 2</c:v>
                </c:pt>
                <c:pt idx="2">
                  <c:v>Customer 3</c:v>
                </c:pt>
                <c:pt idx="3">
                  <c:v>Customer 4</c:v>
                </c:pt>
                <c:pt idx="4">
                  <c:v>Customer 5</c:v>
                </c:pt>
                <c:pt idx="5">
                  <c:v>Other</c:v>
                </c:pt>
              </c:strCache>
            </c:strRef>
          </c:cat>
          <c:val>
            <c:numRef>
              <c:f>Sheet1!$B$2:$B$7</c:f>
              <c:numCache>
                <c:formatCode>0.00%</c:formatCode>
                <c:ptCount val="6"/>
                <c:pt idx="0">
                  <c:v>9.8000000000000004E-2</c:v>
                </c:pt>
                <c:pt idx="1">
                  <c:v>8.5999999999999993E-2</c:v>
                </c:pt>
                <c:pt idx="2">
                  <c:v>5.6000000000000001E-2</c:v>
                </c:pt>
                <c:pt idx="3">
                  <c:v>4.7E-2</c:v>
                </c:pt>
                <c:pt idx="4">
                  <c:v>3.95E-2</c:v>
                </c:pt>
                <c:pt idx="5">
                  <c:v>0.67349999999999999</c:v>
                </c:pt>
              </c:numCache>
            </c:numRef>
          </c:val>
          <c:extLst>
            <c:ext xmlns:c16="http://schemas.microsoft.com/office/drawing/2014/chart" uri="{C3380CC4-5D6E-409C-BE32-E72D297353CC}">
              <c16:uniqueId val="{0000000C-98F8-B145-B362-AA9389557727}"/>
            </c:ext>
          </c:extLst>
        </c:ser>
        <c:dLbls>
          <c:showLegendKey val="0"/>
          <c:showVal val="0"/>
          <c:showCatName val="0"/>
          <c:showSerName val="0"/>
          <c:showPercent val="0"/>
          <c:showBubbleSize val="0"/>
          <c:showLeaderLines val="1"/>
        </c:dLbls>
        <c:firstSliceAng val="0"/>
      </c:pieChart>
      <c:spPr>
        <a:noFill/>
        <a:ln>
          <a:noFill/>
        </a:ln>
      </c:spPr>
    </c:plotArea>
    <c:plotVisOnly val="1"/>
    <c:dispBlanksAs val="zero"/>
    <c:showDLblsOverMax val="1"/>
  </c:chart>
  <c:spPr>
    <a:noFill/>
    <a:ln>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dk1" tx1="lt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Explain what the company sells, who buys it and why the business can support an LBO. Focus the investment thesis on the evidence behind your most important growth, margin and cash-generation assumptions, including the main risk to your recommendation.</a:t>
            </a:r>
          </a:p>
          <a:p>
            <a:endParaRPr dirty="0"/>
          </a:p>
          <a:p>
            <a:r>
              <a:rPr dirty="0"/>
              <a:t>Draw the financial summary from the model's historical results, operating forecast and cash-flow sections. Distinguish actual results from forecasts and keep years, currency and units consistent. Free cash flow here is after interest, taxes, reinvestment and working-capital changes, but before principal repayments. EBITDA less capital expenditure does not capture all of these cash flows.</a:t>
            </a:r>
          </a:p>
          <a:p>
            <a:endParaRPr dirty="0"/>
          </a:p>
          <a:p>
            <a:r>
              <a:rPr dirty="0"/>
              <a:t>The financial figures match the illustrative LBO model template so you can compare the two documents. The company description and customer statistics are examples, not facts about an identified target. Replace them with your company's analysis.</a:t>
            </a:r>
          </a:p>
          <a:p>
            <a:endParaRPr dirty="0"/>
          </a:p>
          <a:p>
            <a:r>
              <a:rPr dirty="0"/>
              <a:t>The tables and charts are editable in PowerPoint and have no live link to the LBO workbook. After changing your model, manually update the affected slides and check that the numbers agree.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Show how the company earns revenue and which parts of the business matter most to your forecast. Adapt the segment table to its actual operations, using fewer or more business lines if needed. Focus on the products, customers, contract terms and growth drivers that explain differences in performance.</a:t>
            </a:r>
          </a:p>
          <a:p>
            <a:endParaRPr dirty="0"/>
          </a:p>
          <a:p>
            <a:r>
              <a:rPr dirty="0"/>
              <a:t>Replace the illustrative customer and geographic charts with company data for a consistent period. The categories in each chart should total 100%. If a customer name or revenue share is not disclosed, say so rather than estimate it without support. Use the company's reported geographic categories and explain their basis if needed.</a:t>
            </a:r>
          </a:p>
          <a:p>
            <a:endParaRPr dirty="0"/>
          </a:p>
          <a:p>
            <a:r>
              <a:rPr dirty="0"/>
              <a:t>Connect these details to your operating assumptions. Contract pricing, for example, may support a projected revenue increase. Reliance on one customer may be a reason to test the effect of losing that business. Geographic mix shows where revenue comes from; it does not by itself establish stable demand.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Build this slide from the model's transaction assumptions, Sources and Uses, debt schedules and sponsor returns. Use the same purchase price, financing, holding period and exit assumptions as Excel. The financial examples use the model template's assumptions, with sensitivities around that case. Update the editable tables manually after changing your model.</a:t>
            </a:r>
          </a:p>
          <a:p>
            <a:endParaRPr dirty="0"/>
          </a:p>
          <a:p>
            <a:r>
              <a:rPr dirty="0"/>
              <a:t>Total Sources must equal Total Uses. Include acquisition costs, refinancing, fees and required cash. An undrawn revolver provides backup liquidity but does not fund the acquisition. In this example, the $30 million in fees and expenses includes $4.8 million of OID.</a:t>
            </a:r>
          </a:p>
          <a:p>
            <a:endParaRPr dirty="0"/>
          </a:p>
          <a:p>
            <a:r>
              <a:rPr dirty="0"/>
              <a:t>Explain the main borrowing terms. A seven-year maturity is separate from the five-year holding period. The term loan's 1% annual amortization applies to the original principal, with remaining debt accounted for at exit.</a:t>
            </a:r>
          </a:p>
          <a:p>
            <a:endParaRPr dirty="0"/>
          </a:p>
          <a:p>
            <a:r>
              <a:rPr dirty="0"/>
              <a:t>MOIC shows value received per dollar of sponsor equity. IRR also reflects when it is received. Calculate exit equity proceeds by deducting remaining debt and exit expenses from enterprise value and adding available cash. Avoid counting that cash again as a separate distribution.</a:t>
            </a:r>
          </a:p>
          <a:p>
            <a:endParaRPr dirty="0"/>
          </a:p>
          <a:p>
            <a:r>
              <a:rPr dirty="0"/>
              <a:t>Use the sensitivities to explain how weaker growth or a lower exit multiple affects returns and your recommendation.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New this year, this optional component invites your team to consider how technology could make the target company more valuable after an acquisition. It adds a creative dimension to the investment case, grounded in the needs of an established business. You might explore an operational improvement or a technology-based product or service that could generate revenue.</a:t>
            </a:r>
          </a:p>
          <a:p>
            <a:endParaRPr dirty="0"/>
          </a:p>
          <a:p>
            <a:r>
              <a:rPr dirty="0"/>
              <a:t>The slide provides a starting point, not a required format. Explain how the company currently uses technology, the opportunity you see and why your proposal could help. Distinguish known facts from your assumptions. Limited public disclosure does not necessarily mean the company has a technology gap.</a:t>
            </a:r>
          </a:p>
          <a:p>
            <a:endParaRPr dirty="0"/>
          </a:p>
          <a:p>
            <a:r>
              <a:rPr dirty="0"/>
              <a:t>Consider the likely benefits, costs and time needed to put the idea into practice. If evidence supports financial estimates, include them in the relevant forecast assumptions without counting anything already included a second time. You can also discuss the idea qualitatively without changing the </a:t>
            </a:r>
            <a:r>
              <a:rPr lang="en-US" dirty="0"/>
              <a:t>model and</a:t>
            </a:r>
            <a:r>
              <a:rPr dirty="0"/>
              <a:t> develop it further in your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D51AB-6C42-42F8-8B9F-FCD4EA2D2953}"/>
              </a:ext>
            </a:extLst>
          </p:cNvPr>
          <p:cNvSpPr>
            <a:spLocks noGrp="1"/>
          </p:cNvSpPr>
          <p:nvPr>
            <p:ph type="title"/>
          </p:nvPr>
        </p:nvSpPr>
        <p:spPr>
          <a:xfrm>
            <a:off x="228600" y="325605"/>
            <a:ext cx="8686800" cy="495935"/>
          </a:xfrm>
        </p:spPr>
        <p:txBody>
          <a:bodyPr/>
          <a:lstStyle>
            <a:lvl1pPr>
              <a:buNone/>
              <a:defRPr>
                <a:solidFill>
                  <a:schemeClr val="tx2"/>
                </a:solidFill>
              </a:defRPr>
            </a:lvl1pPr>
          </a:lstStyle>
          <a:p>
            <a:r>
              <a:t>Click to edit Master title style</a:t>
            </a:r>
          </a:p>
        </p:txBody>
      </p:sp>
      <p:sp>
        <p:nvSpPr>
          <p:cNvPr id="3" name="Content Placeholder 2">
            <a:extLst>
              <a:ext uri="{FF2B5EF4-FFF2-40B4-BE49-F238E27FC236}">
                <a16:creationId xmlns:a16="http://schemas.microsoft.com/office/drawing/2014/main" id="{A63A3CFA-4FB6-41B6-9A1F-C101DF9C5D4B}"/>
              </a:ext>
            </a:extLst>
          </p:cNvPr>
          <p:cNvSpPr>
            <a:spLocks noGrp="1"/>
          </p:cNvSpPr>
          <p:nvPr>
            <p:ph idx="1"/>
          </p:nvPr>
        </p:nvSpPr>
        <p:spPr>
          <a:xfrm>
            <a:off x="228600" y="1442885"/>
            <a:ext cx="8686800" cy="4544302"/>
          </a:xfrm>
        </p:spPr>
        <p:txBody>
          <a:bodyPr/>
          <a:lstStyle>
            <a:lvl1pPr marL="137160" indent="-137160">
              <a:spcBef>
                <a:spcPts val="0"/>
              </a:spcBef>
              <a:buNone/>
              <a:defRPr>
                <a:solidFill>
                  <a:schemeClr val="tx1"/>
                </a:solidFill>
              </a:defRPr>
            </a:lvl1pPr>
            <a:lvl2pPr marL="365760" indent="-137160">
              <a:spcBef>
                <a:spcPts val="300"/>
              </a:spcBef>
              <a:spcAft>
                <a:spcPts val="300"/>
              </a:spcAft>
              <a:buFont typeface="Arial"/>
              <a:buChar char="–"/>
              <a:defRPr>
                <a:solidFill>
                  <a:schemeClr val="tx1"/>
                </a:solidFill>
              </a:defRPr>
            </a:lvl2pPr>
            <a:lvl3pPr marL="594360" indent="-137160">
              <a:spcBef>
                <a:spcPts val="300"/>
              </a:spcBef>
              <a:spcAft>
                <a:spcPts val="300"/>
              </a:spcAft>
              <a:buFont typeface="Arial"/>
              <a:buChar char="§"/>
              <a:defRPr>
                <a:solidFill>
                  <a:schemeClr val="tx1"/>
                </a:solidFill>
              </a:defRPr>
            </a:lvl3pPr>
          </a:lstStyle>
          <a:p>
            <a:pPr lvl="0">
              <a:buNone/>
            </a:pPr>
            <a:r>
              <a:t>Click to edit Master text styles</a:t>
            </a:r>
          </a:p>
          <a:p>
            <a:pPr lvl="1">
              <a:buNone/>
            </a:pPr>
            <a:r>
              <a:t>Second level</a:t>
            </a:r>
          </a:p>
          <a:p>
            <a:pPr lvl="2">
              <a:buNone/>
            </a:pPr>
            <a:r>
              <a:t>Third level</a:t>
            </a:r>
          </a:p>
        </p:txBody>
      </p:sp>
      <p:sp>
        <p:nvSpPr>
          <p:cNvPr id="13" name="Text Placeholder 13">
            <a:extLst>
              <a:ext uri="{FF2B5EF4-FFF2-40B4-BE49-F238E27FC236}">
                <a16:creationId xmlns:a16="http://schemas.microsoft.com/office/drawing/2014/main" id="{291B193D-B1F5-4631-AA30-84455D098AB7}"/>
              </a:ext>
            </a:extLst>
          </p:cNvPr>
          <p:cNvSpPr>
            <a:spLocks noGrp="1"/>
          </p:cNvSpPr>
          <p:nvPr>
            <p:ph type="body" idx="17" hasCustomPrompt="1"/>
          </p:nvPr>
        </p:nvSpPr>
        <p:spPr>
          <a:xfrm>
            <a:off x="228600" y="884245"/>
            <a:ext cx="8686800" cy="495935"/>
          </a:xfrm>
        </p:spPr>
        <p:txBody>
          <a:bodyPr vert="horz" lIns="91440" tIns="45720" rIns="91440" bIns="45720" anchor="t">
            <a:normAutofit/>
          </a:bodyPr>
          <a:lstStyle>
            <a:lvl1pPr marL="0" indent="0">
              <a:buNone/>
              <a:defRPr sz="1400" b="0">
                <a:solidFill>
                  <a:schemeClr val="tx1"/>
                </a:solidFill>
                <a:latin typeface="Arial"/>
                <a:ea typeface="Arial"/>
                <a:cs typeface="Arial"/>
              </a:defRPr>
            </a:lvl1pPr>
          </a:lstStyle>
          <a:p>
            <a:pPr marL="137160" lvl="0" indent="-137160">
              <a:spcBef>
                <a:spcPct val="0"/>
              </a:spcBef>
              <a:buNone/>
            </a:pPr>
            <a:r>
              <a:t>Click to edit master text styles</a:t>
            </a:r>
          </a:p>
        </p:txBody>
      </p:sp>
      <p:sp>
        <p:nvSpPr>
          <p:cNvPr id="25" name="Slide Number Placeholder 24">
            <a:extLst>
              <a:ext uri="{FF2B5EF4-FFF2-40B4-BE49-F238E27FC236}">
                <a16:creationId xmlns:a16="http://schemas.microsoft.com/office/drawing/2014/main" id="{DB200D68-90E6-44F4-BEB7-A0877A8826B0}"/>
              </a:ext>
            </a:extLst>
          </p:cNvPr>
          <p:cNvSpPr>
            <a:spLocks noGrp="1"/>
          </p:cNvSpPr>
          <p:nvPr>
            <p:ph type="sldNum" idx="19"/>
          </p:nvPr>
        </p:nvSpPr>
        <p:spPr/>
        <p:txBody>
          <a:bodyPr/>
          <a:lstStyle/>
          <a:p>
            <a:fld id="{11C55C1E-B5CB-4C51-BDB7-D5F5353A6486}" type="slidenum">
              <a:t>‹#›</a:t>
            </a:fld>
            <a:endParaRPr/>
          </a:p>
        </p:txBody>
      </p:sp>
      <p:sp>
        <p:nvSpPr>
          <p:cNvPr id="4" name="Text Placeholder 14">
            <a:extLst>
              <a:ext uri="{FF2B5EF4-FFF2-40B4-BE49-F238E27FC236}">
                <a16:creationId xmlns:a16="http://schemas.microsoft.com/office/drawing/2014/main" id="{D339DBDA-4360-4378-F4BF-6371C46954E2}"/>
              </a:ext>
            </a:extLst>
          </p:cNvPr>
          <p:cNvSpPr>
            <a:spLocks noGrp="1"/>
          </p:cNvSpPr>
          <p:nvPr>
            <p:ph type="body" idx="18" hasCustomPrompt="1"/>
          </p:nvPr>
        </p:nvSpPr>
        <p:spPr>
          <a:xfrm>
            <a:off x="1539240" y="6297278"/>
            <a:ext cx="6925627" cy="497127"/>
          </a:xfrm>
        </p:spPr>
        <p:txBody>
          <a:bodyPr lIns="45720" tIns="45720" rIns="45720" bIns="45720">
            <a:noAutofit/>
          </a:bodyPr>
          <a:lstStyle>
            <a:lvl1pPr marL="182880" indent="-182880">
              <a:spcBef>
                <a:spcPts val="0"/>
              </a:spcBef>
              <a:spcAft>
                <a:spcPts val="100"/>
              </a:spcAft>
              <a:buAutoNum type="arabicParenBoth"/>
              <a:defRPr sz="800">
                <a:solidFill>
                  <a:schemeClr val="tx1"/>
                </a:solidFill>
                <a:latin typeface="Arial"/>
                <a:ea typeface="Arial"/>
                <a:cs typeface="Arial"/>
              </a:defRPr>
            </a:lvl1pPr>
            <a:lvl2pPr>
              <a:buNone/>
              <a:defRPr sz="800"/>
            </a:lvl2pPr>
            <a:lvl3pPr>
              <a:buNone/>
              <a:defRPr sz="800"/>
            </a:lvl3pPr>
            <a:lvl4pPr>
              <a:buNone/>
              <a:defRPr sz="800"/>
            </a:lvl4pPr>
            <a:lvl5pPr>
              <a:buNone/>
              <a:defRPr sz="800"/>
            </a:lvl5pPr>
          </a:lstStyle>
          <a:p>
            <a:pPr lvl="0">
              <a:buNone/>
            </a:pPr>
            <a:r>
              <a:t>[ ].</a:t>
            </a:r>
          </a:p>
          <a:p>
            <a:pPr lvl="0">
              <a:buNone/>
            </a:pPr>
            <a:r>
              <a:t>[ ].</a:t>
            </a: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lient Logo Content Slide">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F21BE028-AF1A-4C8B-87D9-8213008B030D}"/>
              </a:ext>
            </a:extLst>
          </p:cNvPr>
          <p:cNvSpPr>
            <a:spLocks noGrp="1"/>
          </p:cNvSpPr>
          <p:nvPr>
            <p:ph type="body" idx="18" hasCustomPrompt="1"/>
          </p:nvPr>
        </p:nvSpPr>
        <p:spPr>
          <a:xfrm>
            <a:off x="1539240" y="6297278"/>
            <a:ext cx="6925627" cy="497127"/>
          </a:xfrm>
        </p:spPr>
        <p:txBody>
          <a:bodyPr lIns="45720" tIns="45720" rIns="45720" bIns="45720">
            <a:noAutofit/>
          </a:bodyPr>
          <a:lstStyle>
            <a:lvl1pPr marL="182880" indent="-182880">
              <a:spcBef>
                <a:spcPts val="0"/>
              </a:spcBef>
              <a:spcAft>
                <a:spcPts val="100"/>
              </a:spcAft>
              <a:buAutoNum type="arabicParenBoth"/>
              <a:defRPr sz="800">
                <a:solidFill>
                  <a:schemeClr val="tx1"/>
                </a:solidFill>
                <a:latin typeface="Arial"/>
                <a:ea typeface="Arial"/>
                <a:cs typeface="Arial"/>
              </a:defRPr>
            </a:lvl1pPr>
            <a:lvl2pPr>
              <a:buNone/>
              <a:defRPr sz="800"/>
            </a:lvl2pPr>
            <a:lvl3pPr>
              <a:buNone/>
              <a:defRPr sz="800"/>
            </a:lvl3pPr>
            <a:lvl4pPr>
              <a:buNone/>
              <a:defRPr sz="800"/>
            </a:lvl4pPr>
            <a:lvl5pPr>
              <a:buNone/>
              <a:defRPr sz="800"/>
            </a:lvl5pPr>
          </a:lstStyle>
          <a:p>
            <a:pPr lvl="0">
              <a:buNone/>
            </a:pPr>
            <a:r>
              <a:t>[ ].</a:t>
            </a:r>
          </a:p>
          <a:p>
            <a:pPr lvl="0">
              <a:buNone/>
            </a:pPr>
            <a:r>
              <a:t>[ ].</a:t>
            </a:r>
          </a:p>
        </p:txBody>
      </p:sp>
      <p:sp>
        <p:nvSpPr>
          <p:cNvPr id="25" name="Slide Number Placeholder 24">
            <a:extLst>
              <a:ext uri="{FF2B5EF4-FFF2-40B4-BE49-F238E27FC236}">
                <a16:creationId xmlns:a16="http://schemas.microsoft.com/office/drawing/2014/main" id="{DB200D68-90E6-44F4-BEB7-A0877A8826B0}"/>
              </a:ext>
            </a:extLst>
          </p:cNvPr>
          <p:cNvSpPr>
            <a:spLocks noGrp="1"/>
          </p:cNvSpPr>
          <p:nvPr>
            <p:ph type="sldNum" idx="19"/>
          </p:nvPr>
        </p:nvSpPr>
        <p:spPr/>
        <p:txBody>
          <a:bodyPr/>
          <a:lstStyle/>
          <a:p>
            <a:fld id="{11C55C1E-B5CB-4C51-BDB7-D5F5353A6486}" type="slidenum">
              <a:t>‹#›</a:t>
            </a:fld>
            <a:endParaRPr/>
          </a:p>
        </p:txBody>
      </p:sp>
      <p:sp>
        <p:nvSpPr>
          <p:cNvPr id="5" name="Title 1">
            <a:extLst>
              <a:ext uri="{FF2B5EF4-FFF2-40B4-BE49-F238E27FC236}">
                <a16:creationId xmlns:a16="http://schemas.microsoft.com/office/drawing/2014/main" id="{C1751660-BC7C-6B8D-312A-BA244DE77AAB}"/>
              </a:ext>
            </a:extLst>
          </p:cNvPr>
          <p:cNvSpPr>
            <a:spLocks noGrp="1"/>
          </p:cNvSpPr>
          <p:nvPr>
            <p:ph type="title"/>
          </p:nvPr>
        </p:nvSpPr>
        <p:spPr>
          <a:xfrm>
            <a:off x="228600" y="325605"/>
            <a:ext cx="8686800" cy="495935"/>
          </a:xfrm>
        </p:spPr>
        <p:txBody>
          <a:bodyPr/>
          <a:lstStyle>
            <a:lvl1pPr>
              <a:buNone/>
              <a:defRPr>
                <a:solidFill>
                  <a:schemeClr val="tx2"/>
                </a:solidFill>
              </a:defRPr>
            </a:lvl1pPr>
          </a:lstStyle>
          <a:p>
            <a:r>
              <a:t>Click to edit Master title style</a:t>
            </a:r>
          </a:p>
        </p:txBody>
      </p:sp>
      <p:sp>
        <p:nvSpPr>
          <p:cNvPr id="6" name="Content Placeholder 2">
            <a:extLst>
              <a:ext uri="{FF2B5EF4-FFF2-40B4-BE49-F238E27FC236}">
                <a16:creationId xmlns:a16="http://schemas.microsoft.com/office/drawing/2014/main" id="{1E3D4EE6-456B-BB3A-9B65-423507EB7FD2}"/>
              </a:ext>
            </a:extLst>
          </p:cNvPr>
          <p:cNvSpPr>
            <a:spLocks noGrp="1"/>
          </p:cNvSpPr>
          <p:nvPr>
            <p:ph idx="1"/>
          </p:nvPr>
        </p:nvSpPr>
        <p:spPr>
          <a:xfrm>
            <a:off x="228600" y="1442885"/>
            <a:ext cx="8686800" cy="4544302"/>
          </a:xfrm>
        </p:spPr>
        <p:txBody>
          <a:bodyPr/>
          <a:lstStyle>
            <a:lvl1pPr marL="137160" indent="-137160">
              <a:spcBef>
                <a:spcPts val="0"/>
              </a:spcBef>
              <a:buNone/>
              <a:defRPr>
                <a:solidFill>
                  <a:schemeClr val="tx1"/>
                </a:solidFill>
              </a:defRPr>
            </a:lvl1pPr>
            <a:lvl2pPr marL="365760" indent="-137160">
              <a:spcBef>
                <a:spcPts val="300"/>
              </a:spcBef>
              <a:spcAft>
                <a:spcPts val="300"/>
              </a:spcAft>
              <a:buFont typeface="Arial"/>
              <a:buChar char="–"/>
              <a:defRPr>
                <a:solidFill>
                  <a:schemeClr val="tx1"/>
                </a:solidFill>
              </a:defRPr>
            </a:lvl2pPr>
            <a:lvl3pPr marL="594360" indent="-137160">
              <a:spcBef>
                <a:spcPts val="300"/>
              </a:spcBef>
              <a:spcAft>
                <a:spcPts val="300"/>
              </a:spcAft>
              <a:buFont typeface="Arial"/>
              <a:buChar char="§"/>
              <a:defRPr>
                <a:solidFill>
                  <a:schemeClr val="tx1"/>
                </a:solidFill>
              </a:defRPr>
            </a:lvl3pPr>
          </a:lstStyle>
          <a:p>
            <a:pPr lvl="0">
              <a:buNone/>
            </a:pPr>
            <a:r>
              <a:t>Click to edit Master text styles</a:t>
            </a:r>
          </a:p>
          <a:p>
            <a:pPr lvl="1">
              <a:buNone/>
            </a:pPr>
            <a:r>
              <a:t>Second level</a:t>
            </a:r>
          </a:p>
          <a:p>
            <a:pPr lvl="2">
              <a:buNone/>
            </a:pPr>
            <a:r>
              <a:t>Third level</a:t>
            </a:r>
          </a:p>
        </p:txBody>
      </p:sp>
      <p:sp>
        <p:nvSpPr>
          <p:cNvPr id="7" name="Text Placeholder 13">
            <a:extLst>
              <a:ext uri="{FF2B5EF4-FFF2-40B4-BE49-F238E27FC236}">
                <a16:creationId xmlns:a16="http://schemas.microsoft.com/office/drawing/2014/main" id="{3C19882B-A35C-19AE-98BD-701AD4E49F0D}"/>
              </a:ext>
            </a:extLst>
          </p:cNvPr>
          <p:cNvSpPr>
            <a:spLocks noGrp="1"/>
          </p:cNvSpPr>
          <p:nvPr>
            <p:ph type="body" idx="17" hasCustomPrompt="1"/>
          </p:nvPr>
        </p:nvSpPr>
        <p:spPr>
          <a:xfrm>
            <a:off x="228600" y="884245"/>
            <a:ext cx="8686800" cy="495935"/>
          </a:xfrm>
        </p:spPr>
        <p:txBody>
          <a:bodyPr vert="horz" lIns="91440" tIns="45720" rIns="91440" bIns="45720" anchor="t">
            <a:normAutofit/>
          </a:bodyPr>
          <a:lstStyle>
            <a:lvl1pPr marL="0" indent="0">
              <a:buNone/>
              <a:defRPr sz="1400" b="0">
                <a:solidFill>
                  <a:schemeClr val="tx1"/>
                </a:solidFill>
                <a:latin typeface="Arial"/>
                <a:ea typeface="Arial"/>
                <a:cs typeface="Arial"/>
              </a:defRPr>
            </a:lvl1pPr>
          </a:lstStyle>
          <a:p>
            <a:pPr marL="137160" lvl="0" indent="-137160">
              <a:spcBef>
                <a:spcPct val="0"/>
              </a:spcBef>
              <a:buNone/>
            </a:pPr>
            <a:r>
              <a:t>Click to edit master text styles</a:t>
            </a: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CD044D-F8BB-4F78-B1C2-2D09B3D831F8}"/>
              </a:ext>
            </a:extLst>
          </p:cNvPr>
          <p:cNvSpPr>
            <a:spLocks noGrp="1"/>
          </p:cNvSpPr>
          <p:nvPr>
            <p:ph type="title"/>
          </p:nvPr>
        </p:nvSpPr>
        <p:spPr>
          <a:xfrm>
            <a:off x="228600" y="389766"/>
            <a:ext cx="8686800" cy="647905"/>
          </a:xfrm>
          <a:prstGeom prst="rect">
            <a:avLst/>
          </a:prstGeom>
        </p:spPr>
        <p:txBody>
          <a:bodyPr vert="horz" lIns="91440" tIns="45720" rIns="91440" bIns="45720" anchor="b">
            <a:normAutofit/>
          </a:bodyPr>
          <a:lstStyle/>
          <a:p>
            <a:r>
              <a:t>Click to edit Master title</a:t>
            </a:r>
          </a:p>
        </p:txBody>
      </p:sp>
      <p:sp>
        <p:nvSpPr>
          <p:cNvPr id="3" name="Text Placeholder 2">
            <a:extLst>
              <a:ext uri="{FF2B5EF4-FFF2-40B4-BE49-F238E27FC236}">
                <a16:creationId xmlns:a16="http://schemas.microsoft.com/office/drawing/2014/main" id="{60A52397-8F2B-4EAC-B0C2-20D01499464D}"/>
              </a:ext>
            </a:extLst>
          </p:cNvPr>
          <p:cNvSpPr>
            <a:spLocks noGrp="1"/>
          </p:cNvSpPr>
          <p:nvPr>
            <p:ph type="body" idx="1"/>
          </p:nvPr>
        </p:nvSpPr>
        <p:spPr>
          <a:xfrm>
            <a:off x="228600" y="1825625"/>
            <a:ext cx="8686800" cy="712503"/>
          </a:xfrm>
          <a:prstGeom prst="rect">
            <a:avLst/>
          </a:prstGeom>
        </p:spPr>
        <p:txBody>
          <a:bodyPr vert="horz" lIns="91440" tIns="91440" rIns="91440" bIns="91440">
            <a:noAutofit/>
          </a:bodyPr>
          <a:lstStyle/>
          <a:p>
            <a:pPr lvl="0">
              <a:buNone/>
            </a:pPr>
            <a:r>
              <a:t>Click to edit Master text styles</a:t>
            </a:r>
          </a:p>
          <a:p>
            <a:pPr lvl="1">
              <a:buNone/>
            </a:pPr>
            <a:r>
              <a:t>Second level</a:t>
            </a:r>
          </a:p>
          <a:p>
            <a:pPr lvl="2">
              <a:buNone/>
            </a:pPr>
            <a:r>
              <a:t>Third level</a:t>
            </a:r>
          </a:p>
        </p:txBody>
      </p:sp>
      <p:pic>
        <p:nvPicPr>
          <p:cNvPr id="17" name="Picture 6"/>
          <p:cNvPicPr>
            <a:picLocks noChangeAspect="1"/>
          </p:cNvPicPr>
          <p:nvPr/>
        </p:nvPicPr>
        <p:blipFill rotWithShape="1">
          <a:blip r:embed="rId4">
            <a:alphaModFix amt="50000"/>
            <a:duotone>
              <a:prstClr val="black"/>
              <a:schemeClr val="bg1">
                <a:tint val="45000"/>
                <a:lumMod val="95000"/>
                <a:satMod val="400000"/>
              </a:schemeClr>
            </a:duotone>
          </a:blip>
          <a:srcRect l="-123" r="18741" b="94884"/>
          <a:stretch/>
        </p:blipFill>
        <p:spPr>
          <a:xfrm>
            <a:off x="1" y="2"/>
            <a:ext cx="9144000" cy="365758"/>
          </a:xfrm>
          <a:prstGeom prst="rect">
            <a:avLst/>
          </a:prstGeom>
        </p:spPr>
      </p:pic>
      <p:sp>
        <p:nvSpPr>
          <p:cNvPr id="10" name="Straight Connector 9">
            <a:extLst>
              <a:ext uri="{FF2B5EF4-FFF2-40B4-BE49-F238E27FC236}">
                <a16:creationId xmlns:a16="http://schemas.microsoft.com/office/drawing/2014/main" id="{D014C9A4-4C72-486A-94C8-EEC7072E1EDC}"/>
              </a:ext>
            </a:extLst>
          </p:cNvPr>
          <p:cNvSpPr>
            <a:spLocks noGrp="1"/>
          </p:cNvSpPr>
          <p:nvPr/>
        </p:nvSpPr>
        <p:spPr>
          <a:xfrm>
            <a:off x="0" y="6217920"/>
            <a:ext cx="914400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
        <p:nvSpPr>
          <p:cNvPr id="13" name="Slide Number Placeholder 12">
            <a:extLst>
              <a:ext uri="{FF2B5EF4-FFF2-40B4-BE49-F238E27FC236}">
                <a16:creationId xmlns:a16="http://schemas.microsoft.com/office/drawing/2014/main" id="{F8BD8541-73B9-4BED-9CDC-E3D705ED7A0F}"/>
              </a:ext>
            </a:extLst>
          </p:cNvPr>
          <p:cNvSpPr>
            <a:spLocks noGrp="1"/>
          </p:cNvSpPr>
          <p:nvPr>
            <p:ph type="sldNum" idx="4"/>
          </p:nvPr>
        </p:nvSpPr>
        <p:spPr>
          <a:xfrm>
            <a:off x="8756725" y="6356350"/>
            <a:ext cx="336401" cy="365125"/>
          </a:xfrm>
          <a:prstGeom prst="rect">
            <a:avLst/>
          </a:prstGeom>
        </p:spPr>
        <p:txBody>
          <a:bodyPr vert="horz" wrap="none" lIns="91440" tIns="45720" rIns="91440" bIns="45720" anchor="ctr"/>
          <a:lstStyle>
            <a:lvl1pPr algn="ctr">
              <a:buNone/>
              <a:defRPr sz="800">
                <a:solidFill>
                  <a:schemeClr val="tx1">
                    <a:tint val="75000"/>
                  </a:schemeClr>
                </a:solidFill>
              </a:defRPr>
            </a:lvl1pPr>
          </a:lstStyle>
          <a:p>
            <a:fld id="{11C55C1E-B5CB-4C51-BDB7-D5F5353A6486}"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a:lnSpc>
          <a:spcPct val="90000"/>
        </a:lnSpc>
        <a:spcBef>
          <a:spcPct val="0"/>
        </a:spcBef>
        <a:buNone/>
        <a:defRPr sz="2200" b="0" kern="1200">
          <a:solidFill>
            <a:schemeClr val="tx2"/>
          </a:solidFill>
          <a:latin typeface="Arial"/>
          <a:ea typeface="Arial"/>
          <a:cs typeface="Arial"/>
        </a:defRPr>
      </a:lvl1pPr>
    </p:titleStyle>
    <p:bodyStyle>
      <a:lvl1pPr marL="137160" indent="-137160" algn="l" defTabSz="914400">
        <a:lnSpc>
          <a:spcPct val="90000"/>
        </a:lnSpc>
        <a:spcBef>
          <a:spcPts val="300"/>
        </a:spcBef>
        <a:spcAft>
          <a:spcPts val="300"/>
        </a:spcAft>
        <a:buFont typeface="Arial"/>
        <a:buChar char="•"/>
        <a:defRPr sz="900" kern="1200">
          <a:solidFill>
            <a:schemeClr val="tx1"/>
          </a:solidFill>
          <a:latin typeface="Arial"/>
          <a:ea typeface="Arial"/>
          <a:cs typeface="Arial"/>
        </a:defRPr>
      </a:lvl1pPr>
      <a:lvl2pPr marL="365760" indent="-137160" algn="l" defTabSz="914400">
        <a:lnSpc>
          <a:spcPct val="90000"/>
        </a:lnSpc>
        <a:spcBef>
          <a:spcPts val="300"/>
        </a:spcBef>
        <a:spcAft>
          <a:spcPts val="300"/>
        </a:spcAft>
        <a:buFont typeface="Arial"/>
        <a:buChar char="–"/>
        <a:defRPr sz="900" kern="1200">
          <a:solidFill>
            <a:schemeClr val="tx1"/>
          </a:solidFill>
          <a:latin typeface="Arial"/>
          <a:ea typeface="Arial"/>
          <a:cs typeface="Arial"/>
        </a:defRPr>
      </a:lvl2pPr>
      <a:lvl3pPr marL="594360" indent="-137160" algn="l" defTabSz="914400">
        <a:lnSpc>
          <a:spcPct val="90000"/>
        </a:lnSpc>
        <a:spcBef>
          <a:spcPts val="300"/>
        </a:spcBef>
        <a:spcAft>
          <a:spcPts val="300"/>
        </a:spcAft>
        <a:buFont typeface="Arial"/>
        <a:buChar char="§"/>
        <a:defRPr sz="900" kern="1200">
          <a:solidFill>
            <a:schemeClr val="tx1"/>
          </a:solidFill>
          <a:latin typeface="Arial"/>
          <a:ea typeface="Arial"/>
          <a:cs typeface="Arial"/>
        </a:defRPr>
      </a:lvl3pPr>
      <a:lvl4pPr marL="1600200" indent="-228600" algn="l" defTabSz="914400">
        <a:lnSpc>
          <a:spcPct val="90000"/>
        </a:lnSpc>
        <a:spcBef>
          <a:spcPts val="500"/>
        </a:spcBef>
        <a:buFont typeface="Arial"/>
        <a:buChar char="•"/>
        <a:defRPr sz="1400" kern="1200">
          <a:solidFill>
            <a:schemeClr val="tx1"/>
          </a:solidFill>
          <a:latin typeface="Arial"/>
          <a:ea typeface="Arial"/>
          <a:cs typeface="Arial"/>
        </a:defRPr>
      </a:lvl4pPr>
      <a:lvl5pPr marL="2057400" indent="-228600" algn="l" defTabSz="914400">
        <a:lnSpc>
          <a:spcPct val="90000"/>
        </a:lnSpc>
        <a:spcBef>
          <a:spcPts val="500"/>
        </a:spcBef>
        <a:buFont typeface="Arial"/>
        <a:buChar char="•"/>
        <a:defRPr sz="1400" kern="1200">
          <a:solidFill>
            <a:schemeClr val="tx1"/>
          </a:solidFill>
          <a:latin typeface="Arial"/>
          <a:ea typeface="Arial"/>
          <a:cs typeface="Arial"/>
        </a:defRPr>
      </a:lvl5pPr>
      <a:lvl6pPr marL="2514600" indent="-228600" algn="l" defTabSz="914400">
        <a:lnSpc>
          <a:spcPct val="90000"/>
        </a:lnSpc>
        <a:spcBef>
          <a:spcPts val="500"/>
        </a:spcBef>
        <a:buFont typeface="Arial"/>
        <a:buChar char="•"/>
        <a:defRPr sz="1800" kern="1200">
          <a:solidFill>
            <a:schemeClr val="tx1"/>
          </a:solidFill>
          <a:latin typeface="Arial"/>
          <a:ea typeface="Arial"/>
          <a:cs typeface="Arial"/>
        </a:defRPr>
      </a:lvl6pPr>
      <a:lvl7pPr marL="2971800" indent="-228600" algn="l" defTabSz="914400">
        <a:lnSpc>
          <a:spcPct val="90000"/>
        </a:lnSpc>
        <a:spcBef>
          <a:spcPts val="500"/>
        </a:spcBef>
        <a:buFont typeface="Arial"/>
        <a:buChar char="•"/>
        <a:defRPr sz="1800" kern="1200">
          <a:solidFill>
            <a:schemeClr val="tx1"/>
          </a:solidFill>
          <a:latin typeface="Arial"/>
          <a:ea typeface="Arial"/>
          <a:cs typeface="Arial"/>
        </a:defRPr>
      </a:lvl7pPr>
      <a:lvl8pPr marL="3429000" indent="-228600" algn="l" defTabSz="914400">
        <a:lnSpc>
          <a:spcPct val="90000"/>
        </a:lnSpc>
        <a:spcBef>
          <a:spcPts val="500"/>
        </a:spcBef>
        <a:buFont typeface="Arial"/>
        <a:buChar char="•"/>
        <a:defRPr sz="1800" kern="1200">
          <a:solidFill>
            <a:schemeClr val="tx1"/>
          </a:solidFill>
          <a:latin typeface="Arial"/>
          <a:ea typeface="Arial"/>
          <a:cs typeface="Arial"/>
        </a:defRPr>
      </a:lvl8pPr>
      <a:lvl9pPr marL="3886200" indent="-228600" algn="l" defTabSz="914400">
        <a:lnSpc>
          <a:spcPct val="90000"/>
        </a:lnSpc>
        <a:spcBef>
          <a:spcPts val="500"/>
        </a:spcBef>
        <a:buFont typeface="Arial"/>
        <a:buChar char="•"/>
        <a:defRPr sz="1800" kern="1200">
          <a:solidFill>
            <a:schemeClr val="tx1"/>
          </a:solidFill>
          <a:latin typeface="Arial"/>
          <a:ea typeface="Arial"/>
          <a:cs typeface="Arial"/>
        </a:defRPr>
      </a:lvl9pPr>
    </p:bodyStyle>
    <p:otherStyle>
      <a:lvl1pPr marL="0" algn="l" defTabSz="914400">
        <a:buNone/>
        <a:defRPr sz="1800" kern="1200">
          <a:solidFill>
            <a:schemeClr val="tx1"/>
          </a:solidFill>
          <a:latin typeface="Arial"/>
          <a:ea typeface="Arial"/>
          <a:cs typeface="Arial"/>
        </a:defRPr>
      </a:lvl1pPr>
      <a:lvl2pPr marL="457200" algn="l" defTabSz="914400">
        <a:buNone/>
        <a:defRPr sz="1800" kern="1200">
          <a:solidFill>
            <a:schemeClr val="tx1"/>
          </a:solidFill>
          <a:latin typeface="Arial"/>
          <a:ea typeface="Arial"/>
          <a:cs typeface="Arial"/>
        </a:defRPr>
      </a:lvl2pPr>
      <a:lvl3pPr marL="914400" algn="l" defTabSz="914400">
        <a:buNone/>
        <a:defRPr sz="1800" kern="1200">
          <a:solidFill>
            <a:schemeClr val="tx1"/>
          </a:solidFill>
          <a:latin typeface="Arial"/>
          <a:ea typeface="Arial"/>
          <a:cs typeface="Arial"/>
        </a:defRPr>
      </a:lvl3pPr>
      <a:lvl4pPr marL="1371600" algn="l" defTabSz="914400">
        <a:buNone/>
        <a:defRPr sz="1800" kern="1200">
          <a:solidFill>
            <a:schemeClr val="tx1"/>
          </a:solidFill>
          <a:latin typeface="Arial"/>
          <a:ea typeface="Arial"/>
          <a:cs typeface="Arial"/>
        </a:defRPr>
      </a:lvl4pPr>
      <a:lvl5pPr marL="1828800" algn="l" defTabSz="914400">
        <a:buNone/>
        <a:defRPr sz="1800" kern="1200">
          <a:solidFill>
            <a:schemeClr val="tx1"/>
          </a:solidFill>
          <a:latin typeface="Arial"/>
          <a:ea typeface="Arial"/>
          <a:cs typeface="Arial"/>
        </a:defRPr>
      </a:lvl5pPr>
      <a:lvl6pPr marL="2286000" algn="l" defTabSz="914400">
        <a:buNone/>
        <a:defRPr sz="1800" kern="1200">
          <a:solidFill>
            <a:schemeClr val="tx1"/>
          </a:solidFill>
          <a:latin typeface="Arial"/>
          <a:ea typeface="Arial"/>
          <a:cs typeface="Arial"/>
        </a:defRPr>
      </a:lvl6pPr>
      <a:lvl7pPr marL="2743200" algn="l" defTabSz="914400">
        <a:buNone/>
        <a:defRPr sz="1800" kern="1200">
          <a:solidFill>
            <a:schemeClr val="tx1"/>
          </a:solidFill>
          <a:latin typeface="Arial"/>
          <a:ea typeface="Arial"/>
          <a:cs typeface="Arial"/>
        </a:defRPr>
      </a:lvl7pPr>
      <a:lvl8pPr marL="3200400" algn="l" defTabSz="914400">
        <a:buNone/>
        <a:defRPr sz="1800" kern="1200">
          <a:solidFill>
            <a:schemeClr val="tx1"/>
          </a:solidFill>
          <a:latin typeface="Arial"/>
          <a:ea typeface="Arial"/>
          <a:cs typeface="Arial"/>
        </a:defRPr>
      </a:lvl8pPr>
      <a:lvl9pPr marL="3657600" algn="l" defTabSz="914400">
        <a:buNone/>
        <a:defRPr sz="1800" kern="1200">
          <a:solidFill>
            <a:schemeClr val="tx1"/>
          </a:solidFill>
          <a:latin typeface="Arial"/>
          <a:ea typeface="Arial"/>
          <a:cs typeface="Arial"/>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pos="144">
          <p15:clr>
            <a:srgbClr val="F26B43"/>
          </p15:clr>
        </p15:guide>
        <p15:guide id="4" pos="561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91114-2735-E6C0-F7DA-FE9762B22BC1}"/>
              </a:ext>
            </a:extLst>
          </p:cNvPr>
          <p:cNvSpPr>
            <a:spLocks noGrp="1"/>
          </p:cNvSpPr>
          <p:nvPr>
            <p:ph type="title"/>
          </p:nvPr>
        </p:nvSpPr>
        <p:spPr>
          <a:xfrm>
            <a:off x="228600" y="361950"/>
            <a:ext cx="8686800" cy="409575"/>
          </a:xfrm>
        </p:spPr>
        <p:txBody>
          <a:bodyPr>
            <a:noAutofit/>
          </a:bodyPr>
          <a:lstStyle/>
          <a:p>
            <a:pPr>
              <a:buNone/>
              <a:defRPr sz="2175" b="0">
                <a:solidFill>
                  <a:srgbClr val="4E6879"/>
                </a:solidFill>
                <a:latin typeface="Arial"/>
                <a:ea typeface="Arial"/>
                <a:cs typeface="Arial"/>
              </a:defRPr>
            </a:pPr>
            <a:r>
              <a:rPr sz="2175" b="0">
                <a:solidFill>
                  <a:srgbClr val="4E6879"/>
                </a:solidFill>
                <a:latin typeface="Arial"/>
                <a:ea typeface="Arial"/>
                <a:cs typeface="Arial"/>
              </a:rPr>
              <a:t>[Company Name] | Company Overview</a:t>
            </a:r>
          </a:p>
        </p:txBody>
      </p:sp>
      <p:sp>
        <p:nvSpPr>
          <p:cNvPr id="4" name="Text Placeholder 3">
            <a:extLst>
              <a:ext uri="{FF2B5EF4-FFF2-40B4-BE49-F238E27FC236}">
                <a16:creationId xmlns:a16="http://schemas.microsoft.com/office/drawing/2014/main" id="{A14ECD66-67E2-2EAD-D7BC-D31245F57F83}"/>
              </a:ext>
            </a:extLst>
          </p:cNvPr>
          <p:cNvSpPr>
            <a:spLocks noGrp="1"/>
          </p:cNvSpPr>
          <p:nvPr>
            <p:ph type="body" idx="17"/>
          </p:nvPr>
        </p:nvSpPr>
        <p:spPr>
          <a:xfrm>
            <a:off x="228600" y="866775"/>
            <a:ext cx="8686800" cy="228600"/>
          </a:xfrm>
        </p:spPr>
        <p:txBody>
          <a:bodyPr>
            <a:noAutofit/>
          </a:bodyPr>
          <a:lstStyle/>
          <a:p>
            <a:pPr>
              <a:buNone/>
              <a:defRPr sz="1125" b="0">
                <a:solidFill>
                  <a:srgbClr val="333333"/>
                </a:solidFill>
                <a:latin typeface="Arial"/>
                <a:ea typeface="Arial"/>
                <a:cs typeface="Arial"/>
              </a:defRPr>
            </a:pPr>
            <a:r>
              <a:rPr sz="1125" b="0">
                <a:solidFill>
                  <a:srgbClr val="333333"/>
                </a:solidFill>
                <a:latin typeface="Arial"/>
                <a:ea typeface="Arial"/>
                <a:cs typeface="Arial"/>
              </a:rPr>
              <a:t>[Team Number] | [Team Members] | [Date]</a:t>
            </a:r>
          </a:p>
        </p:txBody>
      </p:sp>
      <p:sp>
        <p:nvSpPr>
          <p:cNvPr id="5" name="Slide Number Placeholder 4">
            <a:extLst>
              <a:ext uri="{FF2B5EF4-FFF2-40B4-BE49-F238E27FC236}">
                <a16:creationId xmlns:a16="http://schemas.microsoft.com/office/drawing/2014/main" id="{8B622EE7-E39D-A299-1E90-24239F9EEF6A}"/>
              </a:ext>
            </a:extLst>
          </p:cNvPr>
          <p:cNvSpPr>
            <a:spLocks noGrp="1"/>
          </p:cNvSpPr>
          <p:nvPr>
            <p:ph type="sldNum" idx="19"/>
          </p:nvPr>
        </p:nvSpPr>
        <p:spPr/>
        <p:txBody>
          <a:bodyPr/>
          <a:lstStyle/>
          <a:p>
            <a:fld id="{AD75FED6-38D0-DE9C-92C0-6E7FA635581C}" type="slidenum">
              <a:rPr/>
              <a:t>1</a:t>
            </a:fld>
            <a:endParaRPr/>
          </a:p>
        </p:txBody>
      </p:sp>
      <p:sp>
        <p:nvSpPr>
          <p:cNvPr id="6" name="Text Placeholder 5">
            <a:extLst>
              <a:ext uri="{FF2B5EF4-FFF2-40B4-BE49-F238E27FC236}">
                <a16:creationId xmlns:a16="http://schemas.microsoft.com/office/drawing/2014/main" id="{84849125-E9AE-7B66-8169-738E80415590}"/>
              </a:ext>
            </a:extLst>
          </p:cNvPr>
          <p:cNvSpPr>
            <a:spLocks noGrp="1"/>
          </p:cNvSpPr>
          <p:nvPr>
            <p:ph type="body" idx="18"/>
          </p:nvPr>
        </p:nvSpPr>
        <p:spPr>
          <a:xfrm>
            <a:off x="228600" y="6296025"/>
            <a:ext cx="8496300" cy="209550"/>
          </a:xfrm>
        </p:spPr>
        <p:txBody>
          <a:bodyPr>
            <a:noAutofit/>
          </a:bodyPr>
          <a:lstStyle/>
          <a:p>
            <a:pPr>
              <a:lnSpc>
                <a:spcPct val="100000"/>
              </a:lnSpc>
              <a:spcAft>
                <a:spcPts val="1"/>
              </a:spcAft>
              <a:buNone/>
              <a:defRPr sz="638" b="0">
                <a:solidFill>
                  <a:srgbClr val="333333"/>
                </a:solidFill>
                <a:latin typeface="Arial"/>
                <a:ea typeface="Arial"/>
                <a:cs typeface="Arial"/>
              </a:defRPr>
            </a:pPr>
            <a:r>
              <a:rPr sz="638" b="0">
                <a:solidFill>
                  <a:srgbClr val="333333"/>
                </a:solidFill>
                <a:latin typeface="Arial"/>
                <a:ea typeface="Arial"/>
                <a:cs typeface="Arial"/>
              </a:rPr>
              <a:t>Financial examples use the same figures as the LBO model template. Replace them with your target's analysis.</a:t>
            </a:r>
          </a:p>
        </p:txBody>
      </p:sp>
      <p:sp>
        <p:nvSpPr>
          <p:cNvPr id="7" name="Rectangle: Rounded Corners 6">
            <a:extLst>
              <a:ext uri="{FF2B5EF4-FFF2-40B4-BE49-F238E27FC236}">
                <a16:creationId xmlns:a16="http://schemas.microsoft.com/office/drawing/2014/main" id="{B92E598D-8864-5E81-0788-FECB582A6A62}"/>
              </a:ext>
            </a:extLst>
          </p:cNvPr>
          <p:cNvSpPr>
            <a:spLocks noGrp="1"/>
          </p:cNvSpPr>
          <p:nvPr/>
        </p:nvSpPr>
        <p:spPr>
          <a:xfrm>
            <a:off x="228600" y="1219599"/>
            <a:ext cx="4274813" cy="265806"/>
          </a:xfrm>
          <a:prstGeom prst="round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ts val="1200"/>
              </a:lnSpc>
              <a:spcBef>
                <a:spcPts val="300"/>
              </a:spcBef>
              <a:spcAft>
                <a:spcPts val="300"/>
              </a:spcAft>
              <a:buNone/>
            </a:pPr>
            <a:r>
              <a:rPr sz="1000" b="1">
                <a:solidFill>
                  <a:schemeClr val="bg1"/>
                </a:solidFill>
                <a:latin typeface="Arial"/>
                <a:ea typeface="Arial"/>
                <a:cs typeface="Arial"/>
              </a:rPr>
              <a:t>Company Overview</a:t>
            </a:r>
          </a:p>
        </p:txBody>
      </p:sp>
      <p:sp>
        <p:nvSpPr>
          <p:cNvPr id="8" name="Rectangle 7">
            <a:extLst>
              <a:ext uri="{FF2B5EF4-FFF2-40B4-BE49-F238E27FC236}">
                <a16:creationId xmlns:a16="http://schemas.microsoft.com/office/drawing/2014/main" id="{421189F2-9DC3-1505-E28F-F7E08033112C}"/>
              </a:ext>
            </a:extLst>
          </p:cNvPr>
          <p:cNvSpPr>
            <a:spLocks noGrp="1"/>
          </p:cNvSpPr>
          <p:nvPr/>
        </p:nvSpPr>
        <p:spPr>
          <a:xfrm>
            <a:off x="228600" y="1627867"/>
            <a:ext cx="4274813" cy="20968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t">
            <a:noAutofit/>
          </a:bodyPr>
          <a:lstStyle/>
          <a:p>
            <a:pPr marL="139700" indent="-88900">
              <a:spcAft>
                <a:spcPts val="500"/>
              </a:spcAft>
              <a:buChar char="•"/>
              <a:defRPr sz="900" b="0">
                <a:solidFill>
                  <a:srgbClr val="333333"/>
                </a:solidFill>
                <a:latin typeface="Arial"/>
                <a:ea typeface="Arial"/>
                <a:cs typeface="Arial"/>
              </a:defRPr>
            </a:pPr>
            <a:r>
              <a:rPr sz="900" b="0">
                <a:solidFill>
                  <a:srgbClr val="333333"/>
                </a:solidFill>
                <a:latin typeface="Arial"/>
                <a:ea typeface="Arial"/>
                <a:cs typeface="Arial"/>
              </a:rPr>
              <a:t>[Company] provides supply chain management solutions to the aerospace and defense industry.</a:t>
            </a:r>
          </a:p>
          <a:p>
            <a:pPr marL="139700" indent="-88900">
              <a:spcAft>
                <a:spcPts val="500"/>
              </a:spcAft>
              <a:buChar char="•"/>
              <a:defRPr sz="900" b="0">
                <a:solidFill>
                  <a:srgbClr val="333333"/>
                </a:solidFill>
                <a:latin typeface="Arial"/>
                <a:ea typeface="Arial"/>
                <a:cs typeface="Arial"/>
              </a:defRPr>
            </a:pPr>
            <a:r>
              <a:rPr sz="900" b="0">
                <a:solidFill>
                  <a:srgbClr val="333333"/>
                </a:solidFill>
                <a:latin typeface="Arial"/>
                <a:ea typeface="Arial"/>
                <a:cs typeface="Arial"/>
              </a:rPr>
              <a:t>Broad portfolio of hardware and electrical equipment, with more than 1,000 SKUs from 15 manufacturing partners.</a:t>
            </a:r>
          </a:p>
          <a:p>
            <a:pPr marL="139700" indent="-88900">
              <a:spcAft>
                <a:spcPts val="500"/>
              </a:spcAft>
              <a:buChar char="•"/>
              <a:defRPr sz="900" b="0">
                <a:solidFill>
                  <a:srgbClr val="333333"/>
                </a:solidFill>
                <a:latin typeface="Arial"/>
                <a:ea typeface="Arial"/>
                <a:cs typeface="Arial"/>
              </a:defRPr>
            </a:pPr>
            <a:r>
              <a:rPr sz="900" b="0">
                <a:solidFill>
                  <a:srgbClr val="333333"/>
                </a:solidFill>
                <a:latin typeface="Arial"/>
                <a:ea typeface="Arial"/>
                <a:cs typeface="Arial"/>
              </a:rPr>
              <a:t>Serves approximately 150 customers across the United States, Canada, Mexico, EMEA and APAC.</a:t>
            </a:r>
          </a:p>
          <a:p>
            <a:pPr marL="139700" indent="-88900">
              <a:spcAft>
                <a:spcPts val="500"/>
              </a:spcAft>
              <a:buChar char="•"/>
              <a:defRPr sz="900" b="0">
                <a:solidFill>
                  <a:srgbClr val="333333"/>
                </a:solidFill>
                <a:latin typeface="Arial"/>
                <a:ea typeface="Arial"/>
                <a:cs typeface="Arial"/>
              </a:defRPr>
            </a:pPr>
            <a:r>
              <a:rPr sz="900" b="0">
                <a:solidFill>
                  <a:srgbClr val="333333"/>
                </a:solidFill>
                <a:latin typeface="Arial"/>
                <a:ea typeface="Arial"/>
                <a:cs typeface="Arial"/>
              </a:rPr>
              <a:t>Revenue of $400 million and EBITDA of $120 million, a 30% margin, in the illustrative base year.</a:t>
            </a:r>
          </a:p>
          <a:p>
            <a:pPr marL="139700" indent="-88900">
              <a:spcAft>
                <a:spcPts val="500"/>
              </a:spcAft>
              <a:buChar char="•"/>
              <a:defRPr sz="900" b="0">
                <a:solidFill>
                  <a:srgbClr val="333333"/>
                </a:solidFill>
                <a:latin typeface="Arial"/>
                <a:ea typeface="Arial"/>
                <a:cs typeface="Arial"/>
              </a:defRPr>
            </a:pPr>
            <a:r>
              <a:rPr sz="900" b="0">
                <a:solidFill>
                  <a:srgbClr val="333333"/>
                </a:solidFill>
                <a:latin typeface="Arial"/>
                <a:ea typeface="Arial"/>
                <a:cs typeface="Arial"/>
              </a:rPr>
              <a:t>[Segments A, B and C] contribute [ ]%, [ ]% and [ ]% of revenue; projected annual revenue growth is 4.5%.</a:t>
            </a:r>
          </a:p>
        </p:txBody>
      </p:sp>
      <p:sp>
        <p:nvSpPr>
          <p:cNvPr id="11" name="Rectangle: Rounded Corners 10">
            <a:extLst>
              <a:ext uri="{FF2B5EF4-FFF2-40B4-BE49-F238E27FC236}">
                <a16:creationId xmlns:a16="http://schemas.microsoft.com/office/drawing/2014/main" id="{39702CB5-8693-964C-E33B-DCB8A7B53E0D}"/>
              </a:ext>
            </a:extLst>
          </p:cNvPr>
          <p:cNvSpPr>
            <a:spLocks noGrp="1"/>
          </p:cNvSpPr>
          <p:nvPr/>
        </p:nvSpPr>
        <p:spPr>
          <a:xfrm>
            <a:off x="4640589" y="1219599"/>
            <a:ext cx="4274813" cy="265806"/>
          </a:xfrm>
          <a:prstGeom prst="roundRect">
            <a:avLst/>
          </a:prstGeom>
          <a:solidFill>
            <a:srgbClr val="4760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ts val="1200"/>
              </a:lnSpc>
              <a:spcBef>
                <a:spcPts val="300"/>
              </a:spcBef>
              <a:spcAft>
                <a:spcPts val="300"/>
              </a:spcAft>
              <a:buNone/>
            </a:pPr>
            <a:r>
              <a:rPr sz="1000" b="1">
                <a:solidFill>
                  <a:schemeClr val="bg1"/>
                </a:solidFill>
                <a:latin typeface="Arial"/>
                <a:ea typeface="Arial"/>
                <a:cs typeface="Arial"/>
              </a:rPr>
              <a:t>Historical &amp; Projected Financial Summary</a:t>
            </a:r>
          </a:p>
        </p:txBody>
      </p:sp>
      <p:sp>
        <p:nvSpPr>
          <p:cNvPr id="12" name="Rectangle: Rounded Corners 11">
            <a:extLst>
              <a:ext uri="{FF2B5EF4-FFF2-40B4-BE49-F238E27FC236}">
                <a16:creationId xmlns:a16="http://schemas.microsoft.com/office/drawing/2014/main" id="{E7143A2C-1CF4-D030-B714-14F89D6563CF}"/>
              </a:ext>
            </a:extLst>
          </p:cNvPr>
          <p:cNvSpPr>
            <a:spLocks noGrp="1"/>
          </p:cNvSpPr>
          <p:nvPr/>
        </p:nvSpPr>
        <p:spPr>
          <a:xfrm>
            <a:off x="228600" y="3809193"/>
            <a:ext cx="4274813" cy="265806"/>
          </a:xfrm>
          <a:prstGeom prst="round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ts val="1200"/>
              </a:lnSpc>
              <a:spcBef>
                <a:spcPts val="300"/>
              </a:spcBef>
              <a:spcAft>
                <a:spcPts val="300"/>
              </a:spcAft>
              <a:buNone/>
            </a:pPr>
            <a:r>
              <a:rPr sz="1000" b="1">
                <a:solidFill>
                  <a:schemeClr val="bg1"/>
                </a:solidFill>
                <a:latin typeface="Arial"/>
                <a:ea typeface="Arial"/>
                <a:cs typeface="Arial"/>
              </a:rPr>
              <a:t>Investment Thesis &amp; Transaction Rationale</a:t>
            </a:r>
          </a:p>
        </p:txBody>
      </p:sp>
      <p:sp>
        <p:nvSpPr>
          <p:cNvPr id="14" name="Rectangle 13">
            <a:extLst>
              <a:ext uri="{FF2B5EF4-FFF2-40B4-BE49-F238E27FC236}">
                <a16:creationId xmlns:a16="http://schemas.microsoft.com/office/drawing/2014/main" id="{FB72031B-0AA9-11B9-C72A-0AC0345297AA}"/>
              </a:ext>
            </a:extLst>
          </p:cNvPr>
          <p:cNvSpPr>
            <a:spLocks noGrp="1"/>
          </p:cNvSpPr>
          <p:nvPr/>
        </p:nvSpPr>
        <p:spPr>
          <a:xfrm>
            <a:off x="228600" y="4174325"/>
            <a:ext cx="4274813" cy="20236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t">
            <a:noAutofit/>
          </a:bodyPr>
          <a:lstStyle/>
          <a:p>
            <a:pPr marL="139700" indent="-88900">
              <a:spcAft>
                <a:spcPts val="500"/>
              </a:spcAft>
              <a:buChar char="•"/>
              <a:defRPr sz="900" b="0">
                <a:solidFill>
                  <a:srgbClr val="333333"/>
                </a:solidFill>
                <a:latin typeface="Arial"/>
                <a:ea typeface="Arial"/>
                <a:cs typeface="Arial"/>
              </a:defRPr>
            </a:pPr>
            <a:r>
              <a:rPr sz="900" b="0">
                <a:solidFill>
                  <a:srgbClr val="333333"/>
                </a:solidFill>
                <a:latin typeface="Arial"/>
                <a:ea typeface="Arial"/>
                <a:cs typeface="Arial"/>
              </a:rPr>
              <a:t>Demand from [specific end markets] supports the growth outlook.</a:t>
            </a:r>
          </a:p>
          <a:p>
            <a:pPr marL="139700" indent="-88900">
              <a:spcAft>
                <a:spcPts val="500"/>
              </a:spcAft>
              <a:buChar char="•"/>
              <a:defRPr sz="900" b="0">
                <a:solidFill>
                  <a:srgbClr val="333333"/>
                </a:solidFill>
                <a:latin typeface="Arial"/>
                <a:ea typeface="Arial"/>
                <a:cs typeface="Arial"/>
              </a:defRPr>
            </a:pPr>
            <a:r>
              <a:rPr sz="900" b="0">
                <a:solidFill>
                  <a:srgbClr val="333333"/>
                </a:solidFill>
                <a:latin typeface="Arial"/>
                <a:ea typeface="Arial"/>
                <a:cs typeface="Arial"/>
              </a:rPr>
              <a:t>Diversified customers, with no individual customer above 10% of revenue and approximately 95% retention.</a:t>
            </a:r>
          </a:p>
          <a:p>
            <a:pPr marL="139700" indent="-88900">
              <a:spcAft>
                <a:spcPts val="500"/>
              </a:spcAft>
              <a:buChar char="•"/>
              <a:defRPr sz="900" b="0">
                <a:solidFill>
                  <a:srgbClr val="333333"/>
                </a:solidFill>
                <a:latin typeface="Arial"/>
                <a:ea typeface="Arial"/>
                <a:cs typeface="Arial"/>
              </a:defRPr>
            </a:pPr>
            <a:r>
              <a:rPr sz="900" b="0">
                <a:solidFill>
                  <a:srgbClr val="333333"/>
                </a:solidFill>
                <a:latin typeface="Arial"/>
                <a:ea typeface="Arial"/>
                <a:cs typeface="Arial"/>
              </a:rPr>
              <a:t>Longstanding relationships and contracts of approximately five to ten years support revenue visibility.</a:t>
            </a:r>
          </a:p>
          <a:p>
            <a:pPr marL="139700" indent="-88900">
              <a:spcAft>
                <a:spcPts val="500"/>
              </a:spcAft>
              <a:buChar char="•"/>
              <a:defRPr sz="900" b="0">
                <a:solidFill>
                  <a:srgbClr val="333333"/>
                </a:solidFill>
                <a:latin typeface="Arial"/>
                <a:ea typeface="Arial"/>
                <a:cs typeface="Arial"/>
              </a:defRPr>
            </a:pPr>
            <a:r>
              <a:rPr sz="900" b="0">
                <a:solidFill>
                  <a:srgbClr val="333333"/>
                </a:solidFill>
                <a:latin typeface="Arial"/>
                <a:ea typeface="Arial"/>
                <a:cs typeface="Arial"/>
              </a:rPr>
              <a:t>[Pricing terms and operating improvements] offer a credible path to stronger margins and cash generation.</a:t>
            </a:r>
          </a:p>
          <a:p>
            <a:pPr marL="139700" indent="-88900">
              <a:spcAft>
                <a:spcPts val="500"/>
              </a:spcAft>
              <a:buChar char="•"/>
              <a:defRPr sz="900" b="0">
                <a:solidFill>
                  <a:srgbClr val="333333"/>
                </a:solidFill>
                <a:latin typeface="Arial"/>
                <a:ea typeface="Arial"/>
                <a:cs typeface="Arial"/>
              </a:defRPr>
            </a:pPr>
            <a:r>
              <a:rPr sz="900" b="0">
                <a:solidFill>
                  <a:srgbClr val="333333"/>
                </a:solidFill>
                <a:latin typeface="Arial"/>
                <a:ea typeface="Arial"/>
                <a:cs typeface="Arial"/>
              </a:rPr>
              <a:t>[Management capabilities] support execution; test [key downside risk] and its effect on debt service and returns.</a:t>
            </a:r>
          </a:p>
        </p:txBody>
      </p:sp>
      <p:sp>
        <p:nvSpPr>
          <p:cNvPr id="16" name="Editable summary title">
            <a:extLst>
              <a:ext uri="{FF2B5EF4-FFF2-40B4-BE49-F238E27FC236}">
                <a16:creationId xmlns:a16="http://schemas.microsoft.com/office/drawing/2014/main" id="{C66AC5C6-3778-4B00-AFF4-796626D035E5}"/>
              </a:ext>
            </a:extLst>
          </p:cNvPr>
          <p:cNvSpPr>
            <a:spLocks noGrp="1"/>
          </p:cNvSpPr>
          <p:nvPr/>
        </p:nvSpPr>
        <p:spPr>
          <a:xfrm>
            <a:off x="4669155" y="1651635"/>
            <a:ext cx="4217670" cy="133350"/>
          </a:xfrm>
          <a:prstGeom prst="rect">
            <a:avLst/>
          </a:prstGeom>
          <a:noFill/>
          <a:ln w="0">
            <a:noFill/>
          </a:ln>
        </p:spPr>
        <p:txBody>
          <a:bodyPr lIns="0" tIns="0" rIns="0" bIns="0" anchor="t">
            <a:noAutofit/>
          </a:bodyPr>
          <a:lstStyle/>
          <a:p>
            <a:pPr>
              <a:defRPr sz="690" b="1">
                <a:solidFill>
                  <a:srgbClr val="333333"/>
                </a:solidFill>
                <a:latin typeface="Arial"/>
                <a:ea typeface="Arial"/>
                <a:cs typeface="Arial"/>
              </a:defRPr>
            </a:pPr>
            <a:r>
              <a:rPr sz="690" b="1">
                <a:solidFill>
                  <a:srgbClr val="333333"/>
                </a:solidFill>
                <a:latin typeface="Arial"/>
                <a:ea typeface="Arial"/>
                <a:cs typeface="Arial"/>
              </a:rPr>
              <a:t>Illustrative financial summary | $ in millions</a:t>
            </a:r>
          </a:p>
        </p:txBody>
      </p:sp>
      <p:sp>
        <p:nvSpPr>
          <p:cNvPr id="17" name="Editable summary period">
            <a:extLst>
              <a:ext uri="{FF2B5EF4-FFF2-40B4-BE49-F238E27FC236}">
                <a16:creationId xmlns:a16="http://schemas.microsoft.com/office/drawing/2014/main" id="{537D0C1F-8651-48AB-9150-08A0FAC43615}"/>
              </a:ext>
            </a:extLst>
          </p:cNvPr>
          <p:cNvSpPr>
            <a:spLocks noGrp="1"/>
          </p:cNvSpPr>
          <p:nvPr/>
        </p:nvSpPr>
        <p:spPr>
          <a:xfrm>
            <a:off x="4669155" y="1804035"/>
            <a:ext cx="2381250" cy="123825"/>
          </a:xfrm>
          <a:prstGeom prst="rect">
            <a:avLst/>
          </a:prstGeom>
          <a:noFill/>
          <a:ln w="0">
            <a:noFill/>
          </a:ln>
        </p:spPr>
        <p:txBody>
          <a:bodyPr lIns="0" tIns="0" rIns="0" bIns="0" anchor="t">
            <a:noAutofit/>
          </a:bodyPr>
          <a:lstStyle/>
          <a:p>
            <a:pPr>
              <a:defRPr sz="578" b="0">
                <a:solidFill>
                  <a:srgbClr val="333333"/>
                </a:solidFill>
                <a:latin typeface="Arial"/>
                <a:ea typeface="Arial"/>
                <a:cs typeface="Arial"/>
              </a:defRPr>
            </a:pPr>
            <a:r>
              <a:rPr sz="578" b="0">
                <a:solidFill>
                  <a:srgbClr val="333333"/>
                </a:solidFill>
                <a:latin typeface="Arial"/>
                <a:ea typeface="Arial"/>
                <a:cs typeface="Arial"/>
              </a:rPr>
              <a:t>Fiscal years ended December 31</a:t>
            </a:r>
          </a:p>
        </p:txBody>
      </p:sp>
      <p:sp>
        <p:nvSpPr>
          <p:cNvPr id="18" name="Editable summary actual">
            <a:extLst>
              <a:ext uri="{FF2B5EF4-FFF2-40B4-BE49-F238E27FC236}">
                <a16:creationId xmlns:a16="http://schemas.microsoft.com/office/drawing/2014/main" id="{9F8443BF-D928-4F68-8732-DA2CA87AF780}"/>
              </a:ext>
            </a:extLst>
          </p:cNvPr>
          <p:cNvSpPr>
            <a:spLocks noGrp="1"/>
          </p:cNvSpPr>
          <p:nvPr/>
        </p:nvSpPr>
        <p:spPr>
          <a:xfrm>
            <a:off x="6126480" y="1918335"/>
            <a:ext cx="1035129" cy="104775"/>
          </a:xfrm>
          <a:prstGeom prst="rect">
            <a:avLst/>
          </a:prstGeom>
          <a:noFill/>
          <a:ln w="0">
            <a:noFill/>
          </a:ln>
        </p:spPr>
        <p:txBody>
          <a:bodyPr lIns="0" tIns="0" rIns="0" bIns="0" anchor="t">
            <a:noAutofit/>
          </a:bodyPr>
          <a:lstStyle/>
          <a:p>
            <a:pPr algn="ctr">
              <a:defRPr sz="540" b="1">
                <a:solidFill>
                  <a:srgbClr val="555555"/>
                </a:solidFill>
                <a:latin typeface="Arial"/>
                <a:ea typeface="Arial"/>
                <a:cs typeface="Arial"/>
              </a:defRPr>
            </a:pPr>
            <a:r>
              <a:rPr sz="540" b="1">
                <a:solidFill>
                  <a:srgbClr val="555555"/>
                </a:solidFill>
                <a:latin typeface="Arial"/>
                <a:ea typeface="Arial"/>
                <a:cs typeface="Arial"/>
              </a:rPr>
              <a:t>Actual</a:t>
            </a:r>
          </a:p>
        </p:txBody>
      </p:sp>
      <p:sp>
        <p:nvSpPr>
          <p:cNvPr id="19" name="Editable summary forecast">
            <a:extLst>
              <a:ext uri="{FF2B5EF4-FFF2-40B4-BE49-F238E27FC236}">
                <a16:creationId xmlns:a16="http://schemas.microsoft.com/office/drawing/2014/main" id="{CDCCB01F-FFBD-46B0-9D53-0B7FB5CFF7E5}"/>
              </a:ext>
            </a:extLst>
          </p:cNvPr>
          <p:cNvSpPr>
            <a:spLocks noGrp="1"/>
          </p:cNvSpPr>
          <p:nvPr/>
        </p:nvSpPr>
        <p:spPr>
          <a:xfrm>
            <a:off x="7161609" y="1918335"/>
            <a:ext cx="1725216" cy="104775"/>
          </a:xfrm>
          <a:prstGeom prst="rect">
            <a:avLst/>
          </a:prstGeom>
          <a:noFill/>
          <a:ln w="0">
            <a:noFill/>
          </a:ln>
        </p:spPr>
        <p:txBody>
          <a:bodyPr lIns="0" tIns="0" rIns="0" bIns="0" anchor="t">
            <a:noAutofit/>
          </a:bodyPr>
          <a:lstStyle/>
          <a:p>
            <a:pPr algn="ctr">
              <a:defRPr sz="540" b="1">
                <a:solidFill>
                  <a:srgbClr val="555555"/>
                </a:solidFill>
                <a:latin typeface="Arial"/>
                <a:ea typeface="Arial"/>
                <a:cs typeface="Arial"/>
              </a:defRPr>
            </a:pPr>
            <a:r>
              <a:rPr sz="540" b="1">
                <a:solidFill>
                  <a:srgbClr val="555555"/>
                </a:solidFill>
                <a:latin typeface="Arial"/>
                <a:ea typeface="Arial"/>
                <a:cs typeface="Arial"/>
              </a:rPr>
              <a:t>Forecast</a:t>
            </a:r>
          </a:p>
        </p:txBody>
      </p:sp>
      <p:graphicFrame>
        <p:nvGraphicFramePr>
          <p:cNvPr id="36" name="Editable financial summary"/>
          <p:cNvGraphicFramePr/>
          <p:nvPr/>
        </p:nvGraphicFramePr>
        <p:xfrm>
          <a:off x="4669155" y="2013585"/>
          <a:ext cx="4217669" cy="3652352"/>
        </p:xfrm>
        <a:graphic>
          <a:graphicData uri="http://schemas.openxmlformats.org/drawingml/2006/table">
            <a:tbl>
              <a:tblPr/>
              <a:tblGrid>
                <a:gridCol w="1457325">
                  <a:extLst>
                    <a:ext uri="{9D8B030D-6E8A-4147-A177-3AD203B41FA5}">
                      <a16:colId xmlns:a16="http://schemas.microsoft.com/office/drawing/2014/main" val="20000"/>
                    </a:ext>
                  </a:extLst>
                </a:gridCol>
                <a:gridCol w="345043">
                  <a:extLst>
                    <a:ext uri="{9D8B030D-6E8A-4147-A177-3AD203B41FA5}">
                      <a16:colId xmlns:a16="http://schemas.microsoft.com/office/drawing/2014/main" val="20001"/>
                    </a:ext>
                  </a:extLst>
                </a:gridCol>
                <a:gridCol w="345043">
                  <a:extLst>
                    <a:ext uri="{9D8B030D-6E8A-4147-A177-3AD203B41FA5}">
                      <a16:colId xmlns:a16="http://schemas.microsoft.com/office/drawing/2014/main" val="20002"/>
                    </a:ext>
                  </a:extLst>
                </a:gridCol>
                <a:gridCol w="345043">
                  <a:extLst>
                    <a:ext uri="{9D8B030D-6E8A-4147-A177-3AD203B41FA5}">
                      <a16:colId xmlns:a16="http://schemas.microsoft.com/office/drawing/2014/main" val="20003"/>
                    </a:ext>
                  </a:extLst>
                </a:gridCol>
                <a:gridCol w="345043">
                  <a:extLst>
                    <a:ext uri="{9D8B030D-6E8A-4147-A177-3AD203B41FA5}">
                      <a16:colId xmlns:a16="http://schemas.microsoft.com/office/drawing/2014/main" val="20004"/>
                    </a:ext>
                  </a:extLst>
                </a:gridCol>
                <a:gridCol w="345043">
                  <a:extLst>
                    <a:ext uri="{9D8B030D-6E8A-4147-A177-3AD203B41FA5}">
                      <a16:colId xmlns:a16="http://schemas.microsoft.com/office/drawing/2014/main" val="20005"/>
                    </a:ext>
                  </a:extLst>
                </a:gridCol>
                <a:gridCol w="345043">
                  <a:extLst>
                    <a:ext uri="{9D8B030D-6E8A-4147-A177-3AD203B41FA5}">
                      <a16:colId xmlns:a16="http://schemas.microsoft.com/office/drawing/2014/main" val="20006"/>
                    </a:ext>
                  </a:extLst>
                </a:gridCol>
                <a:gridCol w="345043">
                  <a:extLst>
                    <a:ext uri="{9D8B030D-6E8A-4147-A177-3AD203B41FA5}">
                      <a16:colId xmlns:a16="http://schemas.microsoft.com/office/drawing/2014/main" val="20007"/>
                    </a:ext>
                  </a:extLst>
                </a:gridCol>
                <a:gridCol w="345043">
                  <a:extLst>
                    <a:ext uri="{9D8B030D-6E8A-4147-A177-3AD203B41FA5}">
                      <a16:colId xmlns:a16="http://schemas.microsoft.com/office/drawing/2014/main" val="20008"/>
                    </a:ext>
                  </a:extLst>
                </a:gridCol>
              </a:tblGrid>
              <a:tr h="142875">
                <a:tc>
                  <a:txBody>
                    <a:bodyPr/>
                    <a:lstStyle/>
                    <a:p>
                      <a:pPr marL="0" indent="0" algn="l">
                        <a:spcBef>
                          <a:spcPts val="0"/>
                        </a:spcBef>
                        <a:spcAft>
                          <a:spcPts val="0"/>
                        </a:spcAft>
                      </a:pPr>
                      <a:r>
                        <a:rPr sz="551" b="1" i="0">
                          <a:solidFill>
                            <a:srgbClr val="222222"/>
                          </a:solidFill>
                          <a:latin typeface="Arial"/>
                          <a:ea typeface="Arial"/>
                          <a:cs typeface="Arial"/>
                        </a:rPr>
                        <a:t>Income Statement</a:t>
                      </a:r>
                      <a:endParaRPr sz="551"/>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ctr">
                        <a:spcBef>
                          <a:spcPts val="0"/>
                        </a:spcBef>
                        <a:spcAft>
                          <a:spcPts val="0"/>
                        </a:spcAft>
                      </a:pPr>
                      <a:r>
                        <a:rPr sz="544" b="1" i="0">
                          <a:solidFill>
                            <a:srgbClr val="222222"/>
                          </a:solidFill>
                          <a:latin typeface="Arial"/>
                          <a:ea typeface="Arial"/>
                          <a:cs typeface="Arial"/>
                        </a:rPr>
                        <a:t>2024A</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ctr">
                        <a:spcBef>
                          <a:spcPts val="0"/>
                        </a:spcBef>
                        <a:spcAft>
                          <a:spcPts val="0"/>
                        </a:spcAft>
                      </a:pPr>
                      <a:r>
                        <a:rPr sz="544" b="1" i="0">
                          <a:solidFill>
                            <a:srgbClr val="222222"/>
                          </a:solidFill>
                          <a:latin typeface="Arial"/>
                          <a:ea typeface="Arial"/>
                          <a:cs typeface="Arial"/>
                        </a:rPr>
                        <a:t>2025A</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ctr">
                        <a:spcBef>
                          <a:spcPts val="0"/>
                        </a:spcBef>
                        <a:spcAft>
                          <a:spcPts val="0"/>
                        </a:spcAft>
                      </a:pPr>
                      <a:r>
                        <a:rPr sz="544" b="1" i="0">
                          <a:solidFill>
                            <a:srgbClr val="222222"/>
                          </a:solidFill>
                          <a:latin typeface="Arial"/>
                          <a:ea typeface="Arial"/>
                          <a:cs typeface="Arial"/>
                        </a:rPr>
                        <a:t>2026A</a:t>
                      </a:r>
                      <a:endParaRPr sz="544"/>
                    </a:p>
                  </a:txBody>
                  <a:tcPr marL="0" marR="19050" marT="0" marB="0" anchor="ctr">
                    <a:lnL w="4286">
                      <a:noFill/>
                    </a:lnL>
                    <a:lnR w="4286">
                      <a:solidFill>
                        <a:srgbClr val="9A9A9A"/>
                      </a:solidFill>
                    </a:lnR>
                    <a:lnT w="4286">
                      <a:noFill/>
                    </a:lnT>
                    <a:lnB w="4286">
                      <a:solidFill>
                        <a:srgbClr val="555555"/>
                      </a:solidFill>
                    </a:lnB>
                    <a:solidFill>
                      <a:srgbClr val="FFFFFF"/>
                    </a:solidFill>
                  </a:tcPr>
                </a:tc>
                <a:tc>
                  <a:txBody>
                    <a:bodyPr/>
                    <a:lstStyle/>
                    <a:p>
                      <a:pPr marL="0" indent="0" algn="ctr">
                        <a:spcBef>
                          <a:spcPts val="0"/>
                        </a:spcBef>
                        <a:spcAft>
                          <a:spcPts val="0"/>
                        </a:spcAft>
                      </a:pPr>
                      <a:r>
                        <a:rPr sz="544" b="1" i="0">
                          <a:solidFill>
                            <a:srgbClr val="222222"/>
                          </a:solidFill>
                          <a:latin typeface="Arial"/>
                          <a:ea typeface="Arial"/>
                          <a:cs typeface="Arial"/>
                        </a:rPr>
                        <a:t>2027E</a:t>
                      </a:r>
                      <a:endParaRPr sz="544"/>
                    </a:p>
                  </a:txBody>
                  <a:tcPr marL="0" marR="19050" marT="0" marB="0" anchor="ctr">
                    <a:lnL w="4286">
                      <a:solidFill>
                        <a:srgbClr val="9A9A9A"/>
                      </a:solidFill>
                    </a:lnL>
                    <a:lnR w="4286">
                      <a:noFill/>
                    </a:lnR>
                    <a:lnT w="4286">
                      <a:noFill/>
                    </a:lnT>
                    <a:lnB w="4286">
                      <a:solidFill>
                        <a:srgbClr val="555555"/>
                      </a:solidFill>
                    </a:lnB>
                    <a:solidFill>
                      <a:srgbClr val="FFFFFF"/>
                    </a:solidFill>
                  </a:tcPr>
                </a:tc>
                <a:tc>
                  <a:txBody>
                    <a:bodyPr/>
                    <a:lstStyle/>
                    <a:p>
                      <a:pPr marL="0" indent="0" algn="ctr">
                        <a:spcBef>
                          <a:spcPts val="0"/>
                        </a:spcBef>
                        <a:spcAft>
                          <a:spcPts val="0"/>
                        </a:spcAft>
                      </a:pPr>
                      <a:r>
                        <a:rPr sz="544" b="1" i="0">
                          <a:solidFill>
                            <a:srgbClr val="222222"/>
                          </a:solidFill>
                          <a:latin typeface="Arial"/>
                          <a:ea typeface="Arial"/>
                          <a:cs typeface="Arial"/>
                        </a:rPr>
                        <a:t>2028E</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ctr">
                        <a:spcBef>
                          <a:spcPts val="0"/>
                        </a:spcBef>
                        <a:spcAft>
                          <a:spcPts val="0"/>
                        </a:spcAft>
                      </a:pPr>
                      <a:r>
                        <a:rPr sz="544" b="1" i="0">
                          <a:solidFill>
                            <a:srgbClr val="222222"/>
                          </a:solidFill>
                          <a:latin typeface="Arial"/>
                          <a:ea typeface="Arial"/>
                          <a:cs typeface="Arial"/>
                        </a:rPr>
                        <a:t>2029E</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ctr">
                        <a:spcBef>
                          <a:spcPts val="0"/>
                        </a:spcBef>
                        <a:spcAft>
                          <a:spcPts val="0"/>
                        </a:spcAft>
                      </a:pPr>
                      <a:r>
                        <a:rPr sz="544" b="1" i="0">
                          <a:solidFill>
                            <a:srgbClr val="222222"/>
                          </a:solidFill>
                          <a:latin typeface="Arial"/>
                          <a:ea typeface="Arial"/>
                          <a:cs typeface="Arial"/>
                        </a:rPr>
                        <a:t>2030E</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ctr">
                        <a:spcBef>
                          <a:spcPts val="0"/>
                        </a:spcBef>
                        <a:spcAft>
                          <a:spcPts val="0"/>
                        </a:spcAft>
                      </a:pPr>
                      <a:r>
                        <a:rPr sz="544" b="1" i="0">
                          <a:solidFill>
                            <a:srgbClr val="222222"/>
                          </a:solidFill>
                          <a:latin typeface="Arial"/>
                          <a:ea typeface="Arial"/>
                          <a:cs typeface="Arial"/>
                        </a:rPr>
                        <a:t>2031E</a:t>
                      </a:r>
                      <a:endParaRPr sz="544"/>
                    </a:p>
                  </a:txBody>
                  <a:tcPr marL="0" marR="19050" marT="0" marB="0" anchor="ctr">
                    <a:lnL w="4286">
                      <a:noFill/>
                    </a:lnL>
                    <a:lnR w="4286">
                      <a:noFill/>
                    </a:lnR>
                    <a:lnT w="4286">
                      <a:noFill/>
                    </a:lnT>
                    <a:lnB w="4286">
                      <a:solidFill>
                        <a:srgbClr val="555555"/>
                      </a:solidFill>
                    </a:lnB>
                    <a:solidFill>
                      <a:srgbClr val="FFFFFF"/>
                    </a:solidFill>
                  </a:tcPr>
                </a:tc>
                <a:extLst>
                  <a:ext uri="{0D108BD9-81ED-4DB2-BD59-A6C34878D82A}">
                    <a16:rowId xmlns:a16="http://schemas.microsoft.com/office/drawing/2014/main" val="10000"/>
                  </a:ext>
                </a:extLst>
              </a:tr>
              <a:tr h="103346">
                <a:tc>
                  <a:txBody>
                    <a:bodyPr/>
                    <a:lstStyle/>
                    <a:p>
                      <a:pPr marL="0" indent="0" algn="l">
                        <a:spcBef>
                          <a:spcPts val="0"/>
                        </a:spcBef>
                        <a:spcAft>
                          <a:spcPts val="0"/>
                        </a:spcAft>
                      </a:pPr>
                      <a:r>
                        <a:rPr sz="551" b="0" i="0">
                          <a:solidFill>
                            <a:srgbClr val="222222"/>
                          </a:solidFill>
                          <a:latin typeface="Arial"/>
                          <a:ea typeface="Arial"/>
                          <a:cs typeface="Arial"/>
                        </a:rPr>
                        <a:t>Business Line 1 Revenue</a:t>
                      </a:r>
                      <a:endParaRPr sz="551"/>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207.0</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216.6</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225.0</a:t>
                      </a:r>
                      <a:endParaRPr sz="544"/>
                    </a:p>
                  </a:txBody>
                  <a:tcPr marL="0" marR="19050" marT="0" marB="0" anchor="ctr">
                    <a:lnL w="4286">
                      <a:noFill/>
                    </a:lnL>
                    <a:lnR w="4286">
                      <a:solidFill>
                        <a:srgbClr val="9A9A9A"/>
                      </a:solidFill>
                    </a:lnR>
                    <a:lnT w="4286">
                      <a:solidFill>
                        <a:srgbClr val="555555"/>
                      </a:solid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235.1</a:t>
                      </a:r>
                      <a:endParaRPr sz="544"/>
                    </a:p>
                  </a:txBody>
                  <a:tcPr marL="0" marR="19050" marT="0" marB="0" anchor="ctr">
                    <a:lnL w="4286">
                      <a:solidFill>
                        <a:srgbClr val="9A9A9A"/>
                      </a:solid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245.7</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256.8</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268.3</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280.4</a:t>
                      </a:r>
                      <a:endParaRPr sz="544"/>
                    </a:p>
                  </a:txBody>
                  <a:tcPr marL="0" marR="19050" marT="0" marB="0" anchor="ctr">
                    <a:lnL w="4286">
                      <a:noFill/>
                    </a:lnL>
                    <a:lnR w="4286">
                      <a:noFill/>
                    </a:lnR>
                    <a:lnT w="4286">
                      <a:solidFill>
                        <a:srgbClr val="555555"/>
                      </a:solidFill>
                    </a:lnT>
                    <a:lnB w="4286">
                      <a:noFill/>
                    </a:lnB>
                    <a:solidFill>
                      <a:srgbClr val="FFFFFF"/>
                    </a:solidFill>
                  </a:tcPr>
                </a:tc>
                <a:extLst>
                  <a:ext uri="{0D108BD9-81ED-4DB2-BD59-A6C34878D82A}">
                    <a16:rowId xmlns:a16="http://schemas.microsoft.com/office/drawing/2014/main" val="10001"/>
                  </a:ext>
                </a:extLst>
              </a:tr>
              <a:tr h="103346">
                <a:tc>
                  <a:txBody>
                    <a:bodyPr/>
                    <a:lstStyle/>
                    <a:p>
                      <a:pPr marL="0" indent="0" algn="l">
                        <a:spcBef>
                          <a:spcPts val="0"/>
                        </a:spcBef>
                        <a:spcAft>
                          <a:spcPts val="0"/>
                        </a:spcAft>
                      </a:pPr>
                      <a:r>
                        <a:rPr sz="551" b="0" i="0">
                          <a:solidFill>
                            <a:srgbClr val="222222"/>
                          </a:solidFill>
                          <a:latin typeface="Arial"/>
                          <a:ea typeface="Arial"/>
                          <a:cs typeface="Arial"/>
                        </a:rPr>
                        <a:t>Business Line 2 Revenue</a:t>
                      </a:r>
                      <a:endParaRPr sz="551"/>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92.0</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96.2</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100.0</a:t>
                      </a:r>
                      <a:endParaRPr sz="544"/>
                    </a:p>
                  </a:txBody>
                  <a:tcPr marL="0" marR="19050" marT="0" marB="0" anchor="ctr">
                    <a:lnL w="4286">
                      <a:noFill/>
                    </a:lnL>
                    <a:lnR w="4286">
                      <a:solidFill>
                        <a:srgbClr val="9A9A9A"/>
                      </a:solid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104.5</a:t>
                      </a:r>
                      <a:endParaRPr sz="544"/>
                    </a:p>
                  </a:txBody>
                  <a:tcPr marL="0" marR="19050" marT="0" marB="0" anchor="ctr">
                    <a:lnL w="4286">
                      <a:solidFill>
                        <a:srgbClr val="9A9A9A"/>
                      </a:solid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109.2</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114.1</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119.3</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124.6</a:t>
                      </a:r>
                      <a:endParaRPr sz="544"/>
                    </a:p>
                  </a:txBody>
                  <a:tcPr marL="0" marR="19050" marT="0" marB="0" anchor="ctr">
                    <a:lnL w="4286">
                      <a:noFill/>
                    </a:lnL>
                    <a:lnR w="4286">
                      <a:noFill/>
                    </a:lnR>
                    <a:lnT w="4286">
                      <a:noFill/>
                    </a:lnT>
                    <a:lnB w="4286">
                      <a:noFill/>
                    </a:lnB>
                    <a:solidFill>
                      <a:srgbClr val="FFFFFF"/>
                    </a:solidFill>
                  </a:tcPr>
                </a:tc>
                <a:extLst>
                  <a:ext uri="{0D108BD9-81ED-4DB2-BD59-A6C34878D82A}">
                    <a16:rowId xmlns:a16="http://schemas.microsoft.com/office/drawing/2014/main" val="10002"/>
                  </a:ext>
                </a:extLst>
              </a:tr>
              <a:tr h="103346">
                <a:tc>
                  <a:txBody>
                    <a:bodyPr/>
                    <a:lstStyle/>
                    <a:p>
                      <a:pPr marL="0" indent="0" algn="l">
                        <a:spcBef>
                          <a:spcPts val="0"/>
                        </a:spcBef>
                        <a:spcAft>
                          <a:spcPts val="0"/>
                        </a:spcAft>
                      </a:pPr>
                      <a:r>
                        <a:rPr sz="551" b="0" i="0">
                          <a:solidFill>
                            <a:srgbClr val="222222"/>
                          </a:solidFill>
                          <a:latin typeface="Arial"/>
                          <a:ea typeface="Arial"/>
                          <a:cs typeface="Arial"/>
                        </a:rPr>
                        <a:t>Business Line 3 Revenue</a:t>
                      </a:r>
                      <a:endParaRPr sz="551"/>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69.0</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72.2</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75.0</a:t>
                      </a:r>
                      <a:endParaRPr sz="544"/>
                    </a:p>
                  </a:txBody>
                  <a:tcPr marL="0" marR="19050" marT="0" marB="0" anchor="ctr">
                    <a:lnL w="4286">
                      <a:noFill/>
                    </a:lnL>
                    <a:lnR w="4286">
                      <a:solidFill>
                        <a:srgbClr val="9A9A9A"/>
                      </a:solid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78.4</a:t>
                      </a:r>
                      <a:endParaRPr sz="544"/>
                    </a:p>
                  </a:txBody>
                  <a:tcPr marL="0" marR="19050" marT="0" marB="0" anchor="ctr">
                    <a:lnL w="4286">
                      <a:solidFill>
                        <a:srgbClr val="9A9A9A"/>
                      </a:solid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81.9</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85.6</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89.4</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93.5</a:t>
                      </a:r>
                      <a:endParaRPr sz="544"/>
                    </a:p>
                  </a:txBody>
                  <a:tcPr marL="0" marR="19050" marT="0" marB="0" anchor="ctr">
                    <a:lnL w="4286">
                      <a:noFill/>
                    </a:lnL>
                    <a:lnR w="4286">
                      <a:noFill/>
                    </a:lnR>
                    <a:lnT w="4286">
                      <a:noFill/>
                    </a:lnT>
                    <a:lnB w="4286">
                      <a:solidFill>
                        <a:srgbClr val="555555"/>
                      </a:solidFill>
                    </a:lnB>
                    <a:solidFill>
                      <a:srgbClr val="FFFFFF"/>
                    </a:solidFill>
                  </a:tcPr>
                </a:tc>
                <a:extLst>
                  <a:ext uri="{0D108BD9-81ED-4DB2-BD59-A6C34878D82A}">
                    <a16:rowId xmlns:a16="http://schemas.microsoft.com/office/drawing/2014/main" val="10003"/>
                  </a:ext>
                </a:extLst>
              </a:tr>
              <a:tr h="103346">
                <a:tc>
                  <a:txBody>
                    <a:bodyPr/>
                    <a:lstStyle/>
                    <a:p>
                      <a:pPr marL="0" indent="0" algn="l">
                        <a:spcBef>
                          <a:spcPts val="0"/>
                        </a:spcBef>
                        <a:spcAft>
                          <a:spcPts val="0"/>
                        </a:spcAft>
                      </a:pPr>
                      <a:r>
                        <a:rPr sz="551" b="1" i="0">
                          <a:solidFill>
                            <a:srgbClr val="222222"/>
                          </a:solidFill>
                          <a:latin typeface="Arial"/>
                          <a:ea typeface="Arial"/>
                          <a:cs typeface="Arial"/>
                        </a:rPr>
                        <a:t>Total Revenues</a:t>
                      </a:r>
                      <a:endParaRPr sz="551"/>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368.0</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385.0</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400.0</a:t>
                      </a:r>
                      <a:endParaRPr sz="544"/>
                    </a:p>
                  </a:txBody>
                  <a:tcPr marL="0" marR="19050" marT="0" marB="0" anchor="ctr">
                    <a:lnL w="4286">
                      <a:noFill/>
                    </a:lnL>
                    <a:lnR w="4286">
                      <a:solidFill>
                        <a:srgbClr val="9A9A9A"/>
                      </a:solid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418.0</a:t>
                      </a:r>
                      <a:endParaRPr sz="544"/>
                    </a:p>
                  </a:txBody>
                  <a:tcPr marL="0" marR="19050" marT="0" marB="0" anchor="ctr">
                    <a:lnL w="4286">
                      <a:solidFill>
                        <a:srgbClr val="9A9A9A"/>
                      </a:solid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436.8</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456.5</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477.0</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498.5</a:t>
                      </a:r>
                      <a:endParaRPr sz="544"/>
                    </a:p>
                  </a:txBody>
                  <a:tcPr marL="0" marR="19050" marT="0" marB="0" anchor="ctr">
                    <a:lnL w="4286">
                      <a:noFill/>
                    </a:lnL>
                    <a:lnR w="4286">
                      <a:noFill/>
                    </a:lnR>
                    <a:lnT w="4286">
                      <a:solidFill>
                        <a:srgbClr val="555555"/>
                      </a:solidFill>
                    </a:lnT>
                    <a:lnB w="4286">
                      <a:noFill/>
                    </a:lnB>
                    <a:solidFill>
                      <a:srgbClr val="FFFFFF"/>
                    </a:solidFill>
                  </a:tcPr>
                </a:tc>
                <a:extLst>
                  <a:ext uri="{0D108BD9-81ED-4DB2-BD59-A6C34878D82A}">
                    <a16:rowId xmlns:a16="http://schemas.microsoft.com/office/drawing/2014/main" val="10004"/>
                  </a:ext>
                </a:extLst>
              </a:tr>
              <a:tr h="103346">
                <a:tc>
                  <a:txBody>
                    <a:bodyPr/>
                    <a:lstStyle/>
                    <a:p>
                      <a:pPr marL="0" indent="0" algn="l">
                        <a:spcBef>
                          <a:spcPts val="0"/>
                        </a:spcBef>
                        <a:spcAft>
                          <a:spcPts val="0"/>
                        </a:spcAft>
                      </a:pPr>
                      <a:r>
                        <a:rPr sz="525" b="0" i="1">
                          <a:solidFill>
                            <a:srgbClr val="555555"/>
                          </a:solidFill>
                          <a:latin typeface="Arial"/>
                          <a:ea typeface="Arial"/>
                          <a:cs typeface="Arial"/>
                        </a:rPr>
                        <a:t>Revenue growth</a:t>
                      </a:r>
                      <a:endParaRPr sz="525"/>
                    </a:p>
                  </a:txBody>
                  <a:tcPr marL="3810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n.a.</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4.6%</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3.9%</a:t>
                      </a:r>
                      <a:endParaRPr sz="525"/>
                    </a:p>
                  </a:txBody>
                  <a:tcPr marL="0" marR="19050" marT="0" marB="0" anchor="ctr">
                    <a:lnL w="4286">
                      <a:noFill/>
                    </a:lnL>
                    <a:lnR w="4286">
                      <a:solidFill>
                        <a:srgbClr val="9A9A9A"/>
                      </a:solid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4.5%</a:t>
                      </a:r>
                      <a:endParaRPr sz="525"/>
                    </a:p>
                  </a:txBody>
                  <a:tcPr marL="0" marR="19050" marT="0" marB="0" anchor="ctr">
                    <a:lnL w="4286">
                      <a:solidFill>
                        <a:srgbClr val="9A9A9A"/>
                      </a:solid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4.5%</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4.5%</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4.5%</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4.5%</a:t>
                      </a:r>
                      <a:endParaRPr sz="525"/>
                    </a:p>
                  </a:txBody>
                  <a:tcPr marL="0" marR="19050" marT="0" marB="0" anchor="ctr">
                    <a:lnL w="4286">
                      <a:noFill/>
                    </a:lnL>
                    <a:lnR w="4286">
                      <a:noFill/>
                    </a:lnR>
                    <a:lnT w="4286">
                      <a:noFill/>
                    </a:lnT>
                    <a:lnB w="4286">
                      <a:noFill/>
                    </a:lnB>
                    <a:solidFill>
                      <a:srgbClr val="FFFFFF"/>
                    </a:solidFill>
                  </a:tcPr>
                </a:tc>
                <a:extLst>
                  <a:ext uri="{0D108BD9-81ED-4DB2-BD59-A6C34878D82A}">
                    <a16:rowId xmlns:a16="http://schemas.microsoft.com/office/drawing/2014/main" val="10005"/>
                  </a:ext>
                </a:extLst>
              </a:tr>
              <a:tr h="40481">
                <a:tc>
                  <a:txBody>
                    <a:bodyPr/>
                    <a:lstStyle/>
                    <a:p>
                      <a:pPr marL="0" indent="0" algn="l">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solidFill>
                        <a:srgbClr val="9A9A9A"/>
                      </a:solid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solidFill>
                        <a:srgbClr val="9A9A9A"/>
                      </a:solid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extLst>
                  <a:ext uri="{0D108BD9-81ED-4DB2-BD59-A6C34878D82A}">
                    <a16:rowId xmlns:a16="http://schemas.microsoft.com/office/drawing/2014/main" val="10006"/>
                  </a:ext>
                </a:extLst>
              </a:tr>
              <a:tr h="103346">
                <a:tc>
                  <a:txBody>
                    <a:bodyPr/>
                    <a:lstStyle/>
                    <a:p>
                      <a:pPr marL="0" indent="0" algn="l">
                        <a:spcBef>
                          <a:spcPts val="0"/>
                        </a:spcBef>
                        <a:spcAft>
                          <a:spcPts val="0"/>
                        </a:spcAft>
                      </a:pPr>
                      <a:r>
                        <a:rPr sz="551" b="0" i="0">
                          <a:solidFill>
                            <a:srgbClr val="222222"/>
                          </a:solidFill>
                          <a:latin typeface="Arial"/>
                          <a:ea typeface="Arial"/>
                          <a:cs typeface="Arial"/>
                        </a:rPr>
                        <a:t>Less: Cost of goods sold</a:t>
                      </a:r>
                      <a:endParaRPr sz="551"/>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(103.3)</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(112.4)</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(115.2)</a:t>
                      </a:r>
                      <a:endParaRPr sz="544"/>
                    </a:p>
                  </a:txBody>
                  <a:tcPr marL="0" marR="19050" marT="0" marB="0" anchor="ctr">
                    <a:lnL w="4286">
                      <a:noFill/>
                    </a:lnL>
                    <a:lnR w="4286">
                      <a:solidFill>
                        <a:srgbClr val="9A9A9A"/>
                      </a:solid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(146.3)</a:t>
                      </a:r>
                      <a:endParaRPr sz="544"/>
                    </a:p>
                  </a:txBody>
                  <a:tcPr marL="0" marR="19050" marT="0" marB="0" anchor="ctr">
                    <a:lnL w="4286">
                      <a:solidFill>
                        <a:srgbClr val="9A9A9A"/>
                      </a:solid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(150.7)</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(155.2)</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(159.8)</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(164.5)</a:t>
                      </a:r>
                      <a:endParaRPr sz="544"/>
                    </a:p>
                  </a:txBody>
                  <a:tcPr marL="0" marR="19050" marT="0" marB="0" anchor="ctr">
                    <a:lnL w="4286">
                      <a:noFill/>
                    </a:lnL>
                    <a:lnR w="4286">
                      <a:noFill/>
                    </a:lnR>
                    <a:lnT w="4286">
                      <a:noFill/>
                    </a:lnT>
                    <a:lnB w="4286">
                      <a:solidFill>
                        <a:srgbClr val="555555"/>
                      </a:solidFill>
                    </a:lnB>
                    <a:solidFill>
                      <a:srgbClr val="FFFFFF"/>
                    </a:solidFill>
                  </a:tcPr>
                </a:tc>
                <a:extLst>
                  <a:ext uri="{0D108BD9-81ED-4DB2-BD59-A6C34878D82A}">
                    <a16:rowId xmlns:a16="http://schemas.microsoft.com/office/drawing/2014/main" val="10007"/>
                  </a:ext>
                </a:extLst>
              </a:tr>
              <a:tr h="103346">
                <a:tc>
                  <a:txBody>
                    <a:bodyPr/>
                    <a:lstStyle/>
                    <a:p>
                      <a:pPr marL="0" indent="0" algn="l">
                        <a:spcBef>
                          <a:spcPts val="0"/>
                        </a:spcBef>
                        <a:spcAft>
                          <a:spcPts val="0"/>
                        </a:spcAft>
                      </a:pPr>
                      <a:r>
                        <a:rPr sz="551" b="1" i="0">
                          <a:solidFill>
                            <a:srgbClr val="222222"/>
                          </a:solidFill>
                          <a:latin typeface="Arial"/>
                          <a:ea typeface="Arial"/>
                          <a:cs typeface="Arial"/>
                        </a:rPr>
                        <a:t>Gross Profit</a:t>
                      </a:r>
                      <a:endParaRPr sz="551"/>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264.7</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272.6</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284.8</a:t>
                      </a:r>
                      <a:endParaRPr sz="544"/>
                    </a:p>
                  </a:txBody>
                  <a:tcPr marL="0" marR="19050" marT="0" marB="0" anchor="ctr">
                    <a:lnL w="4286">
                      <a:noFill/>
                    </a:lnL>
                    <a:lnR w="4286">
                      <a:solidFill>
                        <a:srgbClr val="9A9A9A"/>
                      </a:solid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271.7</a:t>
                      </a:r>
                      <a:endParaRPr sz="544"/>
                    </a:p>
                  </a:txBody>
                  <a:tcPr marL="0" marR="19050" marT="0" marB="0" anchor="ctr">
                    <a:lnL w="4286">
                      <a:solidFill>
                        <a:srgbClr val="9A9A9A"/>
                      </a:solid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286.1</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301.3</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317.2</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334.0</a:t>
                      </a:r>
                      <a:endParaRPr sz="544"/>
                    </a:p>
                  </a:txBody>
                  <a:tcPr marL="0" marR="19050" marT="0" marB="0" anchor="ctr">
                    <a:lnL w="4286">
                      <a:noFill/>
                    </a:lnL>
                    <a:lnR w="4286">
                      <a:noFill/>
                    </a:lnR>
                    <a:lnT w="4286">
                      <a:solidFill>
                        <a:srgbClr val="555555"/>
                      </a:solidFill>
                    </a:lnT>
                    <a:lnB w="4286">
                      <a:noFill/>
                    </a:lnB>
                    <a:solidFill>
                      <a:srgbClr val="FFFFFF"/>
                    </a:solidFill>
                  </a:tcPr>
                </a:tc>
                <a:extLst>
                  <a:ext uri="{0D108BD9-81ED-4DB2-BD59-A6C34878D82A}">
                    <a16:rowId xmlns:a16="http://schemas.microsoft.com/office/drawing/2014/main" val="10008"/>
                  </a:ext>
                </a:extLst>
              </a:tr>
              <a:tr h="103346">
                <a:tc>
                  <a:txBody>
                    <a:bodyPr/>
                    <a:lstStyle/>
                    <a:p>
                      <a:pPr marL="0" indent="0" algn="l">
                        <a:spcBef>
                          <a:spcPts val="0"/>
                        </a:spcBef>
                        <a:spcAft>
                          <a:spcPts val="0"/>
                        </a:spcAft>
                      </a:pPr>
                      <a:r>
                        <a:rPr sz="525" b="0" i="1">
                          <a:solidFill>
                            <a:srgbClr val="555555"/>
                          </a:solidFill>
                          <a:latin typeface="Arial"/>
                          <a:ea typeface="Arial"/>
                          <a:cs typeface="Arial"/>
                        </a:rPr>
                        <a:t>Gross margin</a:t>
                      </a:r>
                      <a:endParaRPr sz="525"/>
                    </a:p>
                  </a:txBody>
                  <a:tcPr marL="3810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71.9%</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70.8%</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71.2%</a:t>
                      </a:r>
                      <a:endParaRPr sz="525"/>
                    </a:p>
                  </a:txBody>
                  <a:tcPr marL="0" marR="19050" marT="0" marB="0" anchor="ctr">
                    <a:lnL w="4286">
                      <a:noFill/>
                    </a:lnL>
                    <a:lnR w="4286">
                      <a:solidFill>
                        <a:srgbClr val="9A9A9A"/>
                      </a:solid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65.0%</a:t>
                      </a:r>
                      <a:endParaRPr sz="525"/>
                    </a:p>
                  </a:txBody>
                  <a:tcPr marL="0" marR="19050" marT="0" marB="0" anchor="ctr">
                    <a:lnL w="4286">
                      <a:solidFill>
                        <a:srgbClr val="9A9A9A"/>
                      </a:solid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65.5%</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66.0%</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66.5%</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67.0%</a:t>
                      </a:r>
                      <a:endParaRPr sz="525"/>
                    </a:p>
                  </a:txBody>
                  <a:tcPr marL="0" marR="19050" marT="0" marB="0" anchor="ctr">
                    <a:lnL w="4286">
                      <a:noFill/>
                    </a:lnL>
                    <a:lnR w="4286">
                      <a:noFill/>
                    </a:lnR>
                    <a:lnT w="4286">
                      <a:noFill/>
                    </a:lnT>
                    <a:lnB w="4286">
                      <a:noFill/>
                    </a:lnB>
                    <a:solidFill>
                      <a:srgbClr val="FFFFFF"/>
                    </a:solidFill>
                  </a:tcPr>
                </a:tc>
                <a:extLst>
                  <a:ext uri="{0D108BD9-81ED-4DB2-BD59-A6C34878D82A}">
                    <a16:rowId xmlns:a16="http://schemas.microsoft.com/office/drawing/2014/main" val="10009"/>
                  </a:ext>
                </a:extLst>
              </a:tr>
              <a:tr h="40481">
                <a:tc>
                  <a:txBody>
                    <a:bodyPr/>
                    <a:lstStyle/>
                    <a:p>
                      <a:pPr marL="0" indent="0" algn="l">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solidFill>
                        <a:srgbClr val="9A9A9A"/>
                      </a:solid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solidFill>
                        <a:srgbClr val="9A9A9A"/>
                      </a:solid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extLst>
                  <a:ext uri="{0D108BD9-81ED-4DB2-BD59-A6C34878D82A}">
                    <a16:rowId xmlns:a16="http://schemas.microsoft.com/office/drawing/2014/main" val="10010"/>
                  </a:ext>
                </a:extLst>
              </a:tr>
              <a:tr h="103346">
                <a:tc>
                  <a:txBody>
                    <a:bodyPr/>
                    <a:lstStyle/>
                    <a:p>
                      <a:pPr marL="0" indent="0" algn="l">
                        <a:spcBef>
                          <a:spcPts val="0"/>
                        </a:spcBef>
                        <a:spcAft>
                          <a:spcPts val="0"/>
                        </a:spcAft>
                      </a:pPr>
                      <a:r>
                        <a:rPr sz="551" b="0" i="0">
                          <a:solidFill>
                            <a:srgbClr val="222222"/>
                          </a:solidFill>
                          <a:latin typeface="Arial"/>
                          <a:ea typeface="Arial"/>
                          <a:cs typeface="Arial"/>
                        </a:rPr>
                        <a:t>Less: SG&amp;A</a:t>
                      </a:r>
                      <a:endParaRPr sz="551"/>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(155.6)</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(165.6)</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(177.8)</a:t>
                      </a:r>
                      <a:endParaRPr sz="544"/>
                    </a:p>
                  </a:txBody>
                  <a:tcPr marL="0" marR="19050" marT="0" marB="0" anchor="ctr">
                    <a:lnL w="4286">
                      <a:noFill/>
                    </a:lnL>
                    <a:lnR w="4286">
                      <a:solidFill>
                        <a:srgbClr val="9A9A9A"/>
                      </a:solid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(167.2)</a:t>
                      </a:r>
                      <a:endParaRPr sz="544"/>
                    </a:p>
                  </a:txBody>
                  <a:tcPr marL="0" marR="19050" marT="0" marB="0" anchor="ctr">
                    <a:lnL w="4286">
                      <a:solidFill>
                        <a:srgbClr val="9A9A9A"/>
                      </a:solid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(174.7)</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(182.6)</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(190.8)</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(199.4)</a:t>
                      </a:r>
                      <a:endParaRPr sz="544"/>
                    </a:p>
                  </a:txBody>
                  <a:tcPr marL="0" marR="19050" marT="0" marB="0" anchor="ctr">
                    <a:lnL w="4286">
                      <a:noFill/>
                    </a:lnL>
                    <a:lnR w="4286">
                      <a:noFill/>
                    </a:lnR>
                    <a:lnT w="4286">
                      <a:noFill/>
                    </a:lnT>
                    <a:lnB w="4286">
                      <a:noFill/>
                    </a:lnB>
                    <a:solidFill>
                      <a:srgbClr val="FFFFFF"/>
                    </a:solidFill>
                  </a:tcPr>
                </a:tc>
                <a:extLst>
                  <a:ext uri="{0D108BD9-81ED-4DB2-BD59-A6C34878D82A}">
                    <a16:rowId xmlns:a16="http://schemas.microsoft.com/office/drawing/2014/main" val="10011"/>
                  </a:ext>
                </a:extLst>
              </a:tr>
              <a:tr h="103346">
                <a:tc>
                  <a:txBody>
                    <a:bodyPr/>
                    <a:lstStyle/>
                    <a:p>
                      <a:pPr marL="0" indent="0" algn="l">
                        <a:spcBef>
                          <a:spcPts val="0"/>
                        </a:spcBef>
                        <a:spcAft>
                          <a:spcPts val="0"/>
                        </a:spcAft>
                      </a:pPr>
                      <a:r>
                        <a:rPr sz="551" b="0" i="0">
                          <a:solidFill>
                            <a:srgbClr val="222222"/>
                          </a:solidFill>
                          <a:latin typeface="Arial"/>
                          <a:ea typeface="Arial"/>
                          <a:cs typeface="Arial"/>
                        </a:rPr>
                        <a:t>Less: OID / fee amortization</a:t>
                      </a:r>
                      <a:endParaRPr sz="551"/>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a:t>
                      </a:r>
                      <a:endParaRPr sz="544"/>
                    </a:p>
                  </a:txBody>
                  <a:tcPr marL="0" marR="19050" marT="0" marB="0" anchor="ctr">
                    <a:lnL w="4286">
                      <a:noFill/>
                    </a:lnL>
                    <a:lnR w="4286">
                      <a:solidFill>
                        <a:srgbClr val="9A9A9A"/>
                      </a:solid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(4.3)</a:t>
                      </a:r>
                      <a:endParaRPr sz="544"/>
                    </a:p>
                  </a:txBody>
                  <a:tcPr marL="0" marR="19050" marT="0" marB="0" anchor="ctr">
                    <a:lnL w="4286">
                      <a:solidFill>
                        <a:srgbClr val="9A9A9A"/>
                      </a:solid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(4.3)</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(4.3)</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(4.3)</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(4.3)</a:t>
                      </a:r>
                      <a:endParaRPr sz="544"/>
                    </a:p>
                  </a:txBody>
                  <a:tcPr marL="0" marR="19050" marT="0" marB="0" anchor="ctr">
                    <a:lnL w="4286">
                      <a:noFill/>
                    </a:lnL>
                    <a:lnR w="4286">
                      <a:noFill/>
                    </a:lnR>
                    <a:lnT w="4286">
                      <a:noFill/>
                    </a:lnT>
                    <a:lnB w="4286">
                      <a:solidFill>
                        <a:srgbClr val="555555"/>
                      </a:solidFill>
                    </a:lnB>
                    <a:solidFill>
                      <a:srgbClr val="FFFFFF"/>
                    </a:solidFill>
                  </a:tcPr>
                </a:tc>
                <a:extLst>
                  <a:ext uri="{0D108BD9-81ED-4DB2-BD59-A6C34878D82A}">
                    <a16:rowId xmlns:a16="http://schemas.microsoft.com/office/drawing/2014/main" val="10012"/>
                  </a:ext>
                </a:extLst>
              </a:tr>
              <a:tr h="103346">
                <a:tc>
                  <a:txBody>
                    <a:bodyPr/>
                    <a:lstStyle/>
                    <a:p>
                      <a:pPr marL="0" indent="0" algn="l">
                        <a:spcBef>
                          <a:spcPts val="0"/>
                        </a:spcBef>
                        <a:spcAft>
                          <a:spcPts val="0"/>
                        </a:spcAft>
                      </a:pPr>
                      <a:r>
                        <a:rPr sz="551" b="1" i="0">
                          <a:solidFill>
                            <a:srgbClr val="222222"/>
                          </a:solidFill>
                          <a:latin typeface="Arial"/>
                          <a:ea typeface="Arial"/>
                          <a:cs typeface="Arial"/>
                        </a:rPr>
                        <a:t>Operating Income</a:t>
                      </a:r>
                      <a:endParaRPr sz="551"/>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109.1</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107.0</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107.0</a:t>
                      </a:r>
                      <a:endParaRPr sz="544"/>
                    </a:p>
                  </a:txBody>
                  <a:tcPr marL="0" marR="19050" marT="0" marB="0" anchor="ctr">
                    <a:lnL w="4286">
                      <a:noFill/>
                    </a:lnL>
                    <a:lnR w="4286">
                      <a:solidFill>
                        <a:srgbClr val="9A9A9A"/>
                      </a:solid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100.2</a:t>
                      </a:r>
                      <a:endParaRPr sz="544"/>
                    </a:p>
                  </a:txBody>
                  <a:tcPr marL="0" marR="19050" marT="0" marB="0" anchor="ctr">
                    <a:lnL w="4286">
                      <a:solidFill>
                        <a:srgbClr val="9A9A9A"/>
                      </a:solid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107.1</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114.4</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122.1</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130.3</a:t>
                      </a:r>
                      <a:endParaRPr sz="544"/>
                    </a:p>
                  </a:txBody>
                  <a:tcPr marL="0" marR="19050" marT="0" marB="0" anchor="ctr">
                    <a:lnL w="4286">
                      <a:noFill/>
                    </a:lnL>
                    <a:lnR w="4286">
                      <a:noFill/>
                    </a:lnR>
                    <a:lnT w="4286">
                      <a:solidFill>
                        <a:srgbClr val="555555"/>
                      </a:solidFill>
                    </a:lnT>
                    <a:lnB w="4286">
                      <a:noFill/>
                    </a:lnB>
                    <a:solidFill>
                      <a:srgbClr val="FFFFFF"/>
                    </a:solidFill>
                  </a:tcPr>
                </a:tc>
                <a:extLst>
                  <a:ext uri="{0D108BD9-81ED-4DB2-BD59-A6C34878D82A}">
                    <a16:rowId xmlns:a16="http://schemas.microsoft.com/office/drawing/2014/main" val="10013"/>
                  </a:ext>
                </a:extLst>
              </a:tr>
              <a:tr h="103346">
                <a:tc>
                  <a:txBody>
                    <a:bodyPr/>
                    <a:lstStyle/>
                    <a:p>
                      <a:pPr marL="0" indent="0" algn="l">
                        <a:spcBef>
                          <a:spcPts val="0"/>
                        </a:spcBef>
                        <a:spcAft>
                          <a:spcPts val="0"/>
                        </a:spcAft>
                      </a:pPr>
                      <a:r>
                        <a:rPr sz="525" b="0" i="1">
                          <a:solidFill>
                            <a:srgbClr val="555555"/>
                          </a:solidFill>
                          <a:latin typeface="Arial"/>
                          <a:ea typeface="Arial"/>
                          <a:cs typeface="Arial"/>
                        </a:rPr>
                        <a:t>Operating margin</a:t>
                      </a:r>
                      <a:endParaRPr sz="525"/>
                    </a:p>
                  </a:txBody>
                  <a:tcPr marL="3810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dirty="0">
                          <a:solidFill>
                            <a:srgbClr val="555555"/>
                          </a:solidFill>
                          <a:latin typeface="Arial"/>
                          <a:ea typeface="Arial"/>
                          <a:cs typeface="Arial"/>
                        </a:rPr>
                        <a:t>29.6%</a:t>
                      </a:r>
                      <a:endParaRPr sz="525" dirty="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27.8%</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26.8%</a:t>
                      </a:r>
                      <a:endParaRPr sz="525"/>
                    </a:p>
                  </a:txBody>
                  <a:tcPr marL="0" marR="19050" marT="0" marB="0" anchor="ctr">
                    <a:lnL w="4286">
                      <a:noFill/>
                    </a:lnL>
                    <a:lnR w="4286">
                      <a:solidFill>
                        <a:srgbClr val="9A9A9A"/>
                      </a:solid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24.0%</a:t>
                      </a:r>
                      <a:endParaRPr sz="525"/>
                    </a:p>
                  </a:txBody>
                  <a:tcPr marL="0" marR="19050" marT="0" marB="0" anchor="ctr">
                    <a:lnL w="4286">
                      <a:solidFill>
                        <a:srgbClr val="9A9A9A"/>
                      </a:solid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24.5%</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25.1%</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25.6%</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26.1%</a:t>
                      </a:r>
                      <a:endParaRPr sz="525"/>
                    </a:p>
                  </a:txBody>
                  <a:tcPr marL="0" marR="19050" marT="0" marB="0" anchor="ctr">
                    <a:lnL w="4286">
                      <a:noFill/>
                    </a:lnL>
                    <a:lnR w="4286">
                      <a:noFill/>
                    </a:lnR>
                    <a:lnT w="4286">
                      <a:noFill/>
                    </a:lnT>
                    <a:lnB w="4286">
                      <a:noFill/>
                    </a:lnB>
                    <a:solidFill>
                      <a:srgbClr val="FFFFFF"/>
                    </a:solidFill>
                  </a:tcPr>
                </a:tc>
                <a:extLst>
                  <a:ext uri="{0D108BD9-81ED-4DB2-BD59-A6C34878D82A}">
                    <a16:rowId xmlns:a16="http://schemas.microsoft.com/office/drawing/2014/main" val="10014"/>
                  </a:ext>
                </a:extLst>
              </a:tr>
              <a:tr h="40481">
                <a:tc>
                  <a:txBody>
                    <a:bodyPr/>
                    <a:lstStyle/>
                    <a:p>
                      <a:pPr marL="0" indent="0" algn="l">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solidFill>
                        <a:srgbClr val="9A9A9A"/>
                      </a:solid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solidFill>
                        <a:srgbClr val="9A9A9A"/>
                      </a:solid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extLst>
                  <a:ext uri="{0D108BD9-81ED-4DB2-BD59-A6C34878D82A}">
                    <a16:rowId xmlns:a16="http://schemas.microsoft.com/office/drawing/2014/main" val="10015"/>
                  </a:ext>
                </a:extLst>
              </a:tr>
              <a:tr h="103346">
                <a:tc>
                  <a:txBody>
                    <a:bodyPr/>
                    <a:lstStyle/>
                    <a:p>
                      <a:pPr marL="0" indent="0" algn="l">
                        <a:spcBef>
                          <a:spcPts val="0"/>
                        </a:spcBef>
                        <a:spcAft>
                          <a:spcPts val="0"/>
                        </a:spcAft>
                      </a:pPr>
                      <a:r>
                        <a:rPr sz="551" b="0" i="0">
                          <a:solidFill>
                            <a:srgbClr val="222222"/>
                          </a:solidFill>
                          <a:latin typeface="Arial"/>
                          <a:ea typeface="Arial"/>
                          <a:cs typeface="Arial"/>
                        </a:rPr>
                        <a:t>Less: Interest expense</a:t>
                      </a:r>
                      <a:endParaRPr sz="551"/>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(2.5)</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(2.5)</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(2.5)</a:t>
                      </a:r>
                      <a:endParaRPr sz="544"/>
                    </a:p>
                  </a:txBody>
                  <a:tcPr marL="0" marR="19050" marT="0" marB="0" anchor="ctr">
                    <a:lnL w="4286">
                      <a:noFill/>
                    </a:lnL>
                    <a:lnR w="4286">
                      <a:solidFill>
                        <a:srgbClr val="9A9A9A"/>
                      </a:solid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(66.4)</a:t>
                      </a:r>
                      <a:endParaRPr sz="544"/>
                    </a:p>
                  </a:txBody>
                  <a:tcPr marL="0" marR="19050" marT="0" marB="0" anchor="ctr">
                    <a:lnL w="4286">
                      <a:solidFill>
                        <a:srgbClr val="9A9A9A"/>
                      </a:solid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(66.2)</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(66.0)</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(66.0)</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(66.1)</a:t>
                      </a:r>
                      <a:endParaRPr sz="544"/>
                    </a:p>
                  </a:txBody>
                  <a:tcPr marL="0" marR="19050" marT="0" marB="0" anchor="ctr">
                    <a:lnL w="4286">
                      <a:noFill/>
                    </a:lnL>
                    <a:lnR w="4286">
                      <a:noFill/>
                    </a:lnR>
                    <a:lnT w="4286">
                      <a:noFill/>
                    </a:lnT>
                    <a:lnB w="4286">
                      <a:solidFill>
                        <a:srgbClr val="555555"/>
                      </a:solidFill>
                    </a:lnB>
                    <a:solidFill>
                      <a:srgbClr val="FFFFFF"/>
                    </a:solidFill>
                  </a:tcPr>
                </a:tc>
                <a:extLst>
                  <a:ext uri="{0D108BD9-81ED-4DB2-BD59-A6C34878D82A}">
                    <a16:rowId xmlns:a16="http://schemas.microsoft.com/office/drawing/2014/main" val="10016"/>
                  </a:ext>
                </a:extLst>
              </a:tr>
              <a:tr h="103346">
                <a:tc>
                  <a:txBody>
                    <a:bodyPr/>
                    <a:lstStyle/>
                    <a:p>
                      <a:pPr marL="0" indent="0" algn="l">
                        <a:spcBef>
                          <a:spcPts val="0"/>
                        </a:spcBef>
                        <a:spcAft>
                          <a:spcPts val="0"/>
                        </a:spcAft>
                      </a:pPr>
                      <a:r>
                        <a:rPr sz="551" b="1" i="0">
                          <a:solidFill>
                            <a:srgbClr val="222222"/>
                          </a:solidFill>
                          <a:latin typeface="Arial"/>
                          <a:ea typeface="Arial"/>
                          <a:cs typeface="Arial"/>
                        </a:rPr>
                        <a:t>Pre-Tax Income</a:t>
                      </a:r>
                      <a:endParaRPr sz="551"/>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106.6</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104.5</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104.5</a:t>
                      </a:r>
                      <a:endParaRPr sz="544"/>
                    </a:p>
                  </a:txBody>
                  <a:tcPr marL="0" marR="19050" marT="0" marB="0" anchor="ctr">
                    <a:lnL w="4286">
                      <a:noFill/>
                    </a:lnL>
                    <a:lnR w="4286">
                      <a:solidFill>
                        <a:srgbClr val="9A9A9A"/>
                      </a:solid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33.8</a:t>
                      </a:r>
                      <a:endParaRPr sz="544"/>
                    </a:p>
                  </a:txBody>
                  <a:tcPr marL="0" marR="19050" marT="0" marB="0" anchor="ctr">
                    <a:lnL w="4286">
                      <a:solidFill>
                        <a:srgbClr val="9A9A9A"/>
                      </a:solid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40.9</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48.4</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56.1</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64.2</a:t>
                      </a:r>
                      <a:endParaRPr sz="544"/>
                    </a:p>
                  </a:txBody>
                  <a:tcPr marL="0" marR="19050" marT="0" marB="0" anchor="ctr">
                    <a:lnL w="4286">
                      <a:noFill/>
                    </a:lnL>
                    <a:lnR w="4286">
                      <a:noFill/>
                    </a:lnR>
                    <a:lnT w="4286">
                      <a:solidFill>
                        <a:srgbClr val="555555"/>
                      </a:solidFill>
                    </a:lnT>
                    <a:lnB w="4286">
                      <a:noFill/>
                    </a:lnB>
                    <a:solidFill>
                      <a:srgbClr val="FFFFFF"/>
                    </a:solidFill>
                  </a:tcPr>
                </a:tc>
                <a:extLst>
                  <a:ext uri="{0D108BD9-81ED-4DB2-BD59-A6C34878D82A}">
                    <a16:rowId xmlns:a16="http://schemas.microsoft.com/office/drawing/2014/main" val="10017"/>
                  </a:ext>
                </a:extLst>
              </a:tr>
              <a:tr h="103346">
                <a:tc>
                  <a:txBody>
                    <a:bodyPr/>
                    <a:lstStyle/>
                    <a:p>
                      <a:pPr marL="0" indent="0" algn="l">
                        <a:spcBef>
                          <a:spcPts val="0"/>
                        </a:spcBef>
                        <a:spcAft>
                          <a:spcPts val="0"/>
                        </a:spcAft>
                      </a:pPr>
                      <a:r>
                        <a:rPr sz="551" b="0" i="0">
                          <a:solidFill>
                            <a:srgbClr val="222222"/>
                          </a:solidFill>
                          <a:latin typeface="Arial"/>
                          <a:ea typeface="Arial"/>
                          <a:cs typeface="Arial"/>
                        </a:rPr>
                        <a:t>Less: Income taxes</a:t>
                      </a:r>
                      <a:endParaRPr sz="551"/>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(27.7)</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(27.2)</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(27.2)</a:t>
                      </a:r>
                      <a:endParaRPr sz="544"/>
                    </a:p>
                  </a:txBody>
                  <a:tcPr marL="0" marR="19050" marT="0" marB="0" anchor="ctr">
                    <a:lnL w="4286">
                      <a:noFill/>
                    </a:lnL>
                    <a:lnR w="4286">
                      <a:solidFill>
                        <a:srgbClr val="9A9A9A"/>
                      </a:solid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(8.4)</a:t>
                      </a:r>
                      <a:endParaRPr sz="544"/>
                    </a:p>
                  </a:txBody>
                  <a:tcPr marL="0" marR="19050" marT="0" marB="0" anchor="ctr">
                    <a:lnL w="4286">
                      <a:solidFill>
                        <a:srgbClr val="9A9A9A"/>
                      </a:solid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(10.2)</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(12.1)</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(14.0)</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(16.0)</a:t>
                      </a:r>
                      <a:endParaRPr sz="544"/>
                    </a:p>
                  </a:txBody>
                  <a:tcPr marL="0" marR="19050" marT="0" marB="0" anchor="ctr">
                    <a:lnL w="4286">
                      <a:noFill/>
                    </a:lnL>
                    <a:lnR w="4286">
                      <a:noFill/>
                    </a:lnR>
                    <a:lnT w="4286">
                      <a:noFill/>
                    </a:lnT>
                    <a:lnB w="4286">
                      <a:solidFill>
                        <a:srgbClr val="555555"/>
                      </a:solidFill>
                    </a:lnB>
                    <a:solidFill>
                      <a:srgbClr val="FFFFFF"/>
                    </a:solidFill>
                  </a:tcPr>
                </a:tc>
                <a:extLst>
                  <a:ext uri="{0D108BD9-81ED-4DB2-BD59-A6C34878D82A}">
                    <a16:rowId xmlns:a16="http://schemas.microsoft.com/office/drawing/2014/main" val="10018"/>
                  </a:ext>
                </a:extLst>
              </a:tr>
              <a:tr h="103346">
                <a:tc>
                  <a:txBody>
                    <a:bodyPr/>
                    <a:lstStyle/>
                    <a:p>
                      <a:pPr marL="0" indent="0" algn="l">
                        <a:spcBef>
                          <a:spcPts val="0"/>
                        </a:spcBef>
                        <a:spcAft>
                          <a:spcPts val="0"/>
                        </a:spcAft>
                      </a:pPr>
                      <a:r>
                        <a:rPr sz="551" b="1" i="0">
                          <a:solidFill>
                            <a:srgbClr val="222222"/>
                          </a:solidFill>
                          <a:latin typeface="Arial"/>
                          <a:ea typeface="Arial"/>
                          <a:cs typeface="Arial"/>
                        </a:rPr>
                        <a:t>Net Income</a:t>
                      </a:r>
                      <a:endParaRPr sz="551"/>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dirty="0">
                          <a:solidFill>
                            <a:srgbClr val="222222"/>
                          </a:solidFill>
                          <a:latin typeface="Arial"/>
                          <a:ea typeface="Arial"/>
                          <a:cs typeface="Arial"/>
                        </a:rPr>
                        <a:t>78.9</a:t>
                      </a:r>
                      <a:endParaRPr sz="544" dirty="0"/>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77.3</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77.3</a:t>
                      </a:r>
                      <a:endParaRPr sz="544"/>
                    </a:p>
                  </a:txBody>
                  <a:tcPr marL="0" marR="19050" marT="0" marB="0" anchor="ctr">
                    <a:lnL w="4286">
                      <a:noFill/>
                    </a:lnL>
                    <a:lnR w="4286">
                      <a:solidFill>
                        <a:srgbClr val="9A9A9A"/>
                      </a:solid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25.3</a:t>
                      </a:r>
                      <a:endParaRPr sz="544"/>
                    </a:p>
                  </a:txBody>
                  <a:tcPr marL="0" marR="19050" marT="0" marB="0" anchor="ctr">
                    <a:lnL w="4286">
                      <a:solidFill>
                        <a:srgbClr val="9A9A9A"/>
                      </a:solid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30.7</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36.3</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42.1</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48.1</a:t>
                      </a:r>
                      <a:endParaRPr sz="544"/>
                    </a:p>
                  </a:txBody>
                  <a:tcPr marL="0" marR="19050" marT="0" marB="0" anchor="ctr">
                    <a:lnL w="4286">
                      <a:noFill/>
                    </a:lnL>
                    <a:lnR w="4286">
                      <a:noFill/>
                    </a:lnR>
                    <a:lnT w="4286">
                      <a:solidFill>
                        <a:srgbClr val="555555"/>
                      </a:solidFill>
                    </a:lnT>
                    <a:lnB w="4286">
                      <a:noFill/>
                    </a:lnB>
                    <a:solidFill>
                      <a:srgbClr val="FFFFFF"/>
                    </a:solidFill>
                  </a:tcPr>
                </a:tc>
                <a:extLst>
                  <a:ext uri="{0D108BD9-81ED-4DB2-BD59-A6C34878D82A}">
                    <a16:rowId xmlns:a16="http://schemas.microsoft.com/office/drawing/2014/main" val="10019"/>
                  </a:ext>
                </a:extLst>
              </a:tr>
              <a:tr h="103346">
                <a:tc>
                  <a:txBody>
                    <a:bodyPr/>
                    <a:lstStyle/>
                    <a:p>
                      <a:pPr marL="0" indent="0" algn="l">
                        <a:spcBef>
                          <a:spcPts val="0"/>
                        </a:spcBef>
                        <a:spcAft>
                          <a:spcPts val="0"/>
                        </a:spcAft>
                      </a:pPr>
                      <a:r>
                        <a:rPr sz="525" b="0" i="1">
                          <a:solidFill>
                            <a:srgbClr val="555555"/>
                          </a:solidFill>
                          <a:latin typeface="Arial"/>
                          <a:ea typeface="Arial"/>
                          <a:cs typeface="Arial"/>
                        </a:rPr>
                        <a:t>Net income margin</a:t>
                      </a:r>
                      <a:endParaRPr sz="525"/>
                    </a:p>
                  </a:txBody>
                  <a:tcPr marL="3810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21.4%</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20.1%</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19.3%</a:t>
                      </a:r>
                      <a:endParaRPr sz="525"/>
                    </a:p>
                  </a:txBody>
                  <a:tcPr marL="0" marR="19050" marT="0" marB="0" anchor="ctr">
                    <a:lnL w="4286">
                      <a:noFill/>
                    </a:lnL>
                    <a:lnR w="4286">
                      <a:solidFill>
                        <a:srgbClr val="9A9A9A"/>
                      </a:solid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6.1%</a:t>
                      </a:r>
                      <a:endParaRPr sz="525"/>
                    </a:p>
                  </a:txBody>
                  <a:tcPr marL="0" marR="19050" marT="0" marB="0" anchor="ctr">
                    <a:lnL w="4286">
                      <a:solidFill>
                        <a:srgbClr val="9A9A9A"/>
                      </a:solid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7.0%</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8.0%</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8.8%</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9.7%</a:t>
                      </a:r>
                      <a:endParaRPr sz="525"/>
                    </a:p>
                  </a:txBody>
                  <a:tcPr marL="0" marR="19050" marT="0" marB="0" anchor="ctr">
                    <a:lnL w="4286">
                      <a:noFill/>
                    </a:lnL>
                    <a:lnR w="4286">
                      <a:noFill/>
                    </a:lnR>
                    <a:lnT w="4286">
                      <a:noFill/>
                    </a:lnT>
                    <a:lnB w="4286">
                      <a:noFill/>
                    </a:lnB>
                    <a:solidFill>
                      <a:srgbClr val="FFFFFF"/>
                    </a:solidFill>
                  </a:tcPr>
                </a:tc>
                <a:extLst>
                  <a:ext uri="{0D108BD9-81ED-4DB2-BD59-A6C34878D82A}">
                    <a16:rowId xmlns:a16="http://schemas.microsoft.com/office/drawing/2014/main" val="10020"/>
                  </a:ext>
                </a:extLst>
              </a:tr>
              <a:tr h="40481">
                <a:tc>
                  <a:txBody>
                    <a:bodyPr/>
                    <a:lstStyle/>
                    <a:p>
                      <a:pPr marL="0" indent="0" algn="l">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solidFill>
                        <a:srgbClr val="9A9A9A"/>
                      </a:solid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solidFill>
                        <a:srgbClr val="9A9A9A"/>
                      </a:solid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noFill/>
                    </a:lnB>
                    <a:solidFill>
                      <a:srgbClr val="FFFFFF"/>
                    </a:solidFill>
                  </a:tcPr>
                </a:tc>
                <a:extLst>
                  <a:ext uri="{0D108BD9-81ED-4DB2-BD59-A6C34878D82A}">
                    <a16:rowId xmlns:a16="http://schemas.microsoft.com/office/drawing/2014/main" val="10021"/>
                  </a:ext>
                </a:extLst>
              </a:tr>
              <a:tr h="103346">
                <a:tc>
                  <a:txBody>
                    <a:bodyPr/>
                    <a:lstStyle/>
                    <a:p>
                      <a:pPr marL="0" indent="0" algn="l">
                        <a:spcBef>
                          <a:spcPts val="0"/>
                        </a:spcBef>
                        <a:spcAft>
                          <a:spcPts val="0"/>
                        </a:spcAft>
                      </a:pPr>
                      <a:r>
                        <a:rPr sz="551" b="0" i="0">
                          <a:solidFill>
                            <a:srgbClr val="222222"/>
                          </a:solidFill>
                          <a:latin typeface="Arial"/>
                          <a:ea typeface="Arial"/>
                          <a:cs typeface="Arial"/>
                        </a:rPr>
                        <a:t>Plus: Interest expense</a:t>
                      </a:r>
                      <a:endParaRPr sz="551"/>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2.5</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2.5</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2.5</a:t>
                      </a:r>
                      <a:endParaRPr sz="544"/>
                    </a:p>
                  </a:txBody>
                  <a:tcPr marL="0" marR="19050" marT="0" marB="0" anchor="ctr">
                    <a:lnL w="4286">
                      <a:noFill/>
                    </a:lnL>
                    <a:lnR w="4286">
                      <a:solidFill>
                        <a:srgbClr val="9A9A9A"/>
                      </a:solid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66.4</a:t>
                      </a:r>
                      <a:endParaRPr sz="544"/>
                    </a:p>
                  </a:txBody>
                  <a:tcPr marL="0" marR="19050" marT="0" marB="0" anchor="ctr">
                    <a:lnL w="4286">
                      <a:solidFill>
                        <a:srgbClr val="9A9A9A"/>
                      </a:solid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66.2</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66.0</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66.0</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66.1</a:t>
                      </a:r>
                      <a:endParaRPr sz="544"/>
                    </a:p>
                  </a:txBody>
                  <a:tcPr marL="0" marR="19050" marT="0" marB="0" anchor="ctr">
                    <a:lnL w="4286">
                      <a:noFill/>
                    </a:lnL>
                    <a:lnR w="4286">
                      <a:noFill/>
                    </a:lnR>
                    <a:lnT w="4286">
                      <a:noFill/>
                    </a:lnT>
                    <a:lnB w="4286">
                      <a:noFill/>
                    </a:lnB>
                    <a:solidFill>
                      <a:srgbClr val="FFFFFF"/>
                    </a:solidFill>
                  </a:tcPr>
                </a:tc>
                <a:extLst>
                  <a:ext uri="{0D108BD9-81ED-4DB2-BD59-A6C34878D82A}">
                    <a16:rowId xmlns:a16="http://schemas.microsoft.com/office/drawing/2014/main" val="10022"/>
                  </a:ext>
                </a:extLst>
              </a:tr>
              <a:tr h="103346">
                <a:tc>
                  <a:txBody>
                    <a:bodyPr/>
                    <a:lstStyle/>
                    <a:p>
                      <a:pPr marL="0" indent="0" algn="l">
                        <a:spcBef>
                          <a:spcPts val="0"/>
                        </a:spcBef>
                        <a:spcAft>
                          <a:spcPts val="0"/>
                        </a:spcAft>
                      </a:pPr>
                      <a:r>
                        <a:rPr sz="551" b="0" i="0">
                          <a:solidFill>
                            <a:srgbClr val="222222"/>
                          </a:solidFill>
                          <a:latin typeface="Arial"/>
                          <a:ea typeface="Arial"/>
                          <a:cs typeface="Arial"/>
                        </a:rPr>
                        <a:t>Plus: Income taxes</a:t>
                      </a:r>
                      <a:endParaRPr sz="551"/>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27.7</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27.2</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27.2</a:t>
                      </a:r>
                      <a:endParaRPr sz="544"/>
                    </a:p>
                  </a:txBody>
                  <a:tcPr marL="0" marR="19050" marT="0" marB="0" anchor="ctr">
                    <a:lnL w="4286">
                      <a:noFill/>
                    </a:lnL>
                    <a:lnR w="4286">
                      <a:solidFill>
                        <a:srgbClr val="9A9A9A"/>
                      </a:solid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8.4</a:t>
                      </a:r>
                      <a:endParaRPr sz="544"/>
                    </a:p>
                  </a:txBody>
                  <a:tcPr marL="0" marR="19050" marT="0" marB="0" anchor="ctr">
                    <a:lnL w="4286">
                      <a:solidFill>
                        <a:srgbClr val="9A9A9A"/>
                      </a:solid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10.2</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12.1</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14.0</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16.0</a:t>
                      </a:r>
                      <a:endParaRPr sz="544"/>
                    </a:p>
                  </a:txBody>
                  <a:tcPr marL="0" marR="19050" marT="0" marB="0" anchor="ctr">
                    <a:lnL w="4286">
                      <a:noFill/>
                    </a:lnL>
                    <a:lnR w="4286">
                      <a:noFill/>
                    </a:lnR>
                    <a:lnT w="4286">
                      <a:noFill/>
                    </a:lnT>
                    <a:lnB w="4286">
                      <a:noFill/>
                    </a:lnB>
                    <a:solidFill>
                      <a:srgbClr val="FFFFFF"/>
                    </a:solidFill>
                  </a:tcPr>
                </a:tc>
                <a:extLst>
                  <a:ext uri="{0D108BD9-81ED-4DB2-BD59-A6C34878D82A}">
                    <a16:rowId xmlns:a16="http://schemas.microsoft.com/office/drawing/2014/main" val="10023"/>
                  </a:ext>
                </a:extLst>
              </a:tr>
              <a:tr h="103346">
                <a:tc>
                  <a:txBody>
                    <a:bodyPr/>
                    <a:lstStyle/>
                    <a:p>
                      <a:pPr marL="0" indent="0" algn="l">
                        <a:spcBef>
                          <a:spcPts val="0"/>
                        </a:spcBef>
                        <a:spcAft>
                          <a:spcPts val="0"/>
                        </a:spcAft>
                      </a:pPr>
                      <a:r>
                        <a:rPr sz="551" b="0" i="0">
                          <a:solidFill>
                            <a:srgbClr val="222222"/>
                          </a:solidFill>
                          <a:latin typeface="Arial"/>
                          <a:ea typeface="Arial"/>
                          <a:cs typeface="Arial"/>
                        </a:rPr>
                        <a:t>Plus: Depreciation</a:t>
                      </a:r>
                      <a:endParaRPr sz="551"/>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9.2</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9.6</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10.0</a:t>
                      </a:r>
                      <a:endParaRPr sz="544"/>
                    </a:p>
                  </a:txBody>
                  <a:tcPr marL="0" marR="19050" marT="0" marB="0" anchor="ctr">
                    <a:lnL w="4286">
                      <a:noFill/>
                    </a:lnL>
                    <a:lnR w="4286">
                      <a:solidFill>
                        <a:srgbClr val="9A9A9A"/>
                      </a:solid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10.5</a:t>
                      </a:r>
                      <a:endParaRPr sz="544"/>
                    </a:p>
                  </a:txBody>
                  <a:tcPr marL="0" marR="19050" marT="0" marB="0" anchor="ctr">
                    <a:lnL w="4286">
                      <a:solidFill>
                        <a:srgbClr val="9A9A9A"/>
                      </a:solid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17.5</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18.3</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19.1</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19.9</a:t>
                      </a:r>
                      <a:endParaRPr sz="544"/>
                    </a:p>
                  </a:txBody>
                  <a:tcPr marL="0" marR="19050" marT="0" marB="0" anchor="ctr">
                    <a:lnL w="4286">
                      <a:noFill/>
                    </a:lnL>
                    <a:lnR w="4286">
                      <a:noFill/>
                    </a:lnR>
                    <a:lnT w="4286">
                      <a:noFill/>
                    </a:lnT>
                    <a:lnB w="4286">
                      <a:noFill/>
                    </a:lnB>
                    <a:solidFill>
                      <a:srgbClr val="FFFFFF"/>
                    </a:solidFill>
                  </a:tcPr>
                </a:tc>
                <a:extLst>
                  <a:ext uri="{0D108BD9-81ED-4DB2-BD59-A6C34878D82A}">
                    <a16:rowId xmlns:a16="http://schemas.microsoft.com/office/drawing/2014/main" val="10024"/>
                  </a:ext>
                </a:extLst>
              </a:tr>
              <a:tr h="103346">
                <a:tc>
                  <a:txBody>
                    <a:bodyPr/>
                    <a:lstStyle/>
                    <a:p>
                      <a:pPr marL="0" indent="0" algn="l">
                        <a:spcBef>
                          <a:spcPts val="0"/>
                        </a:spcBef>
                        <a:spcAft>
                          <a:spcPts val="0"/>
                        </a:spcAft>
                      </a:pPr>
                      <a:r>
                        <a:rPr sz="551" b="0" i="0">
                          <a:solidFill>
                            <a:srgbClr val="222222"/>
                          </a:solidFill>
                          <a:latin typeface="Arial"/>
                          <a:ea typeface="Arial"/>
                          <a:cs typeface="Arial"/>
                        </a:rPr>
                        <a:t>Plus: Amortization</a:t>
                      </a:r>
                      <a:endParaRPr sz="551"/>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2.8</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2.9</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3.0</a:t>
                      </a:r>
                      <a:endParaRPr sz="544"/>
                    </a:p>
                  </a:txBody>
                  <a:tcPr marL="0" marR="19050" marT="0" marB="0" anchor="ctr">
                    <a:lnL w="4286">
                      <a:noFill/>
                    </a:lnL>
                    <a:lnR w="4286">
                      <a:solidFill>
                        <a:srgbClr val="9A9A9A"/>
                      </a:solid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3.1</a:t>
                      </a:r>
                      <a:endParaRPr sz="544"/>
                    </a:p>
                  </a:txBody>
                  <a:tcPr marL="0" marR="19050" marT="0" marB="0" anchor="ctr">
                    <a:lnL w="4286">
                      <a:solidFill>
                        <a:srgbClr val="9A9A9A"/>
                      </a:solid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4.4</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4.6</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4.8</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5.0</a:t>
                      </a:r>
                      <a:endParaRPr sz="544"/>
                    </a:p>
                  </a:txBody>
                  <a:tcPr marL="0" marR="19050" marT="0" marB="0" anchor="ctr">
                    <a:lnL w="4286">
                      <a:noFill/>
                    </a:lnL>
                    <a:lnR w="4286">
                      <a:noFill/>
                    </a:lnR>
                    <a:lnT w="4286">
                      <a:noFill/>
                    </a:lnT>
                    <a:lnB w="4286">
                      <a:noFill/>
                    </a:lnB>
                    <a:solidFill>
                      <a:srgbClr val="FFFFFF"/>
                    </a:solidFill>
                  </a:tcPr>
                </a:tc>
                <a:extLst>
                  <a:ext uri="{0D108BD9-81ED-4DB2-BD59-A6C34878D82A}">
                    <a16:rowId xmlns:a16="http://schemas.microsoft.com/office/drawing/2014/main" val="10025"/>
                  </a:ext>
                </a:extLst>
              </a:tr>
              <a:tr h="103346">
                <a:tc>
                  <a:txBody>
                    <a:bodyPr/>
                    <a:lstStyle/>
                    <a:p>
                      <a:pPr marL="0" indent="0" algn="l">
                        <a:spcBef>
                          <a:spcPts val="0"/>
                        </a:spcBef>
                        <a:spcAft>
                          <a:spcPts val="0"/>
                        </a:spcAft>
                      </a:pPr>
                      <a:r>
                        <a:rPr sz="551" b="0" i="0">
                          <a:solidFill>
                            <a:srgbClr val="222222"/>
                          </a:solidFill>
                          <a:latin typeface="Arial"/>
                          <a:ea typeface="Arial"/>
                          <a:cs typeface="Arial"/>
                        </a:rPr>
                        <a:t>Plus: OID / fee amortization</a:t>
                      </a:r>
                      <a:endParaRPr sz="551"/>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a:t>
                      </a:r>
                      <a:endParaRPr sz="544"/>
                    </a:p>
                  </a:txBody>
                  <a:tcPr marL="0" marR="19050" marT="0" marB="0" anchor="ctr">
                    <a:lnL w="4286">
                      <a:noFill/>
                    </a:lnL>
                    <a:lnR w="4286">
                      <a:solidFill>
                        <a:srgbClr val="9A9A9A"/>
                      </a:solid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4.3</a:t>
                      </a:r>
                      <a:endParaRPr sz="544"/>
                    </a:p>
                  </a:txBody>
                  <a:tcPr marL="0" marR="19050" marT="0" marB="0" anchor="ctr">
                    <a:lnL w="4286">
                      <a:solidFill>
                        <a:srgbClr val="9A9A9A"/>
                      </a:solid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4.3</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4.3</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4.3</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4.3</a:t>
                      </a:r>
                      <a:endParaRPr sz="544"/>
                    </a:p>
                  </a:txBody>
                  <a:tcPr marL="0" marR="19050" marT="0" marB="0" anchor="ctr">
                    <a:lnL w="4286">
                      <a:noFill/>
                    </a:lnL>
                    <a:lnR w="4286">
                      <a:noFill/>
                    </a:lnR>
                    <a:lnT w="4286">
                      <a:noFill/>
                    </a:lnT>
                    <a:lnB w="4286">
                      <a:solidFill>
                        <a:srgbClr val="555555"/>
                      </a:solidFill>
                    </a:lnB>
                    <a:solidFill>
                      <a:srgbClr val="FFFFFF"/>
                    </a:solidFill>
                  </a:tcPr>
                </a:tc>
                <a:extLst>
                  <a:ext uri="{0D108BD9-81ED-4DB2-BD59-A6C34878D82A}">
                    <a16:rowId xmlns:a16="http://schemas.microsoft.com/office/drawing/2014/main" val="10026"/>
                  </a:ext>
                </a:extLst>
              </a:tr>
              <a:tr h="103346">
                <a:tc>
                  <a:txBody>
                    <a:bodyPr/>
                    <a:lstStyle/>
                    <a:p>
                      <a:pPr marL="0" indent="0" algn="l">
                        <a:spcBef>
                          <a:spcPts val="0"/>
                        </a:spcBef>
                        <a:spcAft>
                          <a:spcPts val="0"/>
                        </a:spcAft>
                      </a:pPr>
                      <a:r>
                        <a:rPr sz="551" b="1" i="0">
                          <a:solidFill>
                            <a:srgbClr val="222222"/>
                          </a:solidFill>
                          <a:latin typeface="Arial"/>
                          <a:ea typeface="Arial"/>
                          <a:cs typeface="Arial"/>
                        </a:rPr>
                        <a:t>EBITDA</a:t>
                      </a:r>
                      <a:endParaRPr sz="551"/>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121.0</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119.5</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120.0</a:t>
                      </a:r>
                      <a:endParaRPr sz="544"/>
                    </a:p>
                  </a:txBody>
                  <a:tcPr marL="0" marR="19050" marT="0" marB="0" anchor="ctr">
                    <a:lnL w="4286">
                      <a:noFill/>
                    </a:lnL>
                    <a:lnR w="4286">
                      <a:solidFill>
                        <a:srgbClr val="9A9A9A"/>
                      </a:solid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118.1</a:t>
                      </a:r>
                      <a:endParaRPr sz="544"/>
                    </a:p>
                  </a:txBody>
                  <a:tcPr marL="0" marR="19050" marT="0" marB="0" anchor="ctr">
                    <a:lnL w="4286">
                      <a:solidFill>
                        <a:srgbClr val="9A9A9A"/>
                      </a:solid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133.2</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141.5</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150.3</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159.5</a:t>
                      </a:r>
                      <a:endParaRPr sz="544"/>
                    </a:p>
                  </a:txBody>
                  <a:tcPr marL="0" marR="19050" marT="0" marB="0" anchor="ctr">
                    <a:lnL w="4286">
                      <a:noFill/>
                    </a:lnL>
                    <a:lnR w="4286">
                      <a:noFill/>
                    </a:lnR>
                    <a:lnT w="4286">
                      <a:solidFill>
                        <a:srgbClr val="555555"/>
                      </a:solidFill>
                    </a:lnT>
                    <a:lnB w="4286">
                      <a:noFill/>
                    </a:lnB>
                    <a:solidFill>
                      <a:srgbClr val="FFFFFF"/>
                    </a:solidFill>
                  </a:tcPr>
                </a:tc>
                <a:extLst>
                  <a:ext uri="{0D108BD9-81ED-4DB2-BD59-A6C34878D82A}">
                    <a16:rowId xmlns:a16="http://schemas.microsoft.com/office/drawing/2014/main" val="10027"/>
                  </a:ext>
                </a:extLst>
              </a:tr>
              <a:tr h="103346">
                <a:tc>
                  <a:txBody>
                    <a:bodyPr/>
                    <a:lstStyle/>
                    <a:p>
                      <a:pPr marL="0" indent="0" algn="l">
                        <a:spcBef>
                          <a:spcPts val="0"/>
                        </a:spcBef>
                        <a:spcAft>
                          <a:spcPts val="0"/>
                        </a:spcAft>
                      </a:pPr>
                      <a:r>
                        <a:rPr sz="525" b="0" i="1">
                          <a:solidFill>
                            <a:srgbClr val="555555"/>
                          </a:solidFill>
                          <a:latin typeface="Arial"/>
                          <a:ea typeface="Arial"/>
                          <a:cs typeface="Arial"/>
                        </a:rPr>
                        <a:t>EBITDA margin</a:t>
                      </a:r>
                      <a:endParaRPr sz="525"/>
                    </a:p>
                  </a:txBody>
                  <a:tcPr marL="3810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32.9%</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31.0%</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30.0%</a:t>
                      </a:r>
                      <a:endParaRPr sz="525"/>
                    </a:p>
                  </a:txBody>
                  <a:tcPr marL="0" marR="19050" marT="0" marB="0" anchor="ctr">
                    <a:lnL w="4286">
                      <a:noFill/>
                    </a:lnL>
                    <a:lnR w="4286">
                      <a:solidFill>
                        <a:srgbClr val="9A9A9A"/>
                      </a:solid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28.3%</a:t>
                      </a:r>
                      <a:endParaRPr sz="525"/>
                    </a:p>
                  </a:txBody>
                  <a:tcPr marL="0" marR="19050" marT="0" marB="0" anchor="ctr">
                    <a:lnL w="4286">
                      <a:solidFill>
                        <a:srgbClr val="9A9A9A"/>
                      </a:solid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30.5%</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31.0%</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31.5%</a:t>
                      </a:r>
                      <a:endParaRPr sz="525"/>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32.0%</a:t>
                      </a:r>
                      <a:endParaRPr sz="525"/>
                    </a:p>
                  </a:txBody>
                  <a:tcPr marL="0" marR="19050" marT="0" marB="0" anchor="ctr">
                    <a:lnL w="4286">
                      <a:noFill/>
                    </a:lnL>
                    <a:lnR w="4286">
                      <a:noFill/>
                    </a:lnR>
                    <a:lnT w="4286">
                      <a:noFill/>
                    </a:lnT>
                    <a:lnB w="4286">
                      <a:noFill/>
                    </a:lnB>
                    <a:solidFill>
                      <a:srgbClr val="FFFFFF"/>
                    </a:solidFill>
                  </a:tcPr>
                </a:tc>
                <a:extLst>
                  <a:ext uri="{0D108BD9-81ED-4DB2-BD59-A6C34878D82A}">
                    <a16:rowId xmlns:a16="http://schemas.microsoft.com/office/drawing/2014/main" val="10028"/>
                  </a:ext>
                </a:extLst>
              </a:tr>
              <a:tr h="40481">
                <a:tc>
                  <a:txBody>
                    <a:bodyPr/>
                    <a:lstStyle/>
                    <a:p>
                      <a:pPr marL="0" indent="0" algn="l">
                        <a:spcBef>
                          <a:spcPts val="0"/>
                        </a:spcBef>
                        <a:spcAft>
                          <a:spcPts val="0"/>
                        </a:spcAft>
                      </a:pPr>
                      <a:endParaRPr sz="100"/>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solidFill>
                        <a:srgbClr val="9A9A9A"/>
                      </a:solidFill>
                    </a:lnR>
                    <a:lnT w="4286">
                      <a:noFill/>
                    </a:lnT>
                    <a:lnB w="4286">
                      <a:solidFill>
                        <a:srgbClr val="555555"/>
                      </a:solidFill>
                    </a:lnB>
                    <a:solidFill>
                      <a:srgbClr val="FFFFFF"/>
                    </a:solidFill>
                  </a:tcPr>
                </a:tc>
                <a:tc>
                  <a:txBody>
                    <a:bodyPr/>
                    <a:lstStyle/>
                    <a:p>
                      <a:pPr marL="0" indent="0" algn="r">
                        <a:spcBef>
                          <a:spcPts val="0"/>
                        </a:spcBef>
                        <a:spcAft>
                          <a:spcPts val="0"/>
                        </a:spcAft>
                      </a:pPr>
                      <a:endParaRPr sz="100"/>
                    </a:p>
                  </a:txBody>
                  <a:tcPr marL="0" marR="19050" marT="0" marB="0" anchor="ctr">
                    <a:lnL w="4286">
                      <a:solidFill>
                        <a:srgbClr val="9A9A9A"/>
                      </a:solid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endParaRPr sz="100"/>
                    </a:p>
                  </a:txBody>
                  <a:tcPr marL="0" marR="19050" marT="0" marB="0" anchor="ctr">
                    <a:lnL w="4286">
                      <a:noFill/>
                    </a:lnL>
                    <a:lnR w="4286">
                      <a:noFill/>
                    </a:lnR>
                    <a:lnT w="4286">
                      <a:noFill/>
                    </a:lnT>
                    <a:lnB w="4286">
                      <a:solidFill>
                        <a:srgbClr val="555555"/>
                      </a:solidFill>
                    </a:lnB>
                    <a:solidFill>
                      <a:srgbClr val="FFFFFF"/>
                    </a:solidFill>
                  </a:tcPr>
                </a:tc>
                <a:extLst>
                  <a:ext uri="{0D108BD9-81ED-4DB2-BD59-A6C34878D82A}">
                    <a16:rowId xmlns:a16="http://schemas.microsoft.com/office/drawing/2014/main" val="10029"/>
                  </a:ext>
                </a:extLst>
              </a:tr>
              <a:tr h="103346">
                <a:tc>
                  <a:txBody>
                    <a:bodyPr/>
                    <a:lstStyle/>
                    <a:p>
                      <a:pPr marL="0" indent="0" algn="l">
                        <a:spcBef>
                          <a:spcPts val="0"/>
                        </a:spcBef>
                        <a:spcAft>
                          <a:spcPts val="0"/>
                        </a:spcAft>
                      </a:pPr>
                      <a:r>
                        <a:rPr sz="551" b="1" i="0">
                          <a:solidFill>
                            <a:srgbClr val="222222"/>
                          </a:solidFill>
                          <a:latin typeface="Arial"/>
                          <a:ea typeface="Arial"/>
                          <a:cs typeface="Arial"/>
                        </a:rPr>
                        <a:t>Cash Flow</a:t>
                      </a:r>
                      <a:endParaRPr sz="551"/>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endParaRPr sz="544"/>
                    </a:p>
                  </a:txBody>
                  <a:tcPr marL="0" marR="19050" marT="0" marB="0" anchor="ctr">
                    <a:lnL w="4286">
                      <a:noFill/>
                    </a:lnL>
                    <a:lnR w="4286">
                      <a:solidFill>
                        <a:srgbClr val="9A9A9A"/>
                      </a:solidFill>
                    </a:lnR>
                    <a:lnT w="4286">
                      <a:solidFill>
                        <a:srgbClr val="555555"/>
                      </a:solidFill>
                    </a:lnT>
                    <a:lnB w="4286">
                      <a:noFill/>
                    </a:lnB>
                    <a:solidFill>
                      <a:srgbClr val="FFFFFF"/>
                    </a:solidFill>
                  </a:tcPr>
                </a:tc>
                <a:tc>
                  <a:txBody>
                    <a:bodyPr/>
                    <a:lstStyle/>
                    <a:p>
                      <a:pPr marL="0" indent="0" algn="r">
                        <a:spcBef>
                          <a:spcPts val="0"/>
                        </a:spcBef>
                        <a:spcAft>
                          <a:spcPts val="0"/>
                        </a:spcAft>
                      </a:pPr>
                      <a:endParaRPr sz="544"/>
                    </a:p>
                  </a:txBody>
                  <a:tcPr marL="0" marR="19050" marT="0" marB="0" anchor="ctr">
                    <a:lnL w="4286">
                      <a:solidFill>
                        <a:srgbClr val="9A9A9A"/>
                      </a:solid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endParaRPr sz="544"/>
                    </a:p>
                  </a:txBody>
                  <a:tcPr marL="0" marR="19050" marT="0" marB="0" anchor="ctr">
                    <a:lnL w="4286">
                      <a:noFill/>
                    </a:lnL>
                    <a:lnR w="4286">
                      <a:noFill/>
                    </a:lnR>
                    <a:lnT w="4286">
                      <a:solidFill>
                        <a:srgbClr val="555555"/>
                      </a:solidFill>
                    </a:lnT>
                    <a:lnB w="4286">
                      <a:noFill/>
                    </a:lnB>
                    <a:solidFill>
                      <a:srgbClr val="FFFFFF"/>
                    </a:solidFill>
                  </a:tcPr>
                </a:tc>
                <a:extLst>
                  <a:ext uri="{0D108BD9-81ED-4DB2-BD59-A6C34878D82A}">
                    <a16:rowId xmlns:a16="http://schemas.microsoft.com/office/drawing/2014/main" val="10030"/>
                  </a:ext>
                </a:extLst>
              </a:tr>
              <a:tr h="103346">
                <a:tc>
                  <a:txBody>
                    <a:bodyPr/>
                    <a:lstStyle/>
                    <a:p>
                      <a:pPr marL="0" indent="0" algn="l">
                        <a:spcBef>
                          <a:spcPts val="0"/>
                        </a:spcBef>
                        <a:spcAft>
                          <a:spcPts val="0"/>
                        </a:spcAft>
                      </a:pPr>
                      <a:r>
                        <a:rPr sz="551" b="0" i="0">
                          <a:solidFill>
                            <a:srgbClr val="222222"/>
                          </a:solidFill>
                          <a:latin typeface="Arial"/>
                          <a:ea typeface="Arial"/>
                          <a:cs typeface="Arial"/>
                        </a:rPr>
                        <a:t>EBITDA</a:t>
                      </a:r>
                      <a:endParaRPr sz="551"/>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121.0</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119.5</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120.0</a:t>
                      </a:r>
                      <a:endParaRPr sz="544"/>
                    </a:p>
                  </a:txBody>
                  <a:tcPr marL="0" marR="19050" marT="0" marB="0" anchor="ctr">
                    <a:lnL w="4286">
                      <a:noFill/>
                    </a:lnL>
                    <a:lnR w="4286">
                      <a:solidFill>
                        <a:srgbClr val="9A9A9A"/>
                      </a:solid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118.1</a:t>
                      </a:r>
                      <a:endParaRPr sz="544"/>
                    </a:p>
                  </a:txBody>
                  <a:tcPr marL="0" marR="19050" marT="0" marB="0" anchor="ctr">
                    <a:lnL w="4286">
                      <a:solidFill>
                        <a:srgbClr val="9A9A9A"/>
                      </a:solid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133.2</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141.5</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150.3</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159.5</a:t>
                      </a:r>
                      <a:endParaRPr sz="544"/>
                    </a:p>
                  </a:txBody>
                  <a:tcPr marL="0" marR="19050" marT="0" marB="0" anchor="ctr">
                    <a:lnL w="4286">
                      <a:noFill/>
                    </a:lnL>
                    <a:lnR w="4286">
                      <a:noFill/>
                    </a:lnR>
                    <a:lnT w="4286">
                      <a:noFill/>
                    </a:lnT>
                    <a:lnB w="4286">
                      <a:noFill/>
                    </a:lnB>
                    <a:solidFill>
                      <a:srgbClr val="FFFFFF"/>
                    </a:solidFill>
                  </a:tcPr>
                </a:tc>
                <a:extLst>
                  <a:ext uri="{0D108BD9-81ED-4DB2-BD59-A6C34878D82A}">
                    <a16:rowId xmlns:a16="http://schemas.microsoft.com/office/drawing/2014/main" val="10031"/>
                  </a:ext>
                </a:extLst>
              </a:tr>
              <a:tr h="103346">
                <a:tc>
                  <a:txBody>
                    <a:bodyPr/>
                    <a:lstStyle/>
                    <a:p>
                      <a:pPr marL="0" indent="0" algn="l">
                        <a:spcBef>
                          <a:spcPts val="0"/>
                        </a:spcBef>
                        <a:spcAft>
                          <a:spcPts val="0"/>
                        </a:spcAft>
                      </a:pPr>
                      <a:r>
                        <a:rPr sz="551" b="0" i="0">
                          <a:solidFill>
                            <a:srgbClr val="222222"/>
                          </a:solidFill>
                          <a:latin typeface="Arial"/>
                          <a:ea typeface="Arial"/>
                          <a:cs typeface="Arial"/>
                        </a:rPr>
                        <a:t>Less: Cash interest</a:t>
                      </a:r>
                      <a:endParaRPr sz="551"/>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n.a.</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n.a.</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n.a.</a:t>
                      </a:r>
                      <a:endParaRPr sz="544"/>
                    </a:p>
                  </a:txBody>
                  <a:tcPr marL="0" marR="19050" marT="0" marB="0" anchor="ctr">
                    <a:lnL w="4286">
                      <a:noFill/>
                    </a:lnL>
                    <a:lnR w="4286">
                      <a:solidFill>
                        <a:srgbClr val="9A9A9A"/>
                      </a:solid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(66.4)</a:t>
                      </a:r>
                      <a:endParaRPr sz="544"/>
                    </a:p>
                  </a:txBody>
                  <a:tcPr marL="0" marR="19050" marT="0" marB="0" anchor="ctr">
                    <a:lnL w="4286">
                      <a:solidFill>
                        <a:srgbClr val="9A9A9A"/>
                      </a:solid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(66.2)</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(66.0)</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(66.0)</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(66.1)</a:t>
                      </a:r>
                      <a:endParaRPr sz="544"/>
                    </a:p>
                  </a:txBody>
                  <a:tcPr marL="0" marR="19050" marT="0" marB="0" anchor="ctr">
                    <a:lnL w="4286">
                      <a:noFill/>
                    </a:lnL>
                    <a:lnR w="4286">
                      <a:noFill/>
                    </a:lnR>
                    <a:lnT w="4286">
                      <a:noFill/>
                    </a:lnT>
                    <a:lnB w="4286">
                      <a:noFill/>
                    </a:lnB>
                    <a:solidFill>
                      <a:srgbClr val="FFFFFF"/>
                    </a:solidFill>
                  </a:tcPr>
                </a:tc>
                <a:extLst>
                  <a:ext uri="{0D108BD9-81ED-4DB2-BD59-A6C34878D82A}">
                    <a16:rowId xmlns:a16="http://schemas.microsoft.com/office/drawing/2014/main" val="10032"/>
                  </a:ext>
                </a:extLst>
              </a:tr>
              <a:tr h="103346">
                <a:tc>
                  <a:txBody>
                    <a:bodyPr/>
                    <a:lstStyle/>
                    <a:p>
                      <a:pPr marL="0" indent="0" algn="l">
                        <a:spcBef>
                          <a:spcPts val="0"/>
                        </a:spcBef>
                        <a:spcAft>
                          <a:spcPts val="0"/>
                        </a:spcAft>
                      </a:pPr>
                      <a:r>
                        <a:rPr sz="551" b="0" i="0">
                          <a:solidFill>
                            <a:srgbClr val="222222"/>
                          </a:solidFill>
                          <a:latin typeface="Arial"/>
                          <a:ea typeface="Arial"/>
                          <a:cs typeface="Arial"/>
                        </a:rPr>
                        <a:t>Less: Cash taxes</a:t>
                      </a:r>
                      <a:endParaRPr sz="551"/>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n.a.</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n.a.</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n.a.</a:t>
                      </a:r>
                      <a:endParaRPr sz="544"/>
                    </a:p>
                  </a:txBody>
                  <a:tcPr marL="0" marR="19050" marT="0" marB="0" anchor="ctr">
                    <a:lnL w="4286">
                      <a:noFill/>
                    </a:lnL>
                    <a:lnR w="4286">
                      <a:solidFill>
                        <a:srgbClr val="9A9A9A"/>
                      </a:solid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(8.4)</a:t>
                      </a:r>
                      <a:endParaRPr sz="544"/>
                    </a:p>
                  </a:txBody>
                  <a:tcPr marL="0" marR="19050" marT="0" marB="0" anchor="ctr">
                    <a:lnL w="4286">
                      <a:solidFill>
                        <a:srgbClr val="9A9A9A"/>
                      </a:solid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(10.2)</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(12.1)</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(14.0)</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(16.0)</a:t>
                      </a:r>
                      <a:endParaRPr sz="544"/>
                    </a:p>
                  </a:txBody>
                  <a:tcPr marL="0" marR="19050" marT="0" marB="0" anchor="ctr">
                    <a:lnL w="4286">
                      <a:noFill/>
                    </a:lnL>
                    <a:lnR w="4286">
                      <a:noFill/>
                    </a:lnR>
                    <a:lnT w="4286">
                      <a:noFill/>
                    </a:lnT>
                    <a:lnB w="4286">
                      <a:noFill/>
                    </a:lnB>
                    <a:solidFill>
                      <a:srgbClr val="FFFFFF"/>
                    </a:solidFill>
                  </a:tcPr>
                </a:tc>
                <a:extLst>
                  <a:ext uri="{0D108BD9-81ED-4DB2-BD59-A6C34878D82A}">
                    <a16:rowId xmlns:a16="http://schemas.microsoft.com/office/drawing/2014/main" val="10033"/>
                  </a:ext>
                </a:extLst>
              </a:tr>
              <a:tr h="103346">
                <a:tc>
                  <a:txBody>
                    <a:bodyPr/>
                    <a:lstStyle/>
                    <a:p>
                      <a:pPr marL="0" indent="0" algn="l">
                        <a:spcBef>
                          <a:spcPts val="0"/>
                        </a:spcBef>
                        <a:spcAft>
                          <a:spcPts val="0"/>
                        </a:spcAft>
                      </a:pPr>
                      <a:r>
                        <a:rPr sz="551" b="0" i="0">
                          <a:solidFill>
                            <a:srgbClr val="222222"/>
                          </a:solidFill>
                          <a:latin typeface="Arial"/>
                          <a:ea typeface="Arial"/>
                          <a:cs typeface="Arial"/>
                        </a:rPr>
                        <a:t>Less: Increase in working capital</a:t>
                      </a:r>
                      <a:endParaRPr sz="551"/>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n.a.</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n.a.</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n.a.</a:t>
                      </a:r>
                      <a:endParaRPr sz="544"/>
                    </a:p>
                  </a:txBody>
                  <a:tcPr marL="0" marR="19050" marT="0" marB="0" anchor="ctr">
                    <a:lnL w="4286">
                      <a:noFill/>
                    </a:lnL>
                    <a:lnR w="4286">
                      <a:solidFill>
                        <a:srgbClr val="9A9A9A"/>
                      </a:solid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(0.5)</a:t>
                      </a:r>
                      <a:endParaRPr sz="544"/>
                    </a:p>
                  </a:txBody>
                  <a:tcPr marL="0" marR="19050" marT="0" marB="0" anchor="ctr">
                    <a:lnL w="4286">
                      <a:solidFill>
                        <a:srgbClr val="9A9A9A"/>
                      </a:solid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(0.5)</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(0.5)</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(0.5)</a:t>
                      </a:r>
                      <a:endParaRPr sz="544"/>
                    </a:p>
                  </a:txBody>
                  <a:tcPr marL="0" marR="19050" marT="0" marB="0" anchor="ctr">
                    <a:lnL w="4286">
                      <a:noFill/>
                    </a:lnL>
                    <a:lnR w="4286">
                      <a:noFill/>
                    </a:lnR>
                    <a:lnT w="4286">
                      <a:noFill/>
                    </a:lnT>
                    <a:lnB w="4286">
                      <a:no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(0.5)</a:t>
                      </a:r>
                      <a:endParaRPr sz="544"/>
                    </a:p>
                  </a:txBody>
                  <a:tcPr marL="0" marR="19050" marT="0" marB="0" anchor="ctr">
                    <a:lnL w="4286">
                      <a:noFill/>
                    </a:lnL>
                    <a:lnR w="4286">
                      <a:noFill/>
                    </a:lnR>
                    <a:lnT w="4286">
                      <a:noFill/>
                    </a:lnT>
                    <a:lnB w="4286">
                      <a:noFill/>
                    </a:lnB>
                    <a:solidFill>
                      <a:srgbClr val="FFFFFF"/>
                    </a:solidFill>
                  </a:tcPr>
                </a:tc>
                <a:extLst>
                  <a:ext uri="{0D108BD9-81ED-4DB2-BD59-A6C34878D82A}">
                    <a16:rowId xmlns:a16="http://schemas.microsoft.com/office/drawing/2014/main" val="10034"/>
                  </a:ext>
                </a:extLst>
              </a:tr>
              <a:tr h="103346">
                <a:tc>
                  <a:txBody>
                    <a:bodyPr/>
                    <a:lstStyle/>
                    <a:p>
                      <a:pPr marL="0" indent="0" algn="l">
                        <a:spcBef>
                          <a:spcPts val="0"/>
                        </a:spcBef>
                        <a:spcAft>
                          <a:spcPts val="0"/>
                        </a:spcAft>
                      </a:pPr>
                      <a:r>
                        <a:rPr sz="551" b="0" i="0">
                          <a:solidFill>
                            <a:srgbClr val="222222"/>
                          </a:solidFill>
                          <a:latin typeface="Arial"/>
                          <a:ea typeface="Arial"/>
                          <a:cs typeface="Arial"/>
                        </a:rPr>
                        <a:t>Less: Capital expenditures</a:t>
                      </a:r>
                      <a:endParaRPr sz="551"/>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(18.5)</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(22.0)</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(23.5)</a:t>
                      </a:r>
                      <a:endParaRPr sz="544"/>
                    </a:p>
                  </a:txBody>
                  <a:tcPr marL="0" marR="19050" marT="0" marB="0" anchor="ctr">
                    <a:lnL w="4286">
                      <a:noFill/>
                    </a:lnL>
                    <a:lnR w="4286">
                      <a:solidFill>
                        <a:srgbClr val="9A9A9A"/>
                      </a:solid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(25.1)</a:t>
                      </a:r>
                      <a:endParaRPr sz="544"/>
                    </a:p>
                  </a:txBody>
                  <a:tcPr marL="0" marR="19050" marT="0" marB="0" anchor="ctr">
                    <a:lnL w="4286">
                      <a:solidFill>
                        <a:srgbClr val="9A9A9A"/>
                      </a:solid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(26.2)</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(27.4)</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(28.6)</a:t>
                      </a:r>
                      <a:endParaRPr sz="544"/>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44" b="0" i="0">
                          <a:solidFill>
                            <a:srgbClr val="222222"/>
                          </a:solidFill>
                          <a:latin typeface="Arial"/>
                          <a:ea typeface="Arial"/>
                          <a:cs typeface="Arial"/>
                        </a:rPr>
                        <a:t>(29.9)</a:t>
                      </a:r>
                      <a:endParaRPr sz="544"/>
                    </a:p>
                  </a:txBody>
                  <a:tcPr marL="0" marR="19050" marT="0" marB="0" anchor="ctr">
                    <a:lnL w="4286">
                      <a:noFill/>
                    </a:lnL>
                    <a:lnR w="4286">
                      <a:noFill/>
                    </a:lnR>
                    <a:lnT w="4286">
                      <a:noFill/>
                    </a:lnT>
                    <a:lnB w="4286">
                      <a:solidFill>
                        <a:srgbClr val="555555"/>
                      </a:solidFill>
                    </a:lnB>
                    <a:solidFill>
                      <a:srgbClr val="FFFFFF"/>
                    </a:solidFill>
                  </a:tcPr>
                </a:tc>
                <a:extLst>
                  <a:ext uri="{0D108BD9-81ED-4DB2-BD59-A6C34878D82A}">
                    <a16:rowId xmlns:a16="http://schemas.microsoft.com/office/drawing/2014/main" val="10035"/>
                  </a:ext>
                </a:extLst>
              </a:tr>
              <a:tr h="103346">
                <a:tc>
                  <a:txBody>
                    <a:bodyPr/>
                    <a:lstStyle/>
                    <a:p>
                      <a:pPr marL="0" indent="0" algn="l">
                        <a:spcBef>
                          <a:spcPts val="0"/>
                        </a:spcBef>
                        <a:spcAft>
                          <a:spcPts val="0"/>
                        </a:spcAft>
                      </a:pPr>
                      <a:r>
                        <a:rPr sz="551" b="1" i="0">
                          <a:solidFill>
                            <a:srgbClr val="222222"/>
                          </a:solidFill>
                          <a:latin typeface="Arial"/>
                          <a:ea typeface="Arial"/>
                          <a:cs typeface="Arial"/>
                        </a:rPr>
                        <a:t>FCF before debt repayment</a:t>
                      </a:r>
                      <a:endParaRPr sz="551"/>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n.a.</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n.a.</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n.a.</a:t>
                      </a:r>
                      <a:endParaRPr sz="544"/>
                    </a:p>
                  </a:txBody>
                  <a:tcPr marL="0" marR="19050" marT="0" marB="0" anchor="ctr">
                    <a:lnL w="4286">
                      <a:noFill/>
                    </a:lnL>
                    <a:lnR w="4286">
                      <a:solidFill>
                        <a:srgbClr val="9A9A9A"/>
                      </a:solid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17.7</a:t>
                      </a:r>
                      <a:endParaRPr sz="544"/>
                    </a:p>
                  </a:txBody>
                  <a:tcPr marL="0" marR="19050" marT="0" marB="0" anchor="ctr">
                    <a:lnL w="4286">
                      <a:solidFill>
                        <a:srgbClr val="9A9A9A"/>
                      </a:solid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30.1</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35.6</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41.1</a:t>
                      </a:r>
                      <a:endParaRPr sz="544"/>
                    </a:p>
                  </a:txBody>
                  <a:tcPr marL="0" marR="19050" marT="0" marB="0" anchor="ctr">
                    <a:lnL w="4286">
                      <a:noFill/>
                    </a:lnL>
                    <a:lnR w="4286">
                      <a:noFill/>
                    </a:lnR>
                    <a:lnT w="4286">
                      <a:solidFill>
                        <a:srgbClr val="555555"/>
                      </a:solidFill>
                    </a:lnT>
                    <a:lnB w="4286">
                      <a:noFill/>
                    </a:lnB>
                    <a:solidFill>
                      <a:srgbClr val="FFFFFF"/>
                    </a:solidFill>
                  </a:tcPr>
                </a:tc>
                <a:tc>
                  <a:txBody>
                    <a:bodyPr/>
                    <a:lstStyle/>
                    <a:p>
                      <a:pPr marL="0" indent="0" algn="r">
                        <a:spcBef>
                          <a:spcPts val="0"/>
                        </a:spcBef>
                        <a:spcAft>
                          <a:spcPts val="0"/>
                        </a:spcAft>
                      </a:pPr>
                      <a:r>
                        <a:rPr sz="544" b="1" i="0">
                          <a:solidFill>
                            <a:srgbClr val="222222"/>
                          </a:solidFill>
                          <a:latin typeface="Arial"/>
                          <a:ea typeface="Arial"/>
                          <a:cs typeface="Arial"/>
                        </a:rPr>
                        <a:t>46.9</a:t>
                      </a:r>
                      <a:endParaRPr sz="544"/>
                    </a:p>
                  </a:txBody>
                  <a:tcPr marL="0" marR="19050" marT="0" marB="0" anchor="ctr">
                    <a:lnL w="4286">
                      <a:noFill/>
                    </a:lnL>
                    <a:lnR w="4286">
                      <a:noFill/>
                    </a:lnR>
                    <a:lnT w="4286">
                      <a:solidFill>
                        <a:srgbClr val="555555"/>
                      </a:solidFill>
                    </a:lnT>
                    <a:lnB w="4286">
                      <a:noFill/>
                    </a:lnB>
                    <a:solidFill>
                      <a:srgbClr val="FFFFFF"/>
                    </a:solidFill>
                  </a:tcPr>
                </a:tc>
                <a:extLst>
                  <a:ext uri="{0D108BD9-81ED-4DB2-BD59-A6C34878D82A}">
                    <a16:rowId xmlns:a16="http://schemas.microsoft.com/office/drawing/2014/main" val="10036"/>
                  </a:ext>
                </a:extLst>
              </a:tr>
              <a:tr h="103346">
                <a:tc>
                  <a:txBody>
                    <a:bodyPr/>
                    <a:lstStyle/>
                    <a:p>
                      <a:pPr marL="0" indent="0" algn="l">
                        <a:spcBef>
                          <a:spcPts val="0"/>
                        </a:spcBef>
                        <a:spcAft>
                          <a:spcPts val="0"/>
                        </a:spcAft>
                      </a:pPr>
                      <a:r>
                        <a:rPr sz="525" b="0" i="1">
                          <a:solidFill>
                            <a:srgbClr val="555555"/>
                          </a:solidFill>
                          <a:latin typeface="Arial"/>
                          <a:ea typeface="Arial"/>
                          <a:cs typeface="Arial"/>
                        </a:rPr>
                        <a:t>FCF / EBITDA</a:t>
                      </a:r>
                      <a:endParaRPr sz="525"/>
                    </a:p>
                  </a:txBody>
                  <a:tcPr marL="3810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n.a.</a:t>
                      </a:r>
                      <a:endParaRPr sz="525"/>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n.a.</a:t>
                      </a:r>
                      <a:endParaRPr sz="525"/>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n.a.</a:t>
                      </a:r>
                      <a:endParaRPr sz="525"/>
                    </a:p>
                  </a:txBody>
                  <a:tcPr marL="0" marR="19050" marT="0" marB="0" anchor="ctr">
                    <a:lnL w="4286">
                      <a:noFill/>
                    </a:lnL>
                    <a:lnR w="4286">
                      <a:solidFill>
                        <a:srgbClr val="9A9A9A"/>
                      </a:solidFill>
                    </a:lnR>
                    <a:lnT w="4286">
                      <a:noFill/>
                    </a:lnT>
                    <a:lnB w="4286">
                      <a:solidFill>
                        <a:srgbClr val="555555"/>
                      </a:solid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15.0%</a:t>
                      </a:r>
                      <a:endParaRPr sz="525"/>
                    </a:p>
                  </a:txBody>
                  <a:tcPr marL="0" marR="19050" marT="0" marB="0" anchor="ctr">
                    <a:lnL w="4286">
                      <a:solidFill>
                        <a:srgbClr val="9A9A9A"/>
                      </a:solid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22.6%</a:t>
                      </a:r>
                      <a:endParaRPr sz="525"/>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25.1%</a:t>
                      </a:r>
                      <a:endParaRPr sz="525"/>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25" b="0" i="1">
                          <a:solidFill>
                            <a:srgbClr val="555555"/>
                          </a:solidFill>
                          <a:latin typeface="Arial"/>
                          <a:ea typeface="Arial"/>
                          <a:cs typeface="Arial"/>
                        </a:rPr>
                        <a:t>27.4%</a:t>
                      </a:r>
                      <a:endParaRPr sz="525"/>
                    </a:p>
                  </a:txBody>
                  <a:tcPr marL="0" marR="19050" marT="0" marB="0" anchor="ctr">
                    <a:lnL w="4286">
                      <a:noFill/>
                    </a:lnL>
                    <a:lnR w="4286">
                      <a:noFill/>
                    </a:lnR>
                    <a:lnT w="4286">
                      <a:noFill/>
                    </a:lnT>
                    <a:lnB w="4286">
                      <a:solidFill>
                        <a:srgbClr val="555555"/>
                      </a:solidFill>
                    </a:lnB>
                    <a:solidFill>
                      <a:srgbClr val="FFFFFF"/>
                    </a:solidFill>
                  </a:tcPr>
                </a:tc>
                <a:tc>
                  <a:txBody>
                    <a:bodyPr/>
                    <a:lstStyle/>
                    <a:p>
                      <a:pPr marL="0" indent="0" algn="r">
                        <a:spcBef>
                          <a:spcPts val="0"/>
                        </a:spcBef>
                        <a:spcAft>
                          <a:spcPts val="0"/>
                        </a:spcAft>
                      </a:pPr>
                      <a:r>
                        <a:rPr sz="525" b="0" i="1" dirty="0">
                          <a:solidFill>
                            <a:srgbClr val="555555"/>
                          </a:solidFill>
                          <a:latin typeface="Arial"/>
                          <a:ea typeface="Arial"/>
                          <a:cs typeface="Arial"/>
                        </a:rPr>
                        <a:t>29.4%</a:t>
                      </a:r>
                      <a:endParaRPr sz="525" dirty="0"/>
                    </a:p>
                  </a:txBody>
                  <a:tcPr marL="0" marR="19050" marT="0" marB="0" anchor="ctr">
                    <a:lnL w="4286">
                      <a:noFill/>
                    </a:lnL>
                    <a:lnR w="4286">
                      <a:noFill/>
                    </a:lnR>
                    <a:lnT w="4286">
                      <a:noFill/>
                    </a:lnT>
                    <a:lnB w="4286">
                      <a:solidFill>
                        <a:srgbClr val="555555"/>
                      </a:solidFill>
                    </a:lnB>
                    <a:solidFill>
                      <a:srgbClr val="FFFFFF"/>
                    </a:solidFill>
                  </a:tcPr>
                </a:tc>
                <a:extLst>
                  <a:ext uri="{0D108BD9-81ED-4DB2-BD59-A6C34878D82A}">
                    <a16:rowId xmlns:a16="http://schemas.microsoft.com/office/drawing/2014/main" val="10037"/>
                  </a:ext>
                </a:extLst>
              </a:tr>
            </a:tbl>
          </a:graphicData>
        </a:graphic>
      </p:graphicFrame>
      <p:sp>
        <p:nvSpPr>
          <p:cNvPr id="21" name="Editable summary availability">
            <a:extLst>
              <a:ext uri="{FF2B5EF4-FFF2-40B4-BE49-F238E27FC236}">
                <a16:creationId xmlns:a16="http://schemas.microsoft.com/office/drawing/2014/main" id="{64732FE2-D220-49E7-BD82-CCFAA5A3E2DA}"/>
              </a:ext>
            </a:extLst>
          </p:cNvPr>
          <p:cNvSpPr>
            <a:spLocks noGrp="1"/>
          </p:cNvSpPr>
          <p:nvPr/>
        </p:nvSpPr>
        <p:spPr>
          <a:xfrm>
            <a:off x="4669155" y="5704046"/>
            <a:ext cx="4217670" cy="114300"/>
          </a:xfrm>
          <a:prstGeom prst="rect">
            <a:avLst/>
          </a:prstGeom>
          <a:noFill/>
          <a:ln w="0">
            <a:noFill/>
          </a:ln>
        </p:spPr>
        <p:txBody>
          <a:bodyPr lIns="0" tIns="0" rIns="0" bIns="0" anchor="t">
            <a:noAutofit/>
          </a:bodyPr>
          <a:lstStyle/>
          <a:p>
            <a:pPr>
              <a:defRPr sz="499" b="0">
                <a:solidFill>
                  <a:srgbClr val="555555"/>
                </a:solidFill>
                <a:latin typeface="Arial"/>
                <a:ea typeface="Arial"/>
                <a:cs typeface="Arial"/>
              </a:defRPr>
            </a:pPr>
            <a:r>
              <a:rPr sz="499" b="0">
                <a:solidFill>
                  <a:srgbClr val="555555"/>
                </a:solidFill>
                <a:latin typeface="Arial"/>
                <a:ea typeface="Arial"/>
                <a:cs typeface="Arial"/>
              </a:rPr>
              <a:t>n.a. = not available in the illustrative model. Figures may differ due to rounding.</a:t>
            </a:r>
          </a:p>
        </p:txBody>
      </p:sp>
    </p:spTree>
    <p:extLst>
      <p:ext uri="{BB962C8B-B14F-4D97-AF65-F5344CB8AC3E}">
        <p14:creationId xmlns:p14="http://schemas.microsoft.com/office/powerpoint/2010/main" val="2559067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91114-2735-E6C0-F7DA-FE9762B22BC1}"/>
              </a:ext>
            </a:extLst>
          </p:cNvPr>
          <p:cNvSpPr>
            <a:spLocks noGrp="1"/>
          </p:cNvSpPr>
          <p:nvPr>
            <p:ph type="title"/>
          </p:nvPr>
        </p:nvSpPr>
        <p:spPr>
          <a:xfrm>
            <a:off x="228600" y="361950"/>
            <a:ext cx="8686800" cy="409575"/>
          </a:xfrm>
        </p:spPr>
        <p:txBody>
          <a:bodyPr>
            <a:noAutofit/>
          </a:bodyPr>
          <a:lstStyle/>
          <a:p>
            <a:pPr>
              <a:buNone/>
              <a:defRPr sz="2175" b="0">
                <a:solidFill>
                  <a:srgbClr val="4E6879"/>
                </a:solidFill>
                <a:latin typeface="Arial"/>
                <a:ea typeface="Arial"/>
                <a:cs typeface="Arial"/>
              </a:defRPr>
            </a:pPr>
            <a:r>
              <a:rPr sz="2175" b="0">
                <a:solidFill>
                  <a:srgbClr val="4E6879"/>
                </a:solidFill>
                <a:latin typeface="Arial"/>
                <a:ea typeface="Arial"/>
                <a:cs typeface="Arial"/>
              </a:rPr>
              <a:t>[Company Name] | Relevant Highlights</a:t>
            </a:r>
          </a:p>
        </p:txBody>
      </p:sp>
      <p:sp>
        <p:nvSpPr>
          <p:cNvPr id="4" name="Text Placeholder 3">
            <a:extLst>
              <a:ext uri="{FF2B5EF4-FFF2-40B4-BE49-F238E27FC236}">
                <a16:creationId xmlns:a16="http://schemas.microsoft.com/office/drawing/2014/main" id="{A14ECD66-67E2-2EAD-D7BC-D31245F57F83}"/>
              </a:ext>
            </a:extLst>
          </p:cNvPr>
          <p:cNvSpPr>
            <a:spLocks noGrp="1"/>
          </p:cNvSpPr>
          <p:nvPr>
            <p:ph type="body" idx="17"/>
          </p:nvPr>
        </p:nvSpPr>
        <p:spPr>
          <a:xfrm>
            <a:off x="228600" y="866775"/>
            <a:ext cx="8686800" cy="228600"/>
          </a:xfrm>
        </p:spPr>
        <p:txBody>
          <a:bodyPr>
            <a:noAutofit/>
          </a:bodyPr>
          <a:lstStyle/>
          <a:p>
            <a:pPr>
              <a:buNone/>
              <a:defRPr sz="1125" b="0">
                <a:solidFill>
                  <a:srgbClr val="333333"/>
                </a:solidFill>
                <a:latin typeface="Arial"/>
                <a:ea typeface="Arial"/>
                <a:cs typeface="Arial"/>
              </a:defRPr>
            </a:pPr>
            <a:r>
              <a:rPr sz="1125" b="0">
                <a:solidFill>
                  <a:srgbClr val="333333"/>
                </a:solidFill>
                <a:latin typeface="Arial"/>
                <a:ea typeface="Arial"/>
                <a:cs typeface="Arial"/>
              </a:rPr>
              <a:t>[Team Number] | [Team Members] | [Date]</a:t>
            </a:r>
          </a:p>
        </p:txBody>
      </p:sp>
      <p:sp>
        <p:nvSpPr>
          <p:cNvPr id="5" name="Slide Number Placeholder 4">
            <a:extLst>
              <a:ext uri="{FF2B5EF4-FFF2-40B4-BE49-F238E27FC236}">
                <a16:creationId xmlns:a16="http://schemas.microsoft.com/office/drawing/2014/main" id="{8B622EE7-E39D-A299-1E90-24239F9EEF6A}"/>
              </a:ext>
            </a:extLst>
          </p:cNvPr>
          <p:cNvSpPr>
            <a:spLocks noGrp="1"/>
          </p:cNvSpPr>
          <p:nvPr>
            <p:ph type="sldNum" idx="19"/>
          </p:nvPr>
        </p:nvSpPr>
        <p:spPr/>
        <p:txBody>
          <a:bodyPr/>
          <a:lstStyle/>
          <a:p>
            <a:fld id="{E2598689-54C9-18A7-3A19-ED76AA08988F}" type="slidenum">
              <a:rPr/>
              <a:t>2</a:t>
            </a:fld>
            <a:endParaRPr/>
          </a:p>
        </p:txBody>
      </p:sp>
      <p:sp>
        <p:nvSpPr>
          <p:cNvPr id="6" name="Text Placeholder 5">
            <a:extLst>
              <a:ext uri="{FF2B5EF4-FFF2-40B4-BE49-F238E27FC236}">
                <a16:creationId xmlns:a16="http://schemas.microsoft.com/office/drawing/2014/main" id="{84849125-E9AE-7B66-8169-738E80415590}"/>
              </a:ext>
            </a:extLst>
          </p:cNvPr>
          <p:cNvSpPr>
            <a:spLocks noGrp="1"/>
          </p:cNvSpPr>
          <p:nvPr>
            <p:ph type="body" idx="18"/>
          </p:nvPr>
        </p:nvSpPr>
        <p:spPr>
          <a:xfrm>
            <a:off x="228600" y="6296025"/>
            <a:ext cx="8496300" cy="209550"/>
          </a:xfrm>
        </p:spPr>
        <p:txBody>
          <a:bodyPr>
            <a:noAutofit/>
          </a:bodyPr>
          <a:lstStyle/>
          <a:p>
            <a:pPr marL="0" indent="0">
              <a:buNone/>
              <a:defRPr sz="638" b="0">
                <a:solidFill>
                  <a:srgbClr val="333333"/>
                </a:solidFill>
                <a:latin typeface="Arial"/>
                <a:ea typeface="Arial"/>
                <a:cs typeface="Arial"/>
              </a:defRPr>
            </a:pPr>
            <a:r>
              <a:rPr sz="638" b="0">
                <a:solidFill>
                  <a:srgbClr val="333333"/>
                </a:solidFill>
                <a:latin typeface="Arial"/>
                <a:ea typeface="Arial"/>
                <a:cs typeface="Arial"/>
              </a:rPr>
              <a:t>Customer and geographic percentages are illustrative. Replace them with your target's data.</a:t>
            </a:r>
          </a:p>
        </p:txBody>
      </p:sp>
      <p:sp>
        <p:nvSpPr>
          <p:cNvPr id="7" name="Rectangle: Rounded Corners 6">
            <a:extLst>
              <a:ext uri="{FF2B5EF4-FFF2-40B4-BE49-F238E27FC236}">
                <a16:creationId xmlns:a16="http://schemas.microsoft.com/office/drawing/2014/main" id="{B92E598D-8864-5E81-0788-FECB582A6A62}"/>
              </a:ext>
            </a:extLst>
          </p:cNvPr>
          <p:cNvSpPr>
            <a:spLocks noGrp="1"/>
          </p:cNvSpPr>
          <p:nvPr/>
        </p:nvSpPr>
        <p:spPr>
          <a:xfrm>
            <a:off x="228600" y="1219599"/>
            <a:ext cx="8680205" cy="265806"/>
          </a:xfrm>
          <a:prstGeom prst="round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ts val="1200"/>
              </a:lnSpc>
              <a:spcBef>
                <a:spcPts val="300"/>
              </a:spcBef>
              <a:spcAft>
                <a:spcPts val="300"/>
              </a:spcAft>
              <a:buNone/>
            </a:pPr>
            <a:r>
              <a:rPr sz="1000" b="1">
                <a:solidFill>
                  <a:schemeClr val="bg1"/>
                </a:solidFill>
                <a:latin typeface="Arial"/>
                <a:ea typeface="Arial"/>
                <a:cs typeface="Arial"/>
              </a:rPr>
              <a:t>Detail of Business Segments</a:t>
            </a:r>
          </a:p>
        </p:txBody>
      </p:sp>
      <p:sp>
        <p:nvSpPr>
          <p:cNvPr id="3" name="Rectangle: Rounded Corners 2">
            <a:extLst>
              <a:ext uri="{FF2B5EF4-FFF2-40B4-BE49-F238E27FC236}">
                <a16:creationId xmlns:a16="http://schemas.microsoft.com/office/drawing/2014/main" id="{E1749B46-2EEA-E490-BB8A-FF52714F74FF}"/>
              </a:ext>
            </a:extLst>
          </p:cNvPr>
          <p:cNvSpPr>
            <a:spLocks noGrp="1"/>
          </p:cNvSpPr>
          <p:nvPr/>
        </p:nvSpPr>
        <p:spPr>
          <a:xfrm>
            <a:off x="4640589" y="3809193"/>
            <a:ext cx="4274813" cy="265806"/>
          </a:xfrm>
          <a:prstGeom prst="roundRect">
            <a:avLst/>
          </a:prstGeom>
          <a:solidFill>
            <a:srgbClr val="4760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ts val="1200"/>
              </a:lnSpc>
              <a:spcBef>
                <a:spcPts val="300"/>
              </a:spcBef>
              <a:spcAft>
                <a:spcPts val="300"/>
              </a:spcAft>
              <a:buNone/>
            </a:pPr>
            <a:r>
              <a:rPr sz="1000" b="1">
                <a:solidFill>
                  <a:schemeClr val="bg1"/>
                </a:solidFill>
                <a:latin typeface="Arial"/>
                <a:ea typeface="Arial"/>
                <a:cs typeface="Arial"/>
              </a:rPr>
              <a:t>Revenue by Geography</a:t>
            </a:r>
          </a:p>
        </p:txBody>
      </p:sp>
      <p:graphicFrame>
        <p:nvGraphicFramePr>
          <p:cNvPr id="67" name="Chart 8"/>
          <p:cNvGraphicFramePr/>
          <p:nvPr/>
        </p:nvGraphicFramePr>
        <p:xfrm>
          <a:off x="4640588" y="4134304"/>
          <a:ext cx="3454788" cy="2063648"/>
        </p:xfrm>
        <a:graphic>
          <a:graphicData uri="http://schemas.openxmlformats.org/drawingml/2006/chart">
            <c:chart xmlns:c="http://schemas.openxmlformats.org/drawingml/2006/chart" xmlns:r="http://schemas.openxmlformats.org/officeDocument/2006/relationships" r:id="rId3"/>
          </a:graphicData>
        </a:graphic>
      </p:graphicFrame>
      <p:sp>
        <p:nvSpPr>
          <p:cNvPr id="15" name="Rectangle 14">
            <a:extLst>
              <a:ext uri="{FF2B5EF4-FFF2-40B4-BE49-F238E27FC236}">
                <a16:creationId xmlns:a16="http://schemas.microsoft.com/office/drawing/2014/main" id="{9823E5C7-8318-A6BF-23BD-6F149935C012}"/>
              </a:ext>
            </a:extLst>
          </p:cNvPr>
          <p:cNvSpPr>
            <a:spLocks noGrp="1"/>
          </p:cNvSpPr>
          <p:nvPr/>
        </p:nvSpPr>
        <p:spPr>
          <a:xfrm>
            <a:off x="7436684" y="4316884"/>
            <a:ext cx="180909" cy="1809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bg1"/>
              </a:solidFill>
            </a:endParaRPr>
          </a:p>
        </p:txBody>
      </p:sp>
      <p:sp>
        <p:nvSpPr>
          <p:cNvPr id="16" name="Rectangle 15">
            <a:extLst>
              <a:ext uri="{FF2B5EF4-FFF2-40B4-BE49-F238E27FC236}">
                <a16:creationId xmlns:a16="http://schemas.microsoft.com/office/drawing/2014/main" id="{EA696EAA-F099-E5B6-52EB-EB84FF6359FB}"/>
              </a:ext>
            </a:extLst>
          </p:cNvPr>
          <p:cNvSpPr>
            <a:spLocks noGrp="1"/>
          </p:cNvSpPr>
          <p:nvPr/>
        </p:nvSpPr>
        <p:spPr>
          <a:xfrm>
            <a:off x="7664313" y="4316883"/>
            <a:ext cx="1244492" cy="180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None/>
              <a:defRPr sz="788"/>
            </a:pPr>
            <a:r>
              <a:rPr sz="788" b="1">
                <a:solidFill>
                  <a:schemeClr val="tx1"/>
                </a:solidFill>
                <a:latin typeface="Arial"/>
                <a:ea typeface="Arial"/>
                <a:cs typeface="Arial"/>
              </a:rPr>
              <a:t>United States</a:t>
            </a:r>
          </a:p>
        </p:txBody>
      </p:sp>
      <p:sp>
        <p:nvSpPr>
          <p:cNvPr id="20" name="Rectangle 19">
            <a:extLst>
              <a:ext uri="{FF2B5EF4-FFF2-40B4-BE49-F238E27FC236}">
                <a16:creationId xmlns:a16="http://schemas.microsoft.com/office/drawing/2014/main" id="{91D30267-7C06-D25B-35A6-CB33B6D87786}"/>
              </a:ext>
            </a:extLst>
          </p:cNvPr>
          <p:cNvSpPr>
            <a:spLocks noGrp="1"/>
          </p:cNvSpPr>
          <p:nvPr/>
        </p:nvSpPr>
        <p:spPr>
          <a:xfrm>
            <a:off x="7436684" y="4620400"/>
            <a:ext cx="180909" cy="180909"/>
          </a:xfrm>
          <a:prstGeom prst="rect">
            <a:avLst/>
          </a:prstGeom>
          <a:solidFill>
            <a:srgbClr val="4668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bg1"/>
              </a:solidFill>
            </a:endParaRPr>
          </a:p>
        </p:txBody>
      </p:sp>
      <p:sp>
        <p:nvSpPr>
          <p:cNvPr id="21" name="Rectangle 20">
            <a:extLst>
              <a:ext uri="{FF2B5EF4-FFF2-40B4-BE49-F238E27FC236}">
                <a16:creationId xmlns:a16="http://schemas.microsoft.com/office/drawing/2014/main" id="{5A554179-955E-3AE4-1A86-2CEF06684CD4}"/>
              </a:ext>
            </a:extLst>
          </p:cNvPr>
          <p:cNvSpPr>
            <a:spLocks noGrp="1"/>
          </p:cNvSpPr>
          <p:nvPr/>
        </p:nvSpPr>
        <p:spPr>
          <a:xfrm>
            <a:off x="7664313" y="4620399"/>
            <a:ext cx="1244492" cy="180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None/>
              <a:defRPr sz="788"/>
            </a:pPr>
            <a:r>
              <a:rPr sz="788" b="1">
                <a:solidFill>
                  <a:schemeClr val="tx1"/>
                </a:solidFill>
                <a:latin typeface="Arial"/>
                <a:ea typeface="Arial"/>
                <a:cs typeface="Arial"/>
              </a:rPr>
              <a:t>Canada &amp; Mexico</a:t>
            </a:r>
          </a:p>
        </p:txBody>
      </p:sp>
      <p:sp>
        <p:nvSpPr>
          <p:cNvPr id="22" name="Rectangle 21">
            <a:extLst>
              <a:ext uri="{FF2B5EF4-FFF2-40B4-BE49-F238E27FC236}">
                <a16:creationId xmlns:a16="http://schemas.microsoft.com/office/drawing/2014/main" id="{C548F607-1EAD-F088-83D4-6D76F6B96FE7}"/>
              </a:ext>
            </a:extLst>
          </p:cNvPr>
          <p:cNvSpPr>
            <a:spLocks noGrp="1"/>
          </p:cNvSpPr>
          <p:nvPr/>
        </p:nvSpPr>
        <p:spPr>
          <a:xfrm>
            <a:off x="7436684" y="4923916"/>
            <a:ext cx="180909" cy="180909"/>
          </a:xfrm>
          <a:prstGeom prst="rect">
            <a:avLst/>
          </a:prstGeom>
          <a:solidFill>
            <a:srgbClr val="9EB3C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bg1"/>
              </a:solidFill>
            </a:endParaRPr>
          </a:p>
        </p:txBody>
      </p:sp>
      <p:sp>
        <p:nvSpPr>
          <p:cNvPr id="23" name="Rectangle 22">
            <a:extLst>
              <a:ext uri="{FF2B5EF4-FFF2-40B4-BE49-F238E27FC236}">
                <a16:creationId xmlns:a16="http://schemas.microsoft.com/office/drawing/2014/main" id="{73BDBB8F-DB00-2EF5-E222-A4BB087FD987}"/>
              </a:ext>
            </a:extLst>
          </p:cNvPr>
          <p:cNvSpPr>
            <a:spLocks noGrp="1"/>
          </p:cNvSpPr>
          <p:nvPr/>
        </p:nvSpPr>
        <p:spPr>
          <a:xfrm>
            <a:off x="7664313" y="4923915"/>
            <a:ext cx="1244492" cy="180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None/>
              <a:defRPr sz="788"/>
            </a:pPr>
            <a:r>
              <a:rPr sz="788" b="1">
                <a:solidFill>
                  <a:schemeClr val="tx1"/>
                </a:solidFill>
                <a:latin typeface="Arial"/>
                <a:ea typeface="Arial"/>
                <a:cs typeface="Arial"/>
              </a:rPr>
              <a:t>EMEA</a:t>
            </a:r>
          </a:p>
        </p:txBody>
      </p:sp>
      <p:sp>
        <p:nvSpPr>
          <p:cNvPr id="24" name="Rectangle 23">
            <a:extLst>
              <a:ext uri="{FF2B5EF4-FFF2-40B4-BE49-F238E27FC236}">
                <a16:creationId xmlns:a16="http://schemas.microsoft.com/office/drawing/2014/main" id="{FFB661A9-4B4A-2544-C83A-29D97688C1A9}"/>
              </a:ext>
            </a:extLst>
          </p:cNvPr>
          <p:cNvSpPr>
            <a:spLocks noGrp="1"/>
          </p:cNvSpPr>
          <p:nvPr/>
        </p:nvSpPr>
        <p:spPr>
          <a:xfrm>
            <a:off x="7436684" y="5227432"/>
            <a:ext cx="180909" cy="180909"/>
          </a:xfrm>
          <a:prstGeom prst="rect">
            <a:avLst/>
          </a:prstGeom>
          <a:solidFill>
            <a:srgbClr val="9EBE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bg1"/>
              </a:solidFill>
            </a:endParaRPr>
          </a:p>
        </p:txBody>
      </p:sp>
      <p:sp>
        <p:nvSpPr>
          <p:cNvPr id="38" name="Rectangle 37">
            <a:extLst>
              <a:ext uri="{FF2B5EF4-FFF2-40B4-BE49-F238E27FC236}">
                <a16:creationId xmlns:a16="http://schemas.microsoft.com/office/drawing/2014/main" id="{BC3C49FB-9CBE-1E21-3B68-AC3465757102}"/>
              </a:ext>
            </a:extLst>
          </p:cNvPr>
          <p:cNvSpPr>
            <a:spLocks noGrp="1"/>
          </p:cNvSpPr>
          <p:nvPr/>
        </p:nvSpPr>
        <p:spPr>
          <a:xfrm>
            <a:off x="7664313" y="5227431"/>
            <a:ext cx="1244492" cy="180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None/>
              <a:defRPr sz="788"/>
            </a:pPr>
            <a:r>
              <a:rPr sz="788" b="1">
                <a:solidFill>
                  <a:schemeClr val="tx1"/>
                </a:solidFill>
                <a:latin typeface="Arial"/>
                <a:ea typeface="Arial"/>
                <a:cs typeface="Arial"/>
              </a:rPr>
              <a:t>APAC</a:t>
            </a:r>
          </a:p>
        </p:txBody>
      </p:sp>
      <p:sp>
        <p:nvSpPr>
          <p:cNvPr id="11" name="Rectangle: Rounded Corners 10">
            <a:extLst>
              <a:ext uri="{FF2B5EF4-FFF2-40B4-BE49-F238E27FC236}">
                <a16:creationId xmlns:a16="http://schemas.microsoft.com/office/drawing/2014/main" id="{39702CB5-8693-964C-E33B-DCB8A7B53E0D}"/>
              </a:ext>
            </a:extLst>
          </p:cNvPr>
          <p:cNvSpPr>
            <a:spLocks noGrp="1"/>
          </p:cNvSpPr>
          <p:nvPr/>
        </p:nvSpPr>
        <p:spPr>
          <a:xfrm>
            <a:off x="228599" y="3809193"/>
            <a:ext cx="4274813" cy="265806"/>
          </a:xfrm>
          <a:prstGeom prst="roundRect">
            <a:avLst/>
          </a:prstGeom>
          <a:solidFill>
            <a:srgbClr val="4760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ts val="1200"/>
              </a:lnSpc>
              <a:spcBef>
                <a:spcPts val="300"/>
              </a:spcBef>
              <a:spcAft>
                <a:spcPts val="300"/>
              </a:spcAft>
              <a:buNone/>
            </a:pPr>
            <a:r>
              <a:rPr sz="1000" b="1">
                <a:solidFill>
                  <a:schemeClr val="bg1"/>
                </a:solidFill>
                <a:latin typeface="Arial"/>
                <a:ea typeface="Arial"/>
                <a:cs typeface="Arial"/>
              </a:rPr>
              <a:t>Revenue by Top Customers</a:t>
            </a:r>
          </a:p>
        </p:txBody>
      </p:sp>
      <p:graphicFrame>
        <p:nvGraphicFramePr>
          <p:cNvPr id="77" name="Chart 43"/>
          <p:cNvGraphicFramePr/>
          <p:nvPr/>
        </p:nvGraphicFramePr>
        <p:xfrm>
          <a:off x="228599" y="4186245"/>
          <a:ext cx="3198266" cy="1966905"/>
        </p:xfrm>
        <a:graphic>
          <a:graphicData uri="http://schemas.openxmlformats.org/drawingml/2006/chart">
            <c:chart xmlns:c="http://schemas.openxmlformats.org/drawingml/2006/chart" xmlns:r="http://schemas.openxmlformats.org/officeDocument/2006/relationships" r:id="rId4"/>
          </a:graphicData>
        </a:graphic>
      </p:graphicFrame>
      <p:sp>
        <p:nvSpPr>
          <p:cNvPr id="46" name="Rectangle 45">
            <a:extLst>
              <a:ext uri="{FF2B5EF4-FFF2-40B4-BE49-F238E27FC236}">
                <a16:creationId xmlns:a16="http://schemas.microsoft.com/office/drawing/2014/main" id="{14F33B3E-B5E0-F52B-245E-59E6BEFB8D2C}"/>
              </a:ext>
            </a:extLst>
          </p:cNvPr>
          <p:cNvSpPr>
            <a:spLocks noGrp="1"/>
          </p:cNvSpPr>
          <p:nvPr/>
        </p:nvSpPr>
        <p:spPr>
          <a:xfrm>
            <a:off x="3024694" y="4368825"/>
            <a:ext cx="180909" cy="1809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bg1"/>
              </a:solidFill>
            </a:endParaRPr>
          </a:p>
        </p:txBody>
      </p:sp>
      <p:sp>
        <p:nvSpPr>
          <p:cNvPr id="47" name="Rectangle 46">
            <a:extLst>
              <a:ext uri="{FF2B5EF4-FFF2-40B4-BE49-F238E27FC236}">
                <a16:creationId xmlns:a16="http://schemas.microsoft.com/office/drawing/2014/main" id="{976CCDA7-8FD0-F39E-5AC7-8E4734B6CF3D}"/>
              </a:ext>
            </a:extLst>
          </p:cNvPr>
          <p:cNvSpPr>
            <a:spLocks noGrp="1"/>
          </p:cNvSpPr>
          <p:nvPr/>
        </p:nvSpPr>
        <p:spPr>
          <a:xfrm>
            <a:off x="3252323" y="4368824"/>
            <a:ext cx="1244492" cy="180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None/>
              <a:defRPr sz="788"/>
            </a:pPr>
            <a:r>
              <a:rPr sz="788" b="1">
                <a:solidFill>
                  <a:schemeClr val="tx1"/>
                </a:solidFill>
                <a:latin typeface="Arial"/>
                <a:ea typeface="Arial"/>
                <a:cs typeface="Arial"/>
              </a:rPr>
              <a:t>Customer 1</a:t>
            </a:r>
          </a:p>
        </p:txBody>
      </p:sp>
      <p:sp>
        <p:nvSpPr>
          <p:cNvPr id="48" name="Rectangle 47">
            <a:extLst>
              <a:ext uri="{FF2B5EF4-FFF2-40B4-BE49-F238E27FC236}">
                <a16:creationId xmlns:a16="http://schemas.microsoft.com/office/drawing/2014/main" id="{C886778F-FE90-5FFA-5AE0-03FD99FDD265}"/>
              </a:ext>
            </a:extLst>
          </p:cNvPr>
          <p:cNvSpPr>
            <a:spLocks noGrp="1"/>
          </p:cNvSpPr>
          <p:nvPr/>
        </p:nvSpPr>
        <p:spPr>
          <a:xfrm>
            <a:off x="3024694" y="4672341"/>
            <a:ext cx="180909" cy="180909"/>
          </a:xfrm>
          <a:prstGeom prst="rect">
            <a:avLst/>
          </a:prstGeom>
          <a:solidFill>
            <a:srgbClr val="4668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bg1"/>
              </a:solidFill>
            </a:endParaRPr>
          </a:p>
        </p:txBody>
      </p:sp>
      <p:sp>
        <p:nvSpPr>
          <p:cNvPr id="49" name="Rectangle 48">
            <a:extLst>
              <a:ext uri="{FF2B5EF4-FFF2-40B4-BE49-F238E27FC236}">
                <a16:creationId xmlns:a16="http://schemas.microsoft.com/office/drawing/2014/main" id="{E8E2AF78-F5F3-EC23-06CF-50C31B104A12}"/>
              </a:ext>
            </a:extLst>
          </p:cNvPr>
          <p:cNvSpPr>
            <a:spLocks noGrp="1"/>
          </p:cNvSpPr>
          <p:nvPr/>
        </p:nvSpPr>
        <p:spPr>
          <a:xfrm>
            <a:off x="3252323" y="4672340"/>
            <a:ext cx="1244492" cy="180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None/>
              <a:defRPr sz="788"/>
            </a:pPr>
            <a:r>
              <a:rPr sz="788" b="1">
                <a:solidFill>
                  <a:schemeClr val="tx1"/>
                </a:solidFill>
                <a:latin typeface="Arial"/>
                <a:ea typeface="Arial"/>
                <a:cs typeface="Arial"/>
              </a:rPr>
              <a:t>Customer 2</a:t>
            </a:r>
          </a:p>
        </p:txBody>
      </p:sp>
      <p:sp>
        <p:nvSpPr>
          <p:cNvPr id="50" name="Rectangle 49">
            <a:extLst>
              <a:ext uri="{FF2B5EF4-FFF2-40B4-BE49-F238E27FC236}">
                <a16:creationId xmlns:a16="http://schemas.microsoft.com/office/drawing/2014/main" id="{A30C0905-F44E-1C4A-8F42-A7F3CEC90923}"/>
              </a:ext>
            </a:extLst>
          </p:cNvPr>
          <p:cNvSpPr>
            <a:spLocks noGrp="1"/>
          </p:cNvSpPr>
          <p:nvPr/>
        </p:nvSpPr>
        <p:spPr>
          <a:xfrm>
            <a:off x="3024694" y="4975857"/>
            <a:ext cx="180909" cy="180909"/>
          </a:xfrm>
          <a:prstGeom prst="rect">
            <a:avLst/>
          </a:prstGeom>
          <a:solidFill>
            <a:srgbClr val="9EB3C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bg1"/>
              </a:solidFill>
            </a:endParaRPr>
          </a:p>
        </p:txBody>
      </p:sp>
      <p:sp>
        <p:nvSpPr>
          <p:cNvPr id="51" name="Rectangle 50">
            <a:extLst>
              <a:ext uri="{FF2B5EF4-FFF2-40B4-BE49-F238E27FC236}">
                <a16:creationId xmlns:a16="http://schemas.microsoft.com/office/drawing/2014/main" id="{F330B435-B2CB-42C1-EDF2-C3B2154D17D1}"/>
              </a:ext>
            </a:extLst>
          </p:cNvPr>
          <p:cNvSpPr>
            <a:spLocks noGrp="1"/>
          </p:cNvSpPr>
          <p:nvPr/>
        </p:nvSpPr>
        <p:spPr>
          <a:xfrm>
            <a:off x="3252323" y="4975856"/>
            <a:ext cx="1244492" cy="180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None/>
              <a:defRPr sz="788"/>
            </a:pPr>
            <a:r>
              <a:rPr sz="788" b="1">
                <a:solidFill>
                  <a:schemeClr val="tx1"/>
                </a:solidFill>
                <a:latin typeface="Arial"/>
                <a:ea typeface="Arial"/>
                <a:cs typeface="Arial"/>
              </a:rPr>
              <a:t>Customer 3</a:t>
            </a:r>
          </a:p>
        </p:txBody>
      </p:sp>
      <p:sp>
        <p:nvSpPr>
          <p:cNvPr id="52" name="Rectangle 51">
            <a:extLst>
              <a:ext uri="{FF2B5EF4-FFF2-40B4-BE49-F238E27FC236}">
                <a16:creationId xmlns:a16="http://schemas.microsoft.com/office/drawing/2014/main" id="{0BF174AD-FC52-0E45-400D-251CC9A6E3A5}"/>
              </a:ext>
            </a:extLst>
          </p:cNvPr>
          <p:cNvSpPr>
            <a:spLocks noGrp="1"/>
          </p:cNvSpPr>
          <p:nvPr/>
        </p:nvSpPr>
        <p:spPr>
          <a:xfrm>
            <a:off x="3024694" y="5279373"/>
            <a:ext cx="180909" cy="180909"/>
          </a:xfrm>
          <a:prstGeom prst="rect">
            <a:avLst/>
          </a:prstGeom>
          <a:solidFill>
            <a:srgbClr val="9EBEB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bg1"/>
              </a:solidFill>
            </a:endParaRPr>
          </a:p>
        </p:txBody>
      </p:sp>
      <p:sp>
        <p:nvSpPr>
          <p:cNvPr id="53" name="Rectangle 52">
            <a:extLst>
              <a:ext uri="{FF2B5EF4-FFF2-40B4-BE49-F238E27FC236}">
                <a16:creationId xmlns:a16="http://schemas.microsoft.com/office/drawing/2014/main" id="{CC2ACA2E-5323-3F47-9A17-8A1A648A6A02}"/>
              </a:ext>
            </a:extLst>
          </p:cNvPr>
          <p:cNvSpPr>
            <a:spLocks noGrp="1"/>
          </p:cNvSpPr>
          <p:nvPr/>
        </p:nvSpPr>
        <p:spPr>
          <a:xfrm>
            <a:off x="3252323" y="5279372"/>
            <a:ext cx="1244492" cy="180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None/>
              <a:defRPr sz="788"/>
            </a:pPr>
            <a:r>
              <a:rPr sz="788" b="1">
                <a:solidFill>
                  <a:schemeClr val="tx1"/>
                </a:solidFill>
                <a:latin typeface="Arial"/>
                <a:ea typeface="Arial"/>
                <a:cs typeface="Arial"/>
              </a:rPr>
              <a:t>Customer 4</a:t>
            </a:r>
          </a:p>
        </p:txBody>
      </p:sp>
      <p:sp>
        <p:nvSpPr>
          <p:cNvPr id="54" name="Rectangle 53">
            <a:extLst>
              <a:ext uri="{FF2B5EF4-FFF2-40B4-BE49-F238E27FC236}">
                <a16:creationId xmlns:a16="http://schemas.microsoft.com/office/drawing/2014/main" id="{E7BDA88D-A916-ACF8-D960-8BDD0BB22231}"/>
              </a:ext>
            </a:extLst>
          </p:cNvPr>
          <p:cNvSpPr>
            <a:spLocks noGrp="1"/>
          </p:cNvSpPr>
          <p:nvPr/>
        </p:nvSpPr>
        <p:spPr>
          <a:xfrm>
            <a:off x="3024694" y="5582889"/>
            <a:ext cx="180909" cy="180909"/>
          </a:xfrm>
          <a:prstGeom prst="rect">
            <a:avLst/>
          </a:prstGeom>
          <a:solidFill>
            <a:srgbClr val="DFE6E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bg1"/>
              </a:solidFill>
            </a:endParaRPr>
          </a:p>
        </p:txBody>
      </p:sp>
      <p:sp>
        <p:nvSpPr>
          <p:cNvPr id="55" name="Rectangle 54">
            <a:extLst>
              <a:ext uri="{FF2B5EF4-FFF2-40B4-BE49-F238E27FC236}">
                <a16:creationId xmlns:a16="http://schemas.microsoft.com/office/drawing/2014/main" id="{CD5133A0-2789-F413-76D1-8246BB02BE19}"/>
              </a:ext>
            </a:extLst>
          </p:cNvPr>
          <p:cNvSpPr>
            <a:spLocks noGrp="1"/>
          </p:cNvSpPr>
          <p:nvPr/>
        </p:nvSpPr>
        <p:spPr>
          <a:xfrm>
            <a:off x="3252323" y="5582888"/>
            <a:ext cx="1244492" cy="180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None/>
              <a:defRPr sz="788"/>
            </a:pPr>
            <a:r>
              <a:rPr sz="788" b="1">
                <a:solidFill>
                  <a:schemeClr val="tx1"/>
                </a:solidFill>
                <a:latin typeface="Arial"/>
                <a:ea typeface="Arial"/>
                <a:cs typeface="Arial"/>
              </a:rPr>
              <a:t>Customer 5</a:t>
            </a:r>
          </a:p>
        </p:txBody>
      </p:sp>
      <p:sp>
        <p:nvSpPr>
          <p:cNvPr id="56" name="Rectangle 55">
            <a:extLst>
              <a:ext uri="{FF2B5EF4-FFF2-40B4-BE49-F238E27FC236}">
                <a16:creationId xmlns:a16="http://schemas.microsoft.com/office/drawing/2014/main" id="{246F1CA6-F1D0-41DB-85CF-BC1243DEB5D8}"/>
              </a:ext>
            </a:extLst>
          </p:cNvPr>
          <p:cNvSpPr>
            <a:spLocks noGrp="1"/>
          </p:cNvSpPr>
          <p:nvPr/>
        </p:nvSpPr>
        <p:spPr>
          <a:xfrm>
            <a:off x="3024694" y="5886405"/>
            <a:ext cx="180909" cy="180909"/>
          </a:xfrm>
          <a:prstGeom prst="rect">
            <a:avLst/>
          </a:prstGeom>
          <a:solidFill>
            <a:srgbClr val="ECF2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bg1"/>
              </a:solidFill>
            </a:endParaRPr>
          </a:p>
        </p:txBody>
      </p:sp>
      <p:sp>
        <p:nvSpPr>
          <p:cNvPr id="57" name="Rectangle 56">
            <a:extLst>
              <a:ext uri="{FF2B5EF4-FFF2-40B4-BE49-F238E27FC236}">
                <a16:creationId xmlns:a16="http://schemas.microsoft.com/office/drawing/2014/main" id="{A24EF06F-126F-4AE2-1067-D7EC92EB1087}"/>
              </a:ext>
            </a:extLst>
          </p:cNvPr>
          <p:cNvSpPr>
            <a:spLocks noGrp="1"/>
          </p:cNvSpPr>
          <p:nvPr/>
        </p:nvSpPr>
        <p:spPr>
          <a:xfrm>
            <a:off x="3252323" y="5886404"/>
            <a:ext cx="1244492" cy="180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None/>
              <a:defRPr sz="788"/>
            </a:pPr>
            <a:r>
              <a:rPr sz="788" b="1">
                <a:solidFill>
                  <a:schemeClr val="tx1"/>
                </a:solidFill>
                <a:latin typeface="Arial"/>
                <a:ea typeface="Arial"/>
                <a:cs typeface="Arial"/>
              </a:rPr>
              <a:t>All Other Customers</a:t>
            </a:r>
          </a:p>
        </p:txBody>
      </p:sp>
      <p:graphicFrame>
        <p:nvGraphicFramePr>
          <p:cNvPr id="90" name="Table 24"/>
          <p:cNvGraphicFramePr/>
          <p:nvPr/>
        </p:nvGraphicFramePr>
        <p:xfrm>
          <a:off x="228599" y="1568020"/>
          <a:ext cx="8680207" cy="2190750"/>
        </p:xfrm>
        <a:graphic>
          <a:graphicData uri="http://schemas.openxmlformats.org/drawingml/2006/table">
            <a:tbl>
              <a:tblPr firstRow="1" bandRow="1">
                <a:tableStyleId>{5C22544A-7EE6-4342-B048-85BDC9FD1C3A}</a:tableStyleId>
              </a:tblPr>
              <a:tblGrid>
                <a:gridCol w="942175">
                  <a:extLst>
                    <a:ext uri="{9D8B030D-6E8A-4147-A177-3AD203B41FA5}">
                      <a16:colId xmlns:a16="http://schemas.microsoft.com/office/drawing/2014/main" val="20000"/>
                    </a:ext>
                  </a:extLst>
                </a:gridCol>
                <a:gridCol w="1751888">
                  <a:extLst>
                    <a:ext uri="{9D8B030D-6E8A-4147-A177-3AD203B41FA5}">
                      <a16:colId xmlns:a16="http://schemas.microsoft.com/office/drawing/2014/main" val="20001"/>
                    </a:ext>
                  </a:extLst>
                </a:gridCol>
                <a:gridCol w="1496536">
                  <a:extLst>
                    <a:ext uri="{9D8B030D-6E8A-4147-A177-3AD203B41FA5}">
                      <a16:colId xmlns:a16="http://schemas.microsoft.com/office/drawing/2014/main" val="20002"/>
                    </a:ext>
                  </a:extLst>
                </a:gridCol>
                <a:gridCol w="1496536">
                  <a:extLst>
                    <a:ext uri="{9D8B030D-6E8A-4147-A177-3AD203B41FA5}">
                      <a16:colId xmlns:a16="http://schemas.microsoft.com/office/drawing/2014/main" val="20003"/>
                    </a:ext>
                  </a:extLst>
                </a:gridCol>
                <a:gridCol w="1496536">
                  <a:extLst>
                    <a:ext uri="{9D8B030D-6E8A-4147-A177-3AD203B41FA5}">
                      <a16:colId xmlns:a16="http://schemas.microsoft.com/office/drawing/2014/main" val="20004"/>
                    </a:ext>
                  </a:extLst>
                </a:gridCol>
                <a:gridCol w="1496536">
                  <a:extLst>
                    <a:ext uri="{9D8B030D-6E8A-4147-A177-3AD203B41FA5}">
                      <a16:colId xmlns:a16="http://schemas.microsoft.com/office/drawing/2014/main" val="20005"/>
                    </a:ext>
                  </a:extLst>
                </a:gridCol>
              </a:tblGrid>
              <a:tr h="361950">
                <a:tc>
                  <a:txBody>
                    <a:bodyPr/>
                    <a:lstStyle/>
                    <a:p>
                      <a:pPr algn="ctr">
                        <a:buNone/>
                      </a:pPr>
                      <a:r>
                        <a:rPr sz="885" b="1">
                          <a:solidFill>
                            <a:srgbClr val="333333"/>
                          </a:solidFill>
                          <a:latin typeface="Arial"/>
                          <a:ea typeface="Arial"/>
                          <a:cs typeface="Arial"/>
                        </a:rPr>
                        <a:t>Business</a:t>
                      </a:r>
                    </a:p>
                    <a:p>
                      <a:pPr algn="ctr">
                        <a:buNone/>
                      </a:pPr>
                      <a:r>
                        <a:rPr sz="885" b="1">
                          <a:solidFill>
                            <a:srgbClr val="333333"/>
                          </a:solidFill>
                          <a:latin typeface="Arial"/>
                          <a:ea typeface="Arial"/>
                          <a:cs typeface="Arial"/>
                        </a:rPr>
                        <a:t>Line</a:t>
                      </a:r>
                    </a:p>
                  </a:txBody>
                  <a:tcPr anchor="ctr">
                    <a:lnL w="6350" cmpd="sng">
                      <a:solidFill>
                        <a:schemeClr val="tx1"/>
                      </a:solidFill>
                      <a:prstDash val="solid"/>
                    </a:lnL>
                    <a:lnR w="6350" cmpd="sng">
                      <a:solidFill>
                        <a:schemeClr val="bg1">
                          <a:lumMod val="75000"/>
                        </a:schemeClr>
                      </a:solidFill>
                      <a:prstDash val="solid"/>
                    </a:lnR>
                    <a:lnT w="6350" cmpd="sng">
                      <a:solidFill>
                        <a:schemeClr val="tx1"/>
                      </a:solidFill>
                      <a:prstDash val="solid"/>
                    </a:lnT>
                    <a:lnB w="6350" cmpd="sng">
                      <a:solidFill>
                        <a:schemeClr val="tx1"/>
                      </a:solidFill>
                      <a:prstDash val="solid"/>
                    </a:lnB>
                    <a:lnTlToBr w="12700" cmpd="sng">
                      <a:noFill/>
                      <a:prstDash val="solid"/>
                    </a:lnTlToBr>
                    <a:lnBlToTr w="12700" cmpd="sng">
                      <a:noFill/>
                      <a:prstDash val="solid"/>
                    </a:lnBlToTr>
                    <a:solidFill>
                      <a:srgbClr val="C5D8D1"/>
                    </a:solidFill>
                  </a:tcPr>
                </a:tc>
                <a:tc>
                  <a:txBody>
                    <a:bodyPr/>
                    <a:lstStyle/>
                    <a:p>
                      <a:pPr algn="ctr">
                        <a:buNone/>
                      </a:pPr>
                      <a:r>
                        <a:rPr sz="885" b="1">
                          <a:solidFill>
                            <a:srgbClr val="333333"/>
                          </a:solidFill>
                          <a:latin typeface="Arial"/>
                          <a:ea typeface="Arial"/>
                          <a:cs typeface="Arial"/>
                        </a:rPr>
                        <a:t>Description</a:t>
                      </a:r>
                    </a:p>
                  </a:txBody>
                  <a:tcPr anchor="ctr">
                    <a:lnL w="6350" cmpd="sng">
                      <a:solidFill>
                        <a:schemeClr val="bg1">
                          <a:lumMod val="75000"/>
                        </a:schemeClr>
                      </a:solidFill>
                      <a:prstDash val="solid"/>
                    </a:lnL>
                    <a:lnR w="6350" cmpd="sng">
                      <a:solidFill>
                        <a:schemeClr val="bg1">
                          <a:lumMod val="75000"/>
                        </a:schemeClr>
                      </a:solidFill>
                      <a:prstDash val="solid"/>
                    </a:lnR>
                    <a:lnT w="6350" cmpd="sng">
                      <a:solidFill>
                        <a:schemeClr val="tx1"/>
                      </a:solidFill>
                      <a:prstDash val="solid"/>
                    </a:lnT>
                    <a:lnB w="6350" cmpd="sng">
                      <a:solidFill>
                        <a:schemeClr val="tx1"/>
                      </a:solidFill>
                      <a:prstDash val="solid"/>
                    </a:lnB>
                    <a:lnTlToBr w="12700" cmpd="sng">
                      <a:noFill/>
                      <a:prstDash val="solid"/>
                    </a:lnTlToBr>
                    <a:lnBlToTr w="12700" cmpd="sng">
                      <a:noFill/>
                      <a:prstDash val="solid"/>
                    </a:lnBlToTr>
                    <a:solidFill>
                      <a:srgbClr val="C5D8D1"/>
                    </a:solidFill>
                  </a:tcPr>
                </a:tc>
                <a:tc>
                  <a:txBody>
                    <a:bodyPr/>
                    <a:lstStyle/>
                    <a:p>
                      <a:pPr algn="ctr">
                        <a:buNone/>
                      </a:pPr>
                      <a:r>
                        <a:rPr sz="885" b="1">
                          <a:solidFill>
                            <a:srgbClr val="333333"/>
                          </a:solidFill>
                          <a:latin typeface="Arial"/>
                          <a:ea typeface="Arial"/>
                          <a:cs typeface="Arial"/>
                        </a:rPr>
                        <a:t>Standard Contract</a:t>
                      </a:r>
                    </a:p>
                    <a:p>
                      <a:pPr algn="ctr">
                        <a:buNone/>
                      </a:pPr>
                      <a:r>
                        <a:rPr sz="885" b="1">
                          <a:solidFill>
                            <a:srgbClr val="333333"/>
                          </a:solidFill>
                          <a:latin typeface="Arial"/>
                          <a:ea typeface="Arial"/>
                          <a:cs typeface="Arial"/>
                        </a:rPr>
                        <a:t>Terms</a:t>
                      </a:r>
                    </a:p>
                  </a:txBody>
                  <a:tcPr anchor="ctr">
                    <a:lnL w="6350" cmpd="sng">
                      <a:solidFill>
                        <a:schemeClr val="bg1">
                          <a:lumMod val="75000"/>
                        </a:schemeClr>
                      </a:solidFill>
                      <a:prstDash val="solid"/>
                    </a:lnL>
                    <a:lnR w="6350" cmpd="sng">
                      <a:solidFill>
                        <a:schemeClr val="bg1">
                          <a:lumMod val="75000"/>
                        </a:schemeClr>
                      </a:solidFill>
                      <a:prstDash val="solid"/>
                    </a:lnR>
                    <a:lnT w="6350" cmpd="sng">
                      <a:solidFill>
                        <a:schemeClr val="tx1"/>
                      </a:solidFill>
                      <a:prstDash val="solid"/>
                    </a:lnT>
                    <a:lnB w="6350" cmpd="sng">
                      <a:solidFill>
                        <a:schemeClr val="tx1"/>
                      </a:solidFill>
                      <a:prstDash val="solid"/>
                    </a:lnB>
                    <a:lnTlToBr w="12700" cmpd="sng">
                      <a:noFill/>
                      <a:prstDash val="solid"/>
                    </a:lnTlToBr>
                    <a:lnBlToTr w="12700" cmpd="sng">
                      <a:noFill/>
                      <a:prstDash val="solid"/>
                    </a:lnBlToTr>
                    <a:solidFill>
                      <a:srgbClr val="C5D8D1"/>
                    </a:solidFill>
                  </a:tcPr>
                </a:tc>
                <a:tc>
                  <a:txBody>
                    <a:bodyPr/>
                    <a:lstStyle/>
                    <a:p>
                      <a:pPr algn="ctr">
                        <a:buNone/>
                      </a:pPr>
                      <a:r>
                        <a:rPr sz="885" b="1">
                          <a:solidFill>
                            <a:srgbClr val="333333"/>
                          </a:solidFill>
                          <a:latin typeface="Arial"/>
                          <a:ea typeface="Arial"/>
                          <a:cs typeface="Arial"/>
                        </a:rPr>
                        <a:t>Top Products / Services</a:t>
                      </a:r>
                    </a:p>
                  </a:txBody>
                  <a:tcPr anchor="ctr">
                    <a:lnL w="6350" cmpd="sng">
                      <a:solidFill>
                        <a:schemeClr val="bg1">
                          <a:lumMod val="75000"/>
                        </a:schemeClr>
                      </a:solidFill>
                      <a:prstDash val="solid"/>
                    </a:lnL>
                    <a:lnR w="6350" cmpd="sng">
                      <a:solidFill>
                        <a:schemeClr val="bg1">
                          <a:lumMod val="75000"/>
                        </a:schemeClr>
                      </a:solidFill>
                      <a:prstDash val="solid"/>
                    </a:lnR>
                    <a:lnT w="6350" cmpd="sng">
                      <a:solidFill>
                        <a:schemeClr val="tx1"/>
                      </a:solidFill>
                      <a:prstDash val="solid"/>
                    </a:lnT>
                    <a:lnB w="6350" cmpd="sng">
                      <a:solidFill>
                        <a:schemeClr val="tx1"/>
                      </a:solidFill>
                      <a:prstDash val="solid"/>
                    </a:lnB>
                    <a:lnTlToBr w="12700" cmpd="sng">
                      <a:noFill/>
                      <a:prstDash val="solid"/>
                    </a:lnTlToBr>
                    <a:lnBlToTr w="12700" cmpd="sng">
                      <a:noFill/>
                      <a:prstDash val="solid"/>
                    </a:lnBlToTr>
                    <a:solidFill>
                      <a:srgbClr val="C5D8D1"/>
                    </a:solidFill>
                  </a:tcPr>
                </a:tc>
                <a:tc>
                  <a:txBody>
                    <a:bodyPr/>
                    <a:lstStyle/>
                    <a:p>
                      <a:pPr algn="ctr">
                        <a:buNone/>
                      </a:pPr>
                      <a:r>
                        <a:rPr sz="885" b="1">
                          <a:solidFill>
                            <a:srgbClr val="333333"/>
                          </a:solidFill>
                          <a:latin typeface="Arial"/>
                          <a:ea typeface="Arial"/>
                          <a:cs typeface="Arial"/>
                        </a:rPr>
                        <a:t>Top Customers</a:t>
                      </a:r>
                    </a:p>
                  </a:txBody>
                  <a:tcPr anchor="ctr">
                    <a:lnL w="6350" cmpd="sng">
                      <a:solidFill>
                        <a:schemeClr val="bg1">
                          <a:lumMod val="75000"/>
                        </a:schemeClr>
                      </a:solidFill>
                      <a:prstDash val="solid"/>
                    </a:lnL>
                    <a:lnR w="6350" cmpd="sng">
                      <a:solidFill>
                        <a:schemeClr val="bg1">
                          <a:lumMod val="75000"/>
                        </a:schemeClr>
                      </a:solidFill>
                      <a:prstDash val="solid"/>
                    </a:lnR>
                    <a:lnT w="6350" cmpd="sng">
                      <a:solidFill>
                        <a:schemeClr val="tx1"/>
                      </a:solidFill>
                      <a:prstDash val="solid"/>
                    </a:lnT>
                    <a:lnB w="6350" cmpd="sng">
                      <a:solidFill>
                        <a:schemeClr val="tx1"/>
                      </a:solidFill>
                      <a:prstDash val="solid"/>
                    </a:lnB>
                    <a:lnTlToBr w="12700" cmpd="sng">
                      <a:noFill/>
                      <a:prstDash val="solid"/>
                    </a:lnTlToBr>
                    <a:lnBlToTr w="12700" cmpd="sng">
                      <a:noFill/>
                      <a:prstDash val="solid"/>
                    </a:lnBlToTr>
                    <a:solidFill>
                      <a:srgbClr val="C5D8D1"/>
                    </a:solidFill>
                  </a:tcPr>
                </a:tc>
                <a:tc>
                  <a:txBody>
                    <a:bodyPr/>
                    <a:lstStyle/>
                    <a:p>
                      <a:pPr algn="ctr">
                        <a:buNone/>
                      </a:pPr>
                      <a:r>
                        <a:rPr sz="885" b="1">
                          <a:solidFill>
                            <a:srgbClr val="333333"/>
                          </a:solidFill>
                          <a:latin typeface="Arial"/>
                          <a:ea typeface="Arial"/>
                          <a:cs typeface="Arial"/>
                        </a:rPr>
                        <a:t>Revenue Growth &amp;</a:t>
                      </a:r>
                    </a:p>
                    <a:p>
                      <a:pPr algn="ctr">
                        <a:buNone/>
                      </a:pPr>
                      <a:r>
                        <a:rPr sz="885" b="1">
                          <a:solidFill>
                            <a:srgbClr val="333333"/>
                          </a:solidFill>
                          <a:latin typeface="Arial"/>
                          <a:ea typeface="Arial"/>
                          <a:cs typeface="Arial"/>
                        </a:rPr>
                        <a:t>Drivers</a:t>
                      </a:r>
                    </a:p>
                  </a:txBody>
                  <a:tcPr anchor="ctr">
                    <a:lnL w="6350" cmpd="sng">
                      <a:solidFill>
                        <a:schemeClr val="bg1">
                          <a:lumMod val="75000"/>
                        </a:schemeClr>
                      </a:solidFill>
                      <a:prstDash val="solid"/>
                    </a:lnL>
                    <a:lnR w="6350" cmpd="sng">
                      <a:solidFill>
                        <a:schemeClr val="tx1"/>
                      </a:solidFill>
                      <a:prstDash val="solid"/>
                    </a:lnR>
                    <a:lnT w="6350" cmpd="sng">
                      <a:solidFill>
                        <a:schemeClr val="tx1"/>
                      </a:solidFill>
                      <a:prstDash val="solid"/>
                    </a:lnT>
                    <a:lnB w="6350" cmpd="sng">
                      <a:solidFill>
                        <a:schemeClr val="tx1"/>
                      </a:solidFill>
                      <a:prstDash val="solid"/>
                    </a:lnB>
                    <a:lnTlToBr w="12700" cmpd="sng">
                      <a:noFill/>
                      <a:prstDash val="solid"/>
                    </a:lnTlToBr>
                    <a:lnBlToTr w="12700" cmpd="sng">
                      <a:noFill/>
                      <a:prstDash val="solid"/>
                    </a:lnBlToTr>
                    <a:solidFill>
                      <a:srgbClr val="C5D8D1"/>
                    </a:solidFill>
                  </a:tcPr>
                </a:tc>
                <a:extLst>
                  <a:ext uri="{0D108BD9-81ED-4DB2-BD59-A6C34878D82A}">
                    <a16:rowId xmlns:a16="http://schemas.microsoft.com/office/drawing/2014/main" val="10000"/>
                  </a:ext>
                </a:extLst>
              </a:tr>
              <a:tr h="609600">
                <a:tc>
                  <a:txBody>
                    <a:bodyPr/>
                    <a:lstStyle/>
                    <a:p>
                      <a:pPr algn="ctr">
                        <a:buNone/>
                      </a:pPr>
                      <a:r>
                        <a:rPr sz="885" b="0">
                          <a:solidFill>
                            <a:srgbClr val="333333"/>
                          </a:solidFill>
                          <a:latin typeface="Arial"/>
                          <a:ea typeface="Arial"/>
                          <a:cs typeface="Arial"/>
                        </a:rPr>
                        <a:t>Business Line</a:t>
                      </a:r>
                    </a:p>
                    <a:p>
                      <a:pPr algn="ctr">
                        <a:buNone/>
                      </a:pPr>
                      <a:r>
                        <a:rPr sz="885" b="0">
                          <a:solidFill>
                            <a:srgbClr val="333333"/>
                          </a:solidFill>
                          <a:latin typeface="Arial"/>
                          <a:ea typeface="Arial"/>
                          <a:cs typeface="Arial"/>
                        </a:rPr>
                        <a:t>A</a:t>
                      </a:r>
                    </a:p>
                  </a:txBody>
                  <a:tcPr anchor="ctr">
                    <a:lnL w="6350" cmpd="sng">
                      <a:solidFill>
                        <a:schemeClr val="tx1"/>
                      </a:solidFill>
                      <a:prstDash val="solid"/>
                    </a:lnL>
                    <a:lnR w="6350" cmpd="sng">
                      <a:solidFill>
                        <a:schemeClr val="bg1">
                          <a:lumMod val="75000"/>
                        </a:schemeClr>
                      </a:solidFill>
                      <a:prstDash val="solid"/>
                    </a:lnR>
                    <a:lnT w="6350" cmpd="sng">
                      <a:solidFill>
                        <a:schemeClr val="tx1"/>
                      </a:solidFill>
                      <a:prstDash val="solid"/>
                    </a:lnT>
                    <a:lnB w="6350" cmpd="sng">
                      <a:solidFill>
                        <a:schemeClr val="bg1">
                          <a:lumMod val="75000"/>
                        </a:schemeClr>
                      </a:solidFill>
                      <a:prstDash val="solid"/>
                    </a:lnB>
                    <a:lnTlToBr w="12700" cmpd="sng">
                      <a:noFill/>
                      <a:prstDash val="solid"/>
                    </a:lnTlToBr>
                    <a:lnBlToTr w="12700" cmpd="sng">
                      <a:noFill/>
                      <a:prstDash val="solid"/>
                    </a:lnBlToTr>
                    <a:noFill/>
                  </a:tcPr>
                </a:tc>
                <a:tc>
                  <a:txBody>
                    <a:bodyPr/>
                    <a:lstStyle/>
                    <a:p>
                      <a:pPr algn="ctr">
                        <a:buNone/>
                      </a:pPr>
                      <a:r>
                        <a:rPr sz="885" b="0">
                          <a:solidFill>
                            <a:srgbClr val="333333"/>
                          </a:solidFill>
                          <a:latin typeface="Arial"/>
                          <a:ea typeface="Arial"/>
                          <a:cs typeface="Arial"/>
                        </a:rPr>
                        <a:t>[Description]</a:t>
                      </a:r>
                    </a:p>
                  </a:txBody>
                  <a:tcPr anchor="ctr">
                    <a:lnL w="6350" cmpd="sng">
                      <a:solidFill>
                        <a:schemeClr val="bg1">
                          <a:lumMod val="75000"/>
                        </a:schemeClr>
                      </a:solidFill>
                      <a:prstDash val="solid"/>
                    </a:lnL>
                    <a:lnR w="6350" cmpd="sng">
                      <a:solidFill>
                        <a:schemeClr val="bg1">
                          <a:lumMod val="75000"/>
                        </a:schemeClr>
                      </a:solidFill>
                      <a:prstDash val="solid"/>
                    </a:lnR>
                    <a:lnT w="6350" cmpd="sng">
                      <a:solidFill>
                        <a:schemeClr val="tx1"/>
                      </a:solidFill>
                      <a:prstDash val="solid"/>
                    </a:lnT>
                    <a:lnB w="6350" cmpd="sng">
                      <a:solidFill>
                        <a:schemeClr val="bg1">
                          <a:lumMod val="75000"/>
                        </a:schemeClr>
                      </a:solidFill>
                      <a:prstDash val="solid"/>
                    </a:lnB>
                    <a:lnTlToBr w="12700" cmpd="sng">
                      <a:noFill/>
                      <a:prstDash val="solid"/>
                    </a:lnTlToBr>
                    <a:lnBlToTr w="12700" cmpd="sng">
                      <a:noFill/>
                      <a:prstDash val="solid"/>
                    </a:lnBlToTr>
                    <a:noFill/>
                  </a:tcPr>
                </a:tc>
                <a:tc>
                  <a:txBody>
                    <a:bodyPr/>
                    <a:lstStyle/>
                    <a:p>
                      <a:pPr marL="0" marR="0" lvl="0" indent="0" algn="ctr" defTabSz="914400">
                        <a:lnSpc>
                          <a:spcPct val="100000"/>
                        </a:lnSpc>
                        <a:spcBef>
                          <a:spcPts val="0"/>
                        </a:spcBef>
                        <a:spcAft>
                          <a:spcPts val="0"/>
                        </a:spcAft>
                        <a:buClrTx/>
                        <a:buSzTx/>
                        <a:buFontTx/>
                        <a:buNone/>
                      </a:pPr>
                      <a:r>
                        <a:rPr sz="885" b="0" i="0" u="none" cap="none">
                          <a:ln>
                            <a:noFill/>
                          </a:ln>
                          <a:solidFill>
                            <a:srgbClr val="333333"/>
                          </a:solidFill>
                          <a:latin typeface="Arial"/>
                          <a:ea typeface="Arial"/>
                          <a:cs typeface="Arial"/>
                        </a:rPr>
                        <a:t>[ ] years</a:t>
                      </a:r>
                    </a:p>
                    <a:p>
                      <a:pPr marL="0" marR="0" lvl="0" indent="0" algn="ctr" defTabSz="914400">
                        <a:lnSpc>
                          <a:spcPct val="100000"/>
                        </a:lnSpc>
                        <a:spcBef>
                          <a:spcPts val="0"/>
                        </a:spcBef>
                        <a:spcAft>
                          <a:spcPts val="0"/>
                        </a:spcAft>
                        <a:buClrTx/>
                        <a:buSzTx/>
                        <a:buFontTx/>
                        <a:buNone/>
                      </a:pPr>
                      <a:r>
                        <a:rPr sz="885" b="0" i="0" u="none" cap="none">
                          <a:ln>
                            <a:noFill/>
                          </a:ln>
                          <a:solidFill>
                            <a:srgbClr val="333333"/>
                          </a:solidFill>
                          <a:latin typeface="Arial"/>
                          <a:ea typeface="Arial"/>
                          <a:cs typeface="Arial"/>
                        </a:rPr>
                        <a:t>[Key terms]</a:t>
                      </a:r>
                    </a:p>
                  </a:txBody>
                  <a:tcPr anchor="ctr">
                    <a:lnL w="6350" cmpd="sng">
                      <a:solidFill>
                        <a:schemeClr val="bg1">
                          <a:lumMod val="75000"/>
                        </a:schemeClr>
                      </a:solidFill>
                      <a:prstDash val="solid"/>
                    </a:lnL>
                    <a:lnR w="6350" cmpd="sng">
                      <a:solidFill>
                        <a:schemeClr val="bg1">
                          <a:lumMod val="75000"/>
                        </a:schemeClr>
                      </a:solidFill>
                      <a:prstDash val="solid"/>
                    </a:lnR>
                    <a:lnT w="6350" cmpd="sng">
                      <a:solidFill>
                        <a:schemeClr val="tx1"/>
                      </a:solidFill>
                      <a:prstDash val="solid"/>
                    </a:lnT>
                    <a:lnB w="6350" cmpd="sng">
                      <a:solidFill>
                        <a:schemeClr val="bg1">
                          <a:lumMod val="75000"/>
                        </a:schemeClr>
                      </a:solidFill>
                      <a:prstDash val="solid"/>
                    </a:lnB>
                    <a:lnTlToBr w="12700" cmpd="sng">
                      <a:noFill/>
                      <a:prstDash val="solid"/>
                    </a:lnTlToBr>
                    <a:lnBlToTr w="12700" cmpd="sng">
                      <a:noFill/>
                      <a:prstDash val="solid"/>
                    </a:lnBlToTr>
                    <a:noFill/>
                  </a:tcPr>
                </a:tc>
                <a:tc>
                  <a:txBody>
                    <a:bodyPr/>
                    <a:lstStyle/>
                    <a:p>
                      <a:pPr algn="ctr">
                        <a:buNone/>
                      </a:pPr>
                      <a:r>
                        <a:rPr sz="885" b="0">
                          <a:solidFill>
                            <a:srgbClr val="333333"/>
                          </a:solidFill>
                          <a:latin typeface="Arial"/>
                          <a:ea typeface="Arial"/>
                          <a:cs typeface="Arial"/>
                        </a:rPr>
                        <a:t>[Products / services]</a:t>
                      </a:r>
                    </a:p>
                  </a:txBody>
                  <a:tcPr anchor="ctr">
                    <a:lnL w="6350" cmpd="sng">
                      <a:solidFill>
                        <a:schemeClr val="bg1">
                          <a:lumMod val="75000"/>
                        </a:schemeClr>
                      </a:solidFill>
                      <a:prstDash val="solid"/>
                    </a:lnL>
                    <a:lnR w="6350" cmpd="sng">
                      <a:solidFill>
                        <a:schemeClr val="bg1">
                          <a:lumMod val="75000"/>
                        </a:schemeClr>
                      </a:solidFill>
                      <a:prstDash val="solid"/>
                    </a:lnR>
                    <a:lnT w="6350" cmpd="sng">
                      <a:solidFill>
                        <a:schemeClr val="tx1"/>
                      </a:solidFill>
                      <a:prstDash val="solid"/>
                    </a:lnT>
                    <a:lnB w="6350" cmpd="sng">
                      <a:solidFill>
                        <a:schemeClr val="bg1">
                          <a:lumMod val="75000"/>
                        </a:schemeClr>
                      </a:solidFill>
                      <a:prstDash val="solid"/>
                    </a:lnB>
                    <a:lnTlToBr w="12700" cmpd="sng">
                      <a:noFill/>
                      <a:prstDash val="solid"/>
                    </a:lnTlToBr>
                    <a:lnBlToTr w="12700" cmpd="sng">
                      <a:noFill/>
                      <a:prstDash val="solid"/>
                    </a:lnBlToTr>
                    <a:noFill/>
                  </a:tcPr>
                </a:tc>
                <a:tc>
                  <a:txBody>
                    <a:bodyPr/>
                    <a:lstStyle/>
                    <a:p>
                      <a:pPr algn="ctr">
                        <a:buNone/>
                      </a:pPr>
                      <a:r>
                        <a:rPr sz="885" b="0" i="0" u="none" cap="none">
                          <a:ln>
                            <a:noFill/>
                          </a:ln>
                          <a:solidFill>
                            <a:srgbClr val="333333"/>
                          </a:solidFill>
                          <a:latin typeface="Arial"/>
                          <a:ea typeface="Arial"/>
                          <a:cs typeface="Arial"/>
                        </a:rPr>
                        <a:t>[Customers]</a:t>
                      </a:r>
                      <a:endParaRPr sz="900">
                        <a:solidFill>
                          <a:schemeClr val="tx1"/>
                        </a:solidFill>
                        <a:latin typeface="Arial"/>
                        <a:ea typeface="Arial"/>
                        <a:cs typeface="Arial"/>
                      </a:endParaRPr>
                    </a:p>
                  </a:txBody>
                  <a:tcPr anchor="ctr">
                    <a:lnL w="6350" cmpd="sng">
                      <a:solidFill>
                        <a:schemeClr val="bg1">
                          <a:lumMod val="75000"/>
                        </a:schemeClr>
                      </a:solidFill>
                      <a:prstDash val="solid"/>
                    </a:lnL>
                    <a:lnR w="6350" cmpd="sng">
                      <a:solidFill>
                        <a:schemeClr val="bg1">
                          <a:lumMod val="75000"/>
                        </a:schemeClr>
                      </a:solidFill>
                      <a:prstDash val="solid"/>
                    </a:lnR>
                    <a:lnT w="6350" cmpd="sng">
                      <a:solidFill>
                        <a:schemeClr val="tx1"/>
                      </a:solidFill>
                      <a:prstDash val="solid"/>
                    </a:lnT>
                    <a:lnB w="6350" cmpd="sng">
                      <a:solidFill>
                        <a:schemeClr val="bg1">
                          <a:lumMod val="75000"/>
                        </a:schemeClr>
                      </a:solidFill>
                      <a:prstDash val="solid"/>
                    </a:lnB>
                    <a:lnTlToBr w="12700" cmpd="sng">
                      <a:noFill/>
                      <a:prstDash val="solid"/>
                    </a:lnTlToBr>
                    <a:lnBlToTr w="12700" cmpd="sng">
                      <a:noFill/>
                      <a:prstDash val="solid"/>
                    </a:lnBlToTr>
                    <a:noFill/>
                  </a:tcPr>
                </a:tc>
                <a:tc>
                  <a:txBody>
                    <a:bodyPr/>
                    <a:lstStyle/>
                    <a:p>
                      <a:pPr algn="ctr">
                        <a:buNone/>
                      </a:pPr>
                      <a:r>
                        <a:rPr sz="885" b="0">
                          <a:solidFill>
                            <a:srgbClr val="333333"/>
                          </a:solidFill>
                          <a:latin typeface="Arial"/>
                          <a:ea typeface="Arial"/>
                          <a:cs typeface="Arial"/>
                        </a:rPr>
                        <a:t>[ ]% growth</a:t>
                      </a:r>
                    </a:p>
                    <a:p>
                      <a:pPr algn="ctr">
                        <a:buNone/>
                      </a:pPr>
                      <a:r>
                        <a:rPr sz="885" b="0">
                          <a:solidFill>
                            <a:srgbClr val="333333"/>
                          </a:solidFill>
                          <a:latin typeface="Arial"/>
                          <a:ea typeface="Arial"/>
                          <a:cs typeface="Arial"/>
                        </a:rPr>
                        <a:t>[Key driver A]</a:t>
                      </a:r>
                    </a:p>
                    <a:p>
                      <a:pPr algn="ctr">
                        <a:buNone/>
                      </a:pPr>
                      <a:r>
                        <a:rPr sz="885" b="0">
                          <a:solidFill>
                            <a:srgbClr val="333333"/>
                          </a:solidFill>
                          <a:latin typeface="Arial"/>
                          <a:ea typeface="Arial"/>
                          <a:cs typeface="Arial"/>
                        </a:rPr>
                        <a:t>[Key driver B]</a:t>
                      </a:r>
                    </a:p>
                  </a:txBody>
                  <a:tcPr anchor="ctr">
                    <a:lnL w="6350" cmpd="sng">
                      <a:solidFill>
                        <a:schemeClr val="bg1">
                          <a:lumMod val="75000"/>
                        </a:schemeClr>
                      </a:solidFill>
                      <a:prstDash val="solid"/>
                    </a:lnL>
                    <a:lnR w="6350" cmpd="sng">
                      <a:solidFill>
                        <a:schemeClr val="tx1"/>
                      </a:solidFill>
                      <a:prstDash val="solid"/>
                    </a:lnR>
                    <a:lnT w="6350" cmpd="sng">
                      <a:solidFill>
                        <a:schemeClr val="tx1"/>
                      </a:solidFill>
                      <a:prstDash val="solid"/>
                    </a:lnT>
                    <a:lnB w="6350" cmpd="sng">
                      <a:solidFill>
                        <a:schemeClr val="bg1">
                          <a:lumMod val="75000"/>
                        </a:schemeClr>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609600">
                <a:tc>
                  <a:txBody>
                    <a:bodyPr/>
                    <a:lstStyle/>
                    <a:p>
                      <a:pPr algn="ctr">
                        <a:buNone/>
                      </a:pPr>
                      <a:r>
                        <a:rPr sz="885" b="0">
                          <a:solidFill>
                            <a:srgbClr val="333333"/>
                          </a:solidFill>
                          <a:latin typeface="Arial"/>
                          <a:ea typeface="Arial"/>
                          <a:cs typeface="Arial"/>
                        </a:rPr>
                        <a:t>Business Line</a:t>
                      </a:r>
                    </a:p>
                    <a:p>
                      <a:pPr algn="ctr">
                        <a:buNone/>
                      </a:pPr>
                      <a:r>
                        <a:rPr sz="885" b="0">
                          <a:solidFill>
                            <a:srgbClr val="333333"/>
                          </a:solidFill>
                          <a:latin typeface="Arial"/>
                          <a:ea typeface="Arial"/>
                          <a:cs typeface="Arial"/>
                        </a:rPr>
                        <a:t>B</a:t>
                      </a:r>
                    </a:p>
                  </a:txBody>
                  <a:tcPr anchor="ctr">
                    <a:lnL w="6350" cmpd="sng">
                      <a:solidFill>
                        <a:schemeClr val="tx1"/>
                      </a:solidFill>
                      <a:prstDash val="solid"/>
                    </a:lnL>
                    <a:lnR w="6350" cmpd="sng">
                      <a:solidFill>
                        <a:schemeClr val="bg1">
                          <a:lumMod val="75000"/>
                        </a:schemeClr>
                      </a:solidFill>
                      <a:prstDash val="solid"/>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noFill/>
                  </a:tcPr>
                </a:tc>
                <a:tc>
                  <a:txBody>
                    <a:bodyPr/>
                    <a:lstStyle/>
                    <a:p>
                      <a:pPr algn="ctr">
                        <a:buNone/>
                      </a:pPr>
                      <a:r>
                        <a:rPr sz="885" b="0">
                          <a:solidFill>
                            <a:srgbClr val="333333"/>
                          </a:solidFill>
                          <a:latin typeface="Arial"/>
                          <a:ea typeface="Arial"/>
                          <a:cs typeface="Arial"/>
                        </a:rPr>
                        <a:t>[Description]</a:t>
                      </a:r>
                    </a:p>
                  </a:txBody>
                  <a:tcPr anchor="ctr">
                    <a:lnL w="6350" cmpd="sng">
                      <a:solidFill>
                        <a:schemeClr val="bg1">
                          <a:lumMod val="75000"/>
                        </a:schemeClr>
                      </a:solidFill>
                      <a:prstDash val="solid"/>
                    </a:lnL>
                    <a:lnR w="6350" cmpd="sng">
                      <a:solidFill>
                        <a:schemeClr val="bg1">
                          <a:lumMod val="75000"/>
                        </a:schemeClr>
                      </a:solidFill>
                      <a:prstDash val="solid"/>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noFill/>
                  </a:tcPr>
                </a:tc>
                <a:tc>
                  <a:txBody>
                    <a:bodyPr/>
                    <a:lstStyle/>
                    <a:p>
                      <a:pPr marL="0" marR="0" lvl="0" indent="0" algn="ctr" defTabSz="914400">
                        <a:lnSpc>
                          <a:spcPct val="100000"/>
                        </a:lnSpc>
                        <a:spcBef>
                          <a:spcPts val="0"/>
                        </a:spcBef>
                        <a:spcAft>
                          <a:spcPts val="0"/>
                        </a:spcAft>
                        <a:buClrTx/>
                        <a:buSzTx/>
                        <a:buFontTx/>
                        <a:buNone/>
                      </a:pPr>
                      <a:r>
                        <a:rPr sz="885" b="0" i="0" u="none" cap="none">
                          <a:ln>
                            <a:noFill/>
                          </a:ln>
                          <a:solidFill>
                            <a:srgbClr val="333333"/>
                          </a:solidFill>
                          <a:latin typeface="Arial"/>
                          <a:ea typeface="Arial"/>
                          <a:cs typeface="Arial"/>
                        </a:rPr>
                        <a:t>[ ] years</a:t>
                      </a:r>
                    </a:p>
                    <a:p>
                      <a:pPr marL="0" marR="0" lvl="0" indent="0" algn="ctr" defTabSz="914400">
                        <a:lnSpc>
                          <a:spcPct val="100000"/>
                        </a:lnSpc>
                        <a:spcBef>
                          <a:spcPts val="0"/>
                        </a:spcBef>
                        <a:spcAft>
                          <a:spcPts val="0"/>
                        </a:spcAft>
                        <a:buClrTx/>
                        <a:buSzTx/>
                        <a:buFontTx/>
                        <a:buNone/>
                      </a:pPr>
                      <a:r>
                        <a:rPr sz="885" b="0" i="0" u="none" cap="none">
                          <a:ln>
                            <a:noFill/>
                          </a:ln>
                          <a:solidFill>
                            <a:srgbClr val="333333"/>
                          </a:solidFill>
                          <a:latin typeface="Arial"/>
                          <a:ea typeface="Arial"/>
                          <a:cs typeface="Arial"/>
                        </a:rPr>
                        <a:t>[Key terms]</a:t>
                      </a:r>
                    </a:p>
                  </a:txBody>
                  <a:tcPr anchor="ctr">
                    <a:lnL w="6350" cmpd="sng">
                      <a:solidFill>
                        <a:schemeClr val="bg1">
                          <a:lumMod val="75000"/>
                        </a:schemeClr>
                      </a:solidFill>
                      <a:prstDash val="solid"/>
                    </a:lnL>
                    <a:lnR w="6350" cmpd="sng">
                      <a:solidFill>
                        <a:schemeClr val="bg1">
                          <a:lumMod val="75000"/>
                        </a:schemeClr>
                      </a:solidFill>
                      <a:prstDash val="solid"/>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noFill/>
                  </a:tcPr>
                </a:tc>
                <a:tc>
                  <a:txBody>
                    <a:bodyPr/>
                    <a:lstStyle/>
                    <a:p>
                      <a:pPr algn="ctr">
                        <a:buNone/>
                      </a:pPr>
                      <a:r>
                        <a:rPr sz="885" b="0">
                          <a:solidFill>
                            <a:srgbClr val="333333"/>
                          </a:solidFill>
                          <a:latin typeface="Arial"/>
                          <a:ea typeface="Arial"/>
                          <a:cs typeface="Arial"/>
                        </a:rPr>
                        <a:t>[Products / services]</a:t>
                      </a:r>
                    </a:p>
                  </a:txBody>
                  <a:tcPr anchor="ctr">
                    <a:lnL w="6350" cmpd="sng">
                      <a:solidFill>
                        <a:schemeClr val="bg1">
                          <a:lumMod val="75000"/>
                        </a:schemeClr>
                      </a:solidFill>
                      <a:prstDash val="solid"/>
                    </a:lnL>
                    <a:lnR w="6350" cmpd="sng">
                      <a:solidFill>
                        <a:schemeClr val="bg1">
                          <a:lumMod val="75000"/>
                        </a:schemeClr>
                      </a:solidFill>
                      <a:prstDash val="solid"/>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noFill/>
                  </a:tcPr>
                </a:tc>
                <a:tc>
                  <a:txBody>
                    <a:bodyPr/>
                    <a:lstStyle/>
                    <a:p>
                      <a:pPr algn="ctr">
                        <a:buNone/>
                      </a:pPr>
                      <a:r>
                        <a:rPr sz="885" b="0" i="0" u="none" cap="none">
                          <a:ln>
                            <a:noFill/>
                          </a:ln>
                          <a:solidFill>
                            <a:srgbClr val="333333"/>
                          </a:solidFill>
                          <a:latin typeface="Arial"/>
                          <a:ea typeface="Arial"/>
                          <a:cs typeface="Arial"/>
                        </a:rPr>
                        <a:t>[Customers]</a:t>
                      </a:r>
                      <a:endParaRPr sz="900">
                        <a:solidFill>
                          <a:schemeClr val="tx1"/>
                        </a:solidFill>
                        <a:latin typeface="Arial"/>
                        <a:ea typeface="Arial"/>
                        <a:cs typeface="Arial"/>
                      </a:endParaRPr>
                    </a:p>
                  </a:txBody>
                  <a:tcPr anchor="ctr">
                    <a:lnL w="6350" cmpd="sng">
                      <a:solidFill>
                        <a:schemeClr val="bg1">
                          <a:lumMod val="75000"/>
                        </a:schemeClr>
                      </a:solidFill>
                      <a:prstDash val="solid"/>
                    </a:lnL>
                    <a:lnR w="6350" cmpd="sng">
                      <a:solidFill>
                        <a:schemeClr val="bg1">
                          <a:lumMod val="75000"/>
                        </a:schemeClr>
                      </a:solidFill>
                      <a:prstDash val="solid"/>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noFill/>
                  </a:tcPr>
                </a:tc>
                <a:tc>
                  <a:txBody>
                    <a:bodyPr/>
                    <a:lstStyle/>
                    <a:p>
                      <a:pPr algn="ctr">
                        <a:buNone/>
                      </a:pPr>
                      <a:r>
                        <a:rPr sz="885" b="0">
                          <a:solidFill>
                            <a:srgbClr val="333333"/>
                          </a:solidFill>
                          <a:latin typeface="Arial"/>
                          <a:ea typeface="Arial"/>
                          <a:cs typeface="Arial"/>
                        </a:rPr>
                        <a:t>[ ]% growth</a:t>
                      </a:r>
                    </a:p>
                    <a:p>
                      <a:pPr algn="ctr">
                        <a:buNone/>
                      </a:pPr>
                      <a:r>
                        <a:rPr sz="885" b="0">
                          <a:solidFill>
                            <a:srgbClr val="333333"/>
                          </a:solidFill>
                          <a:latin typeface="Arial"/>
                          <a:ea typeface="Arial"/>
                          <a:cs typeface="Arial"/>
                        </a:rPr>
                        <a:t>[Key driver A]</a:t>
                      </a:r>
                    </a:p>
                    <a:p>
                      <a:pPr algn="ctr">
                        <a:buNone/>
                      </a:pPr>
                      <a:r>
                        <a:rPr sz="885" b="0">
                          <a:solidFill>
                            <a:srgbClr val="333333"/>
                          </a:solidFill>
                          <a:latin typeface="Arial"/>
                          <a:ea typeface="Arial"/>
                          <a:cs typeface="Arial"/>
                        </a:rPr>
                        <a:t>[Key driver B]</a:t>
                      </a:r>
                    </a:p>
                  </a:txBody>
                  <a:tcPr anchor="ctr">
                    <a:lnL w="6350" cmpd="sng">
                      <a:solidFill>
                        <a:schemeClr val="bg1">
                          <a:lumMod val="75000"/>
                        </a:schemeClr>
                      </a:solidFill>
                      <a:prstDash val="solid"/>
                    </a:lnL>
                    <a:lnR w="6350" cmpd="sng">
                      <a:solidFill>
                        <a:schemeClr val="tx1"/>
                      </a:solidFill>
                      <a:prstDash val="solid"/>
                    </a:lnR>
                    <a:lnT w="6350" cmpd="sng">
                      <a:solidFill>
                        <a:schemeClr val="bg1">
                          <a:lumMod val="75000"/>
                        </a:schemeClr>
                      </a:solidFill>
                      <a:prstDash val="solid"/>
                    </a:lnT>
                    <a:lnB w="6350" cmpd="sng">
                      <a:solidFill>
                        <a:schemeClr val="bg1">
                          <a:lumMod val="75000"/>
                        </a:schemeClr>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609600">
                <a:tc>
                  <a:txBody>
                    <a:bodyPr/>
                    <a:lstStyle/>
                    <a:p>
                      <a:pPr algn="ctr">
                        <a:buNone/>
                      </a:pPr>
                      <a:r>
                        <a:rPr sz="885" b="0">
                          <a:solidFill>
                            <a:srgbClr val="333333"/>
                          </a:solidFill>
                          <a:latin typeface="Arial"/>
                          <a:ea typeface="Arial"/>
                          <a:cs typeface="Arial"/>
                        </a:rPr>
                        <a:t>Business Line</a:t>
                      </a:r>
                    </a:p>
                    <a:p>
                      <a:pPr algn="ctr">
                        <a:buNone/>
                      </a:pPr>
                      <a:r>
                        <a:rPr sz="885" b="0">
                          <a:solidFill>
                            <a:srgbClr val="333333"/>
                          </a:solidFill>
                          <a:latin typeface="Arial"/>
                          <a:ea typeface="Arial"/>
                          <a:cs typeface="Arial"/>
                        </a:rPr>
                        <a:t>C</a:t>
                      </a:r>
                    </a:p>
                  </a:txBody>
                  <a:tcPr anchor="ctr">
                    <a:lnL w="6350" cmpd="sng">
                      <a:solidFill>
                        <a:schemeClr val="tx1"/>
                      </a:solidFill>
                      <a:prstDash val="solid"/>
                    </a:lnL>
                    <a:lnR w="6350" cmpd="sng">
                      <a:solidFill>
                        <a:schemeClr val="bg1">
                          <a:lumMod val="75000"/>
                        </a:schemeClr>
                      </a:solidFill>
                      <a:prstDash val="solid"/>
                    </a:lnR>
                    <a:lnT w="6350" cmpd="sng">
                      <a:solidFill>
                        <a:schemeClr val="bg1">
                          <a:lumMod val="75000"/>
                        </a:schemeClr>
                      </a:solidFill>
                      <a:prstDash val="solid"/>
                    </a:lnT>
                    <a:lnB w="6350" cmpd="sng">
                      <a:solidFill>
                        <a:schemeClr val="tx1"/>
                      </a:solidFill>
                      <a:prstDash val="solid"/>
                    </a:lnB>
                    <a:lnTlToBr w="12700" cmpd="sng">
                      <a:noFill/>
                      <a:prstDash val="solid"/>
                    </a:lnTlToBr>
                    <a:lnBlToTr w="12700" cmpd="sng">
                      <a:noFill/>
                      <a:prstDash val="solid"/>
                    </a:lnBlToTr>
                    <a:noFill/>
                  </a:tcPr>
                </a:tc>
                <a:tc>
                  <a:txBody>
                    <a:bodyPr/>
                    <a:lstStyle/>
                    <a:p>
                      <a:pPr algn="ctr">
                        <a:buNone/>
                      </a:pPr>
                      <a:r>
                        <a:rPr sz="885" b="0">
                          <a:solidFill>
                            <a:srgbClr val="333333"/>
                          </a:solidFill>
                          <a:latin typeface="Arial"/>
                          <a:ea typeface="Arial"/>
                          <a:cs typeface="Arial"/>
                        </a:rPr>
                        <a:t>[Description]</a:t>
                      </a:r>
                    </a:p>
                  </a:txBody>
                  <a:tcPr anchor="ctr">
                    <a:lnL w="6350" cmpd="sng">
                      <a:solidFill>
                        <a:schemeClr val="bg1">
                          <a:lumMod val="75000"/>
                        </a:schemeClr>
                      </a:solidFill>
                      <a:prstDash val="solid"/>
                    </a:lnL>
                    <a:lnR w="6350" cmpd="sng">
                      <a:solidFill>
                        <a:schemeClr val="bg1">
                          <a:lumMod val="75000"/>
                        </a:schemeClr>
                      </a:solidFill>
                      <a:prstDash val="solid"/>
                    </a:lnR>
                    <a:lnT w="6350" cmpd="sng">
                      <a:solidFill>
                        <a:schemeClr val="bg1">
                          <a:lumMod val="75000"/>
                        </a:schemeClr>
                      </a:solidFill>
                      <a:prstDash val="solid"/>
                    </a:lnT>
                    <a:lnB w="6350" cmpd="sng">
                      <a:solidFill>
                        <a:schemeClr val="tx1"/>
                      </a:solidFill>
                      <a:prstDash val="solid"/>
                    </a:lnB>
                    <a:lnTlToBr w="12700" cmpd="sng">
                      <a:noFill/>
                      <a:prstDash val="solid"/>
                    </a:lnTlToBr>
                    <a:lnBlToTr w="12700" cmpd="sng">
                      <a:noFill/>
                      <a:prstDash val="solid"/>
                    </a:lnBlToTr>
                    <a:noFill/>
                  </a:tcPr>
                </a:tc>
                <a:tc>
                  <a:txBody>
                    <a:bodyPr/>
                    <a:lstStyle/>
                    <a:p>
                      <a:pPr marL="0" marR="0" lvl="0" indent="0" algn="ctr" defTabSz="914400">
                        <a:lnSpc>
                          <a:spcPct val="100000"/>
                        </a:lnSpc>
                        <a:spcBef>
                          <a:spcPts val="0"/>
                        </a:spcBef>
                        <a:spcAft>
                          <a:spcPts val="0"/>
                        </a:spcAft>
                        <a:buClrTx/>
                        <a:buSzTx/>
                        <a:buFontTx/>
                        <a:buNone/>
                      </a:pPr>
                      <a:r>
                        <a:rPr sz="885" b="0" i="0" u="none" cap="none">
                          <a:ln>
                            <a:noFill/>
                          </a:ln>
                          <a:solidFill>
                            <a:srgbClr val="333333"/>
                          </a:solidFill>
                          <a:latin typeface="Arial"/>
                          <a:ea typeface="Arial"/>
                          <a:cs typeface="Arial"/>
                        </a:rPr>
                        <a:t>[ ] years</a:t>
                      </a:r>
                    </a:p>
                    <a:p>
                      <a:pPr marL="0" marR="0" lvl="0" indent="0" algn="ctr" defTabSz="914400">
                        <a:lnSpc>
                          <a:spcPct val="100000"/>
                        </a:lnSpc>
                        <a:spcBef>
                          <a:spcPts val="0"/>
                        </a:spcBef>
                        <a:spcAft>
                          <a:spcPts val="0"/>
                        </a:spcAft>
                        <a:buClrTx/>
                        <a:buSzTx/>
                        <a:buFontTx/>
                        <a:buNone/>
                      </a:pPr>
                      <a:r>
                        <a:rPr sz="885" b="0" i="0" u="none" cap="none">
                          <a:ln>
                            <a:noFill/>
                          </a:ln>
                          <a:solidFill>
                            <a:srgbClr val="333333"/>
                          </a:solidFill>
                          <a:latin typeface="Arial"/>
                          <a:ea typeface="Arial"/>
                          <a:cs typeface="Arial"/>
                        </a:rPr>
                        <a:t>[Key terms]</a:t>
                      </a:r>
                    </a:p>
                  </a:txBody>
                  <a:tcPr anchor="ctr">
                    <a:lnL w="6350" cmpd="sng">
                      <a:solidFill>
                        <a:schemeClr val="bg1">
                          <a:lumMod val="75000"/>
                        </a:schemeClr>
                      </a:solidFill>
                      <a:prstDash val="solid"/>
                    </a:lnL>
                    <a:lnR w="6350" cmpd="sng">
                      <a:solidFill>
                        <a:schemeClr val="bg1">
                          <a:lumMod val="75000"/>
                        </a:schemeClr>
                      </a:solidFill>
                      <a:prstDash val="solid"/>
                    </a:lnR>
                    <a:lnT w="6350" cmpd="sng">
                      <a:solidFill>
                        <a:schemeClr val="bg1">
                          <a:lumMod val="75000"/>
                        </a:schemeClr>
                      </a:solidFill>
                      <a:prstDash val="solid"/>
                    </a:lnT>
                    <a:lnB w="6350" cmpd="sng">
                      <a:solidFill>
                        <a:schemeClr val="tx1"/>
                      </a:solidFill>
                      <a:prstDash val="solid"/>
                    </a:lnB>
                    <a:lnTlToBr w="12700" cmpd="sng">
                      <a:noFill/>
                      <a:prstDash val="solid"/>
                    </a:lnTlToBr>
                    <a:lnBlToTr w="12700" cmpd="sng">
                      <a:noFill/>
                      <a:prstDash val="solid"/>
                    </a:lnBlToTr>
                    <a:noFill/>
                  </a:tcPr>
                </a:tc>
                <a:tc>
                  <a:txBody>
                    <a:bodyPr/>
                    <a:lstStyle/>
                    <a:p>
                      <a:pPr algn="ctr">
                        <a:buNone/>
                      </a:pPr>
                      <a:r>
                        <a:rPr sz="885" b="0">
                          <a:solidFill>
                            <a:srgbClr val="333333"/>
                          </a:solidFill>
                          <a:latin typeface="Arial"/>
                          <a:ea typeface="Arial"/>
                          <a:cs typeface="Arial"/>
                        </a:rPr>
                        <a:t>[Products / services]</a:t>
                      </a:r>
                    </a:p>
                  </a:txBody>
                  <a:tcPr anchor="ctr">
                    <a:lnL w="6350" cmpd="sng">
                      <a:solidFill>
                        <a:schemeClr val="bg1">
                          <a:lumMod val="75000"/>
                        </a:schemeClr>
                      </a:solidFill>
                      <a:prstDash val="solid"/>
                    </a:lnL>
                    <a:lnR w="6350" cmpd="sng">
                      <a:solidFill>
                        <a:schemeClr val="bg1">
                          <a:lumMod val="75000"/>
                        </a:schemeClr>
                      </a:solidFill>
                      <a:prstDash val="solid"/>
                    </a:lnR>
                    <a:lnT w="6350" cmpd="sng">
                      <a:solidFill>
                        <a:schemeClr val="bg1">
                          <a:lumMod val="75000"/>
                        </a:schemeClr>
                      </a:solidFill>
                      <a:prstDash val="solid"/>
                    </a:lnT>
                    <a:lnB w="6350" cmpd="sng">
                      <a:solidFill>
                        <a:schemeClr val="tx1"/>
                      </a:solidFill>
                      <a:prstDash val="solid"/>
                    </a:lnB>
                    <a:lnTlToBr w="12700" cmpd="sng">
                      <a:noFill/>
                      <a:prstDash val="solid"/>
                    </a:lnTlToBr>
                    <a:lnBlToTr w="12700" cmpd="sng">
                      <a:noFill/>
                      <a:prstDash val="solid"/>
                    </a:lnBlToTr>
                    <a:noFill/>
                  </a:tcPr>
                </a:tc>
                <a:tc>
                  <a:txBody>
                    <a:bodyPr/>
                    <a:lstStyle/>
                    <a:p>
                      <a:pPr algn="ctr">
                        <a:buNone/>
                      </a:pPr>
                      <a:r>
                        <a:rPr sz="885" b="0" i="0" u="none" cap="none">
                          <a:ln>
                            <a:noFill/>
                          </a:ln>
                          <a:solidFill>
                            <a:srgbClr val="333333"/>
                          </a:solidFill>
                          <a:latin typeface="Arial"/>
                          <a:ea typeface="Arial"/>
                          <a:cs typeface="Arial"/>
                        </a:rPr>
                        <a:t>[Customers]</a:t>
                      </a:r>
                      <a:endParaRPr sz="900">
                        <a:solidFill>
                          <a:schemeClr val="tx1"/>
                        </a:solidFill>
                        <a:latin typeface="Arial"/>
                        <a:ea typeface="Arial"/>
                        <a:cs typeface="Arial"/>
                      </a:endParaRPr>
                    </a:p>
                  </a:txBody>
                  <a:tcPr anchor="ctr">
                    <a:lnL w="6350" cmpd="sng">
                      <a:solidFill>
                        <a:schemeClr val="bg1">
                          <a:lumMod val="75000"/>
                        </a:schemeClr>
                      </a:solidFill>
                      <a:prstDash val="solid"/>
                    </a:lnL>
                    <a:lnR w="6350" cmpd="sng">
                      <a:solidFill>
                        <a:schemeClr val="bg1">
                          <a:lumMod val="75000"/>
                        </a:schemeClr>
                      </a:solidFill>
                      <a:prstDash val="solid"/>
                    </a:lnR>
                    <a:lnT w="6350" cmpd="sng">
                      <a:solidFill>
                        <a:schemeClr val="bg1">
                          <a:lumMod val="75000"/>
                        </a:schemeClr>
                      </a:solidFill>
                      <a:prstDash val="solid"/>
                    </a:lnT>
                    <a:lnB w="6350" cmpd="sng">
                      <a:solidFill>
                        <a:schemeClr val="tx1"/>
                      </a:solidFill>
                      <a:prstDash val="solid"/>
                    </a:lnB>
                    <a:lnTlToBr w="12700" cmpd="sng">
                      <a:noFill/>
                      <a:prstDash val="solid"/>
                    </a:lnTlToBr>
                    <a:lnBlToTr w="12700" cmpd="sng">
                      <a:noFill/>
                      <a:prstDash val="solid"/>
                    </a:lnBlToTr>
                    <a:noFill/>
                  </a:tcPr>
                </a:tc>
                <a:tc>
                  <a:txBody>
                    <a:bodyPr/>
                    <a:lstStyle/>
                    <a:p>
                      <a:pPr algn="ctr">
                        <a:buNone/>
                      </a:pPr>
                      <a:r>
                        <a:rPr sz="885" b="0">
                          <a:solidFill>
                            <a:srgbClr val="333333"/>
                          </a:solidFill>
                          <a:latin typeface="Arial"/>
                          <a:ea typeface="Arial"/>
                          <a:cs typeface="Arial"/>
                        </a:rPr>
                        <a:t>[ ]% growth</a:t>
                      </a:r>
                    </a:p>
                    <a:p>
                      <a:pPr algn="ctr">
                        <a:buNone/>
                      </a:pPr>
                      <a:r>
                        <a:rPr sz="885" b="0">
                          <a:solidFill>
                            <a:srgbClr val="333333"/>
                          </a:solidFill>
                          <a:latin typeface="Arial"/>
                          <a:ea typeface="Arial"/>
                          <a:cs typeface="Arial"/>
                        </a:rPr>
                        <a:t>[Key driver A]</a:t>
                      </a:r>
                    </a:p>
                    <a:p>
                      <a:pPr algn="ctr">
                        <a:buNone/>
                      </a:pPr>
                      <a:r>
                        <a:rPr sz="885" b="0">
                          <a:solidFill>
                            <a:srgbClr val="333333"/>
                          </a:solidFill>
                          <a:latin typeface="Arial"/>
                          <a:ea typeface="Arial"/>
                          <a:cs typeface="Arial"/>
                        </a:rPr>
                        <a:t>[Key driver B]</a:t>
                      </a:r>
                    </a:p>
                  </a:txBody>
                  <a:tcPr anchor="ctr">
                    <a:lnL w="6350" cmpd="sng">
                      <a:solidFill>
                        <a:schemeClr val="bg1">
                          <a:lumMod val="75000"/>
                        </a:schemeClr>
                      </a:solidFill>
                      <a:prstDash val="solid"/>
                    </a:lnL>
                    <a:lnR w="6350" cmpd="sng">
                      <a:solidFill>
                        <a:schemeClr val="tx1"/>
                      </a:solidFill>
                      <a:prstDash val="solid"/>
                    </a:lnR>
                    <a:lnT w="6350" cmpd="sng">
                      <a:solidFill>
                        <a:schemeClr val="bg1">
                          <a:lumMod val="75000"/>
                        </a:schemeClr>
                      </a:solidFill>
                      <a:prstDash val="solid"/>
                    </a:lnT>
                    <a:lnB w="6350" cmpd="sng">
                      <a:solidFill>
                        <a:schemeClr val="tx1"/>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68968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91114-2735-E6C0-F7DA-FE9762B22BC1}"/>
              </a:ext>
            </a:extLst>
          </p:cNvPr>
          <p:cNvSpPr>
            <a:spLocks noGrp="1"/>
          </p:cNvSpPr>
          <p:nvPr>
            <p:ph type="title"/>
          </p:nvPr>
        </p:nvSpPr>
        <p:spPr>
          <a:xfrm>
            <a:off x="228600" y="361950"/>
            <a:ext cx="8686800" cy="409575"/>
          </a:xfrm>
        </p:spPr>
        <p:txBody>
          <a:bodyPr>
            <a:noAutofit/>
          </a:bodyPr>
          <a:lstStyle/>
          <a:p>
            <a:pPr>
              <a:buNone/>
              <a:defRPr sz="2175" b="0">
                <a:solidFill>
                  <a:srgbClr val="4E6879"/>
                </a:solidFill>
                <a:latin typeface="Arial"/>
                <a:ea typeface="Arial"/>
                <a:cs typeface="Arial"/>
              </a:defRPr>
            </a:pPr>
            <a:r>
              <a:rPr sz="2175" b="0">
                <a:solidFill>
                  <a:srgbClr val="4E6879"/>
                </a:solidFill>
                <a:latin typeface="Arial"/>
                <a:ea typeface="Arial"/>
                <a:cs typeface="Arial"/>
              </a:rPr>
              <a:t>[Company Name] | Short Form LBO Analysis</a:t>
            </a:r>
          </a:p>
        </p:txBody>
      </p:sp>
      <p:sp>
        <p:nvSpPr>
          <p:cNvPr id="4" name="Text Placeholder 3">
            <a:extLst>
              <a:ext uri="{FF2B5EF4-FFF2-40B4-BE49-F238E27FC236}">
                <a16:creationId xmlns:a16="http://schemas.microsoft.com/office/drawing/2014/main" id="{A14ECD66-67E2-2EAD-D7BC-D31245F57F83}"/>
              </a:ext>
            </a:extLst>
          </p:cNvPr>
          <p:cNvSpPr>
            <a:spLocks noGrp="1"/>
          </p:cNvSpPr>
          <p:nvPr>
            <p:ph type="body" idx="17"/>
          </p:nvPr>
        </p:nvSpPr>
        <p:spPr>
          <a:xfrm>
            <a:off x="228600" y="866775"/>
            <a:ext cx="8686800" cy="228600"/>
          </a:xfrm>
        </p:spPr>
        <p:txBody>
          <a:bodyPr>
            <a:noAutofit/>
          </a:bodyPr>
          <a:lstStyle/>
          <a:p>
            <a:pPr>
              <a:buNone/>
              <a:defRPr sz="1125" b="0">
                <a:solidFill>
                  <a:srgbClr val="333333"/>
                </a:solidFill>
                <a:latin typeface="Arial"/>
                <a:ea typeface="Arial"/>
                <a:cs typeface="Arial"/>
              </a:defRPr>
            </a:pPr>
            <a:r>
              <a:rPr sz="1125" b="0">
                <a:solidFill>
                  <a:srgbClr val="333333"/>
                </a:solidFill>
                <a:latin typeface="Arial"/>
                <a:ea typeface="Arial"/>
                <a:cs typeface="Arial"/>
              </a:rPr>
              <a:t>[Team Number] | [Team Members] | [Date]</a:t>
            </a:r>
          </a:p>
        </p:txBody>
      </p:sp>
      <p:sp>
        <p:nvSpPr>
          <p:cNvPr id="5" name="Slide Number Placeholder 4">
            <a:extLst>
              <a:ext uri="{FF2B5EF4-FFF2-40B4-BE49-F238E27FC236}">
                <a16:creationId xmlns:a16="http://schemas.microsoft.com/office/drawing/2014/main" id="{8B622EE7-E39D-A299-1E90-24239F9EEF6A}"/>
              </a:ext>
            </a:extLst>
          </p:cNvPr>
          <p:cNvSpPr>
            <a:spLocks noGrp="1"/>
          </p:cNvSpPr>
          <p:nvPr>
            <p:ph type="sldNum" idx="19"/>
          </p:nvPr>
        </p:nvSpPr>
        <p:spPr/>
        <p:txBody>
          <a:bodyPr/>
          <a:lstStyle/>
          <a:p>
            <a:fld id="{202359C0-8A7A-196E-DD58-8E6569619F09}" type="slidenum">
              <a:rPr/>
              <a:t>3</a:t>
            </a:fld>
            <a:endParaRPr/>
          </a:p>
        </p:txBody>
      </p:sp>
      <p:sp>
        <p:nvSpPr>
          <p:cNvPr id="6" name="Text Placeholder 5">
            <a:extLst>
              <a:ext uri="{FF2B5EF4-FFF2-40B4-BE49-F238E27FC236}">
                <a16:creationId xmlns:a16="http://schemas.microsoft.com/office/drawing/2014/main" id="{84849125-E9AE-7B66-8169-738E80415590}"/>
              </a:ext>
            </a:extLst>
          </p:cNvPr>
          <p:cNvSpPr>
            <a:spLocks noGrp="1"/>
          </p:cNvSpPr>
          <p:nvPr>
            <p:ph type="body" idx="18"/>
          </p:nvPr>
        </p:nvSpPr>
        <p:spPr>
          <a:xfrm>
            <a:off x="228600" y="6296025"/>
            <a:ext cx="8496300" cy="209550"/>
          </a:xfrm>
        </p:spPr>
        <p:txBody>
          <a:bodyPr>
            <a:noAutofit/>
          </a:bodyPr>
          <a:lstStyle/>
          <a:p>
            <a:pPr>
              <a:lnSpc>
                <a:spcPct val="100000"/>
              </a:lnSpc>
              <a:spcAft>
                <a:spcPts val="1"/>
              </a:spcAft>
              <a:buNone/>
              <a:defRPr sz="638" b="0">
                <a:solidFill>
                  <a:srgbClr val="333333"/>
                </a:solidFill>
                <a:latin typeface="Arial"/>
                <a:ea typeface="Arial"/>
                <a:cs typeface="Arial"/>
              </a:defRPr>
            </a:pPr>
            <a:r>
              <a:rPr sz="638" b="0">
                <a:solidFill>
                  <a:srgbClr val="333333"/>
                </a:solidFill>
                <a:latin typeface="Arial"/>
                <a:ea typeface="Arial"/>
                <a:cs typeface="Arial"/>
              </a:rPr>
              <a:t>$ in millions unless noted. Financial examples use the same assumptions as the LBO model template.</a:t>
            </a:r>
          </a:p>
        </p:txBody>
      </p:sp>
      <p:sp>
        <p:nvSpPr>
          <p:cNvPr id="19" name="Rectangle 18">
            <a:extLst>
              <a:ext uri="{FF2B5EF4-FFF2-40B4-BE49-F238E27FC236}">
                <a16:creationId xmlns:a16="http://schemas.microsoft.com/office/drawing/2014/main" id="{38D18285-7474-B2CF-4343-91F03544BD91}"/>
              </a:ext>
            </a:extLst>
          </p:cNvPr>
          <p:cNvSpPr>
            <a:spLocks noGrp="1"/>
          </p:cNvSpPr>
          <p:nvPr/>
        </p:nvSpPr>
        <p:spPr>
          <a:xfrm>
            <a:off x="228600" y="4191000"/>
            <a:ext cx="3186113" cy="1981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t">
            <a:noAutofit/>
          </a:bodyPr>
          <a:lstStyle/>
          <a:p>
            <a:pPr marL="139700" indent="-88900">
              <a:spcAft>
                <a:spcPts val="360"/>
              </a:spcAft>
              <a:buChar char="•"/>
              <a:defRPr sz="818">
                <a:solidFill>
                  <a:srgbClr val="333333"/>
                </a:solidFill>
                <a:latin typeface="Arial"/>
                <a:ea typeface="Arial"/>
                <a:cs typeface="Arial"/>
              </a:defRPr>
            </a:pPr>
            <a:r>
              <a:rPr sz="818">
                <a:solidFill>
                  <a:srgbClr val="333333"/>
                </a:solidFill>
                <a:latin typeface="Arial"/>
                <a:ea typeface="Arial"/>
                <a:cs typeface="Arial"/>
              </a:rPr>
              <a:t>Purchase enterprise value of $1,200 million, or 10.0x EBITDA of $120 million.</a:t>
            </a:r>
          </a:p>
          <a:p>
            <a:pPr marL="139700" indent="-88900">
              <a:spcAft>
                <a:spcPts val="360"/>
              </a:spcAft>
              <a:buChar char="•"/>
              <a:defRPr sz="818">
                <a:solidFill>
                  <a:srgbClr val="333333"/>
                </a:solidFill>
                <a:latin typeface="Arial"/>
                <a:ea typeface="Arial"/>
                <a:cs typeface="Arial"/>
              </a:defRPr>
            </a:pPr>
            <a:r>
              <a:rPr sz="818">
                <a:solidFill>
                  <a:srgbClr val="333333"/>
                </a:solidFill>
                <a:latin typeface="Arial"/>
                <a:ea typeface="Arial"/>
                <a:cs typeface="Arial"/>
              </a:rPr>
              <a:t>Sponsor equity of $412.5 million, or 32.7% of total sources; net leverage of 6.9x.</a:t>
            </a:r>
          </a:p>
          <a:p>
            <a:pPr marL="139700" indent="-88900">
              <a:spcAft>
                <a:spcPts val="360"/>
              </a:spcAft>
              <a:buChar char="•"/>
              <a:defRPr sz="818">
                <a:solidFill>
                  <a:srgbClr val="333333"/>
                </a:solidFill>
                <a:latin typeface="Arial"/>
                <a:ea typeface="Arial"/>
                <a:cs typeface="Arial"/>
              </a:defRPr>
            </a:pPr>
            <a:r>
              <a:rPr sz="818">
                <a:solidFill>
                  <a:srgbClr val="333333"/>
                </a:solidFill>
                <a:latin typeface="Arial"/>
                <a:ea typeface="Arial"/>
                <a:cs typeface="Arial"/>
              </a:rPr>
              <a:t>$300 million revolver, undrawn at close, at SOFR + 350 bps.</a:t>
            </a:r>
          </a:p>
          <a:p>
            <a:pPr marL="139700" indent="-88900">
              <a:spcAft>
                <a:spcPts val="360"/>
              </a:spcAft>
              <a:buChar char="•"/>
              <a:defRPr sz="818">
                <a:solidFill>
                  <a:srgbClr val="333333"/>
                </a:solidFill>
                <a:latin typeface="Arial"/>
                <a:ea typeface="Arial"/>
                <a:cs typeface="Arial"/>
              </a:defRPr>
            </a:pPr>
            <a:r>
              <a:rPr sz="818">
                <a:solidFill>
                  <a:srgbClr val="333333"/>
                </a:solidFill>
                <a:latin typeface="Arial"/>
                <a:ea typeface="Arial"/>
                <a:cs typeface="Arial"/>
              </a:rPr>
              <a:t>$480 million first-lien term loan: seven years, SOFR + 375 bps, 1% OID and 1% annual amortization.</a:t>
            </a:r>
          </a:p>
          <a:p>
            <a:pPr marL="139700" indent="-88900">
              <a:spcAft>
                <a:spcPts val="360"/>
              </a:spcAft>
              <a:buChar char="•"/>
              <a:defRPr sz="818">
                <a:solidFill>
                  <a:srgbClr val="333333"/>
                </a:solidFill>
                <a:latin typeface="Arial"/>
                <a:ea typeface="Arial"/>
                <a:cs typeface="Arial"/>
              </a:defRPr>
            </a:pPr>
            <a:r>
              <a:rPr sz="818">
                <a:solidFill>
                  <a:srgbClr val="333333"/>
                </a:solidFill>
                <a:latin typeface="Arial"/>
                <a:ea typeface="Arial"/>
                <a:cs typeface="Arial"/>
              </a:rPr>
              <a:t>$355 million senior unsecured notes: eight years, 7.5% interest and zero OID.</a:t>
            </a:r>
          </a:p>
          <a:p>
            <a:pPr marL="139700" indent="-88900">
              <a:spcAft>
                <a:spcPts val="360"/>
              </a:spcAft>
              <a:buChar char="•"/>
              <a:defRPr sz="818">
                <a:solidFill>
                  <a:srgbClr val="333333"/>
                </a:solidFill>
                <a:latin typeface="Arial"/>
                <a:ea typeface="Arial"/>
                <a:cs typeface="Arial"/>
              </a:defRPr>
            </a:pPr>
            <a:r>
              <a:rPr sz="818">
                <a:solidFill>
                  <a:srgbClr val="333333"/>
                </a:solidFill>
                <a:latin typeface="Arial"/>
                <a:ea typeface="Arial"/>
                <a:cs typeface="Arial"/>
              </a:rPr>
              <a:t>$10 million minimum cash; $30 million in financing fees and OID; $7.5 million transaction costs.</a:t>
            </a:r>
          </a:p>
          <a:p>
            <a:pPr marL="139700" indent="-88900">
              <a:spcAft>
                <a:spcPts val="360"/>
              </a:spcAft>
              <a:buChar char="•"/>
              <a:defRPr sz="818">
                <a:solidFill>
                  <a:srgbClr val="333333"/>
                </a:solidFill>
                <a:latin typeface="Arial"/>
                <a:ea typeface="Arial"/>
                <a:cs typeface="Arial"/>
              </a:defRPr>
            </a:pPr>
            <a:r>
              <a:rPr sz="818">
                <a:solidFill>
                  <a:srgbClr val="333333"/>
                </a:solidFill>
                <a:latin typeface="Arial"/>
                <a:ea typeface="Arial"/>
                <a:cs typeface="Arial"/>
              </a:rPr>
              <a:t>Example: five-year hold, 10.0x exit multiple and 3% exit fee, with no optional debt repayment or interim distributions.</a:t>
            </a:r>
          </a:p>
        </p:txBody>
      </p:sp>
      <p:sp>
        <p:nvSpPr>
          <p:cNvPr id="22" name="Rectangle: Rounded Corners 21">
            <a:extLst>
              <a:ext uri="{FF2B5EF4-FFF2-40B4-BE49-F238E27FC236}">
                <a16:creationId xmlns:a16="http://schemas.microsoft.com/office/drawing/2014/main" id="{99D7BA38-BEF0-F0F0-A906-91B95DBCFF23}"/>
              </a:ext>
            </a:extLst>
          </p:cNvPr>
          <p:cNvSpPr>
            <a:spLocks noGrp="1"/>
          </p:cNvSpPr>
          <p:nvPr/>
        </p:nvSpPr>
        <p:spPr>
          <a:xfrm>
            <a:off x="228600" y="3894653"/>
            <a:ext cx="3186017" cy="265806"/>
          </a:xfrm>
          <a:prstGeom prst="round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ts val="1200"/>
              </a:lnSpc>
              <a:spcBef>
                <a:spcPts val="300"/>
              </a:spcBef>
              <a:spcAft>
                <a:spcPts val="300"/>
              </a:spcAft>
              <a:buNone/>
            </a:pPr>
            <a:r>
              <a:rPr sz="1000" b="1">
                <a:solidFill>
                  <a:schemeClr val="bg1"/>
                </a:solidFill>
                <a:latin typeface="Arial"/>
                <a:ea typeface="Arial"/>
                <a:cs typeface="Arial"/>
              </a:rPr>
              <a:t>Key Financing Assumptions</a:t>
            </a:r>
          </a:p>
        </p:txBody>
      </p:sp>
      <p:sp>
        <p:nvSpPr>
          <p:cNvPr id="9" name="Rectangle: Rounded Corners 8">
            <a:extLst>
              <a:ext uri="{FF2B5EF4-FFF2-40B4-BE49-F238E27FC236}">
                <a16:creationId xmlns:a16="http://schemas.microsoft.com/office/drawing/2014/main" id="{31FB8B60-6B60-94BD-BEA0-FF382232E9F9}"/>
              </a:ext>
            </a:extLst>
          </p:cNvPr>
          <p:cNvSpPr>
            <a:spLocks noGrp="1"/>
          </p:cNvSpPr>
          <p:nvPr/>
        </p:nvSpPr>
        <p:spPr>
          <a:xfrm>
            <a:off x="3607308" y="3900467"/>
            <a:ext cx="5308092" cy="265806"/>
          </a:xfrm>
          <a:prstGeom prst="round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ts val="1200"/>
              </a:lnSpc>
              <a:spcBef>
                <a:spcPts val="300"/>
              </a:spcBef>
              <a:spcAft>
                <a:spcPts val="300"/>
              </a:spcAft>
              <a:buNone/>
            </a:pPr>
            <a:r>
              <a:rPr sz="1000" b="1">
                <a:solidFill>
                  <a:schemeClr val="bg1"/>
                </a:solidFill>
                <a:latin typeface="Arial"/>
                <a:ea typeface="Arial"/>
                <a:cs typeface="Arial"/>
              </a:rPr>
              <a:t>Returns Analysis</a:t>
            </a:r>
          </a:p>
        </p:txBody>
      </p:sp>
      <p:graphicFrame>
        <p:nvGraphicFramePr>
          <p:cNvPr id="44" name="Editable Sources"/>
          <p:cNvGraphicFramePr/>
          <p:nvPr/>
        </p:nvGraphicFramePr>
        <p:xfrm>
          <a:off x="228600" y="1219581"/>
          <a:ext cx="1569720" cy="2378396"/>
        </p:xfrm>
        <a:graphic>
          <a:graphicData uri="http://schemas.openxmlformats.org/drawingml/2006/table">
            <a:tbl>
              <a:tblPr/>
              <a:tblGrid>
                <a:gridCol w="1028700">
                  <a:extLst>
                    <a:ext uri="{9D8B030D-6E8A-4147-A177-3AD203B41FA5}">
                      <a16:colId xmlns:a16="http://schemas.microsoft.com/office/drawing/2014/main" val="20000"/>
                    </a:ext>
                  </a:extLst>
                </a:gridCol>
                <a:gridCol w="541020">
                  <a:extLst>
                    <a:ext uri="{9D8B030D-6E8A-4147-A177-3AD203B41FA5}">
                      <a16:colId xmlns:a16="http://schemas.microsoft.com/office/drawing/2014/main" val="20001"/>
                    </a:ext>
                  </a:extLst>
                </a:gridCol>
              </a:tblGrid>
              <a:tr h="326708">
                <a:tc gridSpan="2">
                  <a:txBody>
                    <a:bodyPr/>
                    <a:lstStyle/>
                    <a:p>
                      <a:pPr marL="0" indent="0" algn="l">
                        <a:spcBef>
                          <a:spcPts val="0"/>
                        </a:spcBef>
                        <a:spcAft>
                          <a:spcPts val="0"/>
                        </a:spcAft>
                      </a:pPr>
                      <a:r>
                        <a:rPr sz="1050" b="1" i="0">
                          <a:solidFill>
                            <a:srgbClr val="FFFFFF"/>
                          </a:solidFill>
                          <a:latin typeface="Arial"/>
                          <a:ea typeface="Arial"/>
                          <a:cs typeface="Arial"/>
                        </a:rPr>
                        <a:t>Sources</a:t>
                      </a:r>
                      <a:endParaRPr sz="105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506F80"/>
                    </a:solidFill>
                  </a:tcPr>
                </a:tc>
                <a:tc hMerge="1">
                  <a:txBody>
                    <a:bodyPr/>
                    <a:lstStyle/>
                    <a:p>
                      <a:pPr marL="0" indent="0" algn="l">
                        <a:spcBef>
                          <a:spcPts val="0"/>
                        </a:spcBef>
                        <a:spcAft>
                          <a:spcPts val="0"/>
                        </a:spcAft>
                      </a:pPr>
                      <a:endParaRPr sz="105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506F80"/>
                    </a:solidFill>
                  </a:tcPr>
                </a:tc>
                <a:extLst>
                  <a:ext uri="{0D108BD9-81ED-4DB2-BD59-A6C34878D82A}">
                    <a16:rowId xmlns:a16="http://schemas.microsoft.com/office/drawing/2014/main" val="10000"/>
                  </a:ext>
                </a:extLst>
              </a:tr>
              <a:tr h="341948">
                <a:tc>
                  <a:txBody>
                    <a:bodyPr/>
                    <a:lstStyle/>
                    <a:p>
                      <a:pPr marL="0" indent="0" algn="l">
                        <a:spcBef>
                          <a:spcPts val="0"/>
                        </a:spcBef>
                        <a:spcAft>
                          <a:spcPts val="0"/>
                        </a:spcAft>
                      </a:pPr>
                      <a:r>
                        <a:rPr sz="780" b="0" i="0">
                          <a:solidFill>
                            <a:srgbClr val="333333"/>
                          </a:solidFill>
                          <a:latin typeface="Arial"/>
                          <a:ea typeface="Arial"/>
                          <a:cs typeface="Arial"/>
                        </a:rPr>
                        <a:t>Revolver drawn</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780" b="0" i="0">
                          <a:solidFill>
                            <a:srgbClr val="333333"/>
                          </a:solidFill>
                          <a:latin typeface="Arial"/>
                          <a:ea typeface="Arial"/>
                          <a:cs typeface="Arial"/>
                        </a:rPr>
                        <a:t>-</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1"/>
                  </a:ext>
                </a:extLst>
              </a:tr>
              <a:tr h="341948">
                <a:tc>
                  <a:txBody>
                    <a:bodyPr/>
                    <a:lstStyle/>
                    <a:p>
                      <a:pPr marL="0" indent="0" algn="l">
                        <a:spcBef>
                          <a:spcPts val="0"/>
                        </a:spcBef>
                        <a:spcAft>
                          <a:spcPts val="0"/>
                        </a:spcAft>
                      </a:pPr>
                      <a:r>
                        <a:rPr sz="780" b="0" i="0">
                          <a:solidFill>
                            <a:srgbClr val="333333"/>
                          </a:solidFill>
                          <a:latin typeface="Arial"/>
                          <a:ea typeface="Arial"/>
                          <a:cs typeface="Arial"/>
                        </a:rPr>
                        <a:t>First-lien term loan</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780" b="0" i="0">
                          <a:solidFill>
                            <a:srgbClr val="333333"/>
                          </a:solidFill>
                          <a:latin typeface="Arial"/>
                          <a:ea typeface="Arial"/>
                          <a:cs typeface="Arial"/>
                        </a:rPr>
                        <a:t>$480.0</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2"/>
                  </a:ext>
                </a:extLst>
              </a:tr>
              <a:tr h="341948">
                <a:tc>
                  <a:txBody>
                    <a:bodyPr/>
                    <a:lstStyle/>
                    <a:p>
                      <a:pPr marL="0" indent="0" algn="l">
                        <a:spcBef>
                          <a:spcPts val="0"/>
                        </a:spcBef>
                        <a:spcAft>
                          <a:spcPts val="0"/>
                        </a:spcAft>
                      </a:pPr>
                      <a:r>
                        <a:rPr sz="780" b="0" i="0">
                          <a:solidFill>
                            <a:srgbClr val="333333"/>
                          </a:solidFill>
                          <a:latin typeface="Arial"/>
                          <a:ea typeface="Arial"/>
                          <a:cs typeface="Arial"/>
                        </a:rPr>
                        <a:t>Senior Notes</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780" b="0" i="0">
                          <a:solidFill>
                            <a:srgbClr val="333333"/>
                          </a:solidFill>
                          <a:latin typeface="Arial"/>
                          <a:ea typeface="Arial"/>
                          <a:cs typeface="Arial"/>
                        </a:rPr>
                        <a:t>$355.0</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3"/>
                  </a:ext>
                </a:extLst>
              </a:tr>
              <a:tr h="341948">
                <a:tc>
                  <a:txBody>
                    <a:bodyPr/>
                    <a:lstStyle/>
                    <a:p>
                      <a:pPr marL="0" indent="0" algn="l">
                        <a:spcBef>
                          <a:spcPts val="0"/>
                        </a:spcBef>
                        <a:spcAft>
                          <a:spcPts val="0"/>
                        </a:spcAft>
                      </a:pPr>
                      <a:r>
                        <a:rPr sz="780" b="0" i="0">
                          <a:solidFill>
                            <a:srgbClr val="333333"/>
                          </a:solidFill>
                          <a:latin typeface="Arial"/>
                          <a:ea typeface="Arial"/>
                          <a:cs typeface="Arial"/>
                        </a:rPr>
                        <a:t>Balance-sheet cash</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780" b="0" i="0">
                          <a:solidFill>
                            <a:srgbClr val="333333"/>
                          </a:solidFill>
                          <a:latin typeface="Arial"/>
                          <a:ea typeface="Arial"/>
                          <a:cs typeface="Arial"/>
                        </a:rPr>
                        <a:t>$15.0</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4"/>
                  </a:ext>
                </a:extLst>
              </a:tr>
              <a:tr h="341948">
                <a:tc>
                  <a:txBody>
                    <a:bodyPr/>
                    <a:lstStyle/>
                    <a:p>
                      <a:pPr marL="0" indent="0" algn="l">
                        <a:spcBef>
                          <a:spcPts val="0"/>
                        </a:spcBef>
                        <a:spcAft>
                          <a:spcPts val="0"/>
                        </a:spcAft>
                      </a:pPr>
                      <a:r>
                        <a:rPr sz="780" b="0" i="0">
                          <a:solidFill>
                            <a:srgbClr val="333333"/>
                          </a:solidFill>
                          <a:latin typeface="Arial"/>
                          <a:ea typeface="Arial"/>
                          <a:cs typeface="Arial"/>
                        </a:rPr>
                        <a:t>Sponsor equity</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780" b="0" i="0">
                          <a:solidFill>
                            <a:srgbClr val="333333"/>
                          </a:solidFill>
                          <a:latin typeface="Arial"/>
                          <a:ea typeface="Arial"/>
                          <a:cs typeface="Arial"/>
                        </a:rPr>
                        <a:t>$412.5</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5"/>
                  </a:ext>
                </a:extLst>
              </a:tr>
              <a:tr h="341948">
                <a:tc>
                  <a:txBody>
                    <a:bodyPr/>
                    <a:lstStyle/>
                    <a:p>
                      <a:pPr marL="0" indent="0" algn="l">
                        <a:spcBef>
                          <a:spcPts val="0"/>
                        </a:spcBef>
                        <a:spcAft>
                          <a:spcPts val="0"/>
                        </a:spcAft>
                      </a:pPr>
                      <a:r>
                        <a:rPr sz="780" b="1" i="0">
                          <a:solidFill>
                            <a:srgbClr val="333333"/>
                          </a:solidFill>
                          <a:latin typeface="Arial"/>
                          <a:ea typeface="Arial"/>
                          <a:cs typeface="Arial"/>
                        </a:rPr>
                        <a:t>Total sources</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DFE8EB"/>
                    </a:solidFill>
                  </a:tcPr>
                </a:tc>
                <a:tc>
                  <a:txBody>
                    <a:bodyPr/>
                    <a:lstStyle/>
                    <a:p>
                      <a:pPr marL="0" indent="0" algn="l">
                        <a:spcBef>
                          <a:spcPts val="0"/>
                        </a:spcBef>
                        <a:spcAft>
                          <a:spcPts val="0"/>
                        </a:spcAft>
                      </a:pPr>
                      <a:r>
                        <a:rPr sz="780" b="1" i="0">
                          <a:solidFill>
                            <a:srgbClr val="333333"/>
                          </a:solidFill>
                          <a:latin typeface="Arial"/>
                          <a:ea typeface="Arial"/>
                          <a:cs typeface="Arial"/>
                        </a:rPr>
                        <a:t>$1,262.5</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DFE8EB"/>
                    </a:solidFill>
                  </a:tcPr>
                </a:tc>
                <a:extLst>
                  <a:ext uri="{0D108BD9-81ED-4DB2-BD59-A6C34878D82A}">
                    <a16:rowId xmlns:a16="http://schemas.microsoft.com/office/drawing/2014/main" val="10006"/>
                  </a:ext>
                </a:extLst>
              </a:tr>
            </a:tbl>
          </a:graphicData>
        </a:graphic>
      </p:graphicFrame>
      <p:graphicFrame>
        <p:nvGraphicFramePr>
          <p:cNvPr id="45" name="Editable Uses"/>
          <p:cNvGraphicFramePr/>
          <p:nvPr/>
        </p:nvGraphicFramePr>
        <p:xfrm>
          <a:off x="1901190" y="1219581"/>
          <a:ext cx="1569720" cy="2378396"/>
        </p:xfrm>
        <a:graphic>
          <a:graphicData uri="http://schemas.openxmlformats.org/drawingml/2006/table">
            <a:tbl>
              <a:tblPr/>
              <a:tblGrid>
                <a:gridCol w="1028700">
                  <a:extLst>
                    <a:ext uri="{9D8B030D-6E8A-4147-A177-3AD203B41FA5}">
                      <a16:colId xmlns:a16="http://schemas.microsoft.com/office/drawing/2014/main" val="20000"/>
                    </a:ext>
                  </a:extLst>
                </a:gridCol>
                <a:gridCol w="541020">
                  <a:extLst>
                    <a:ext uri="{9D8B030D-6E8A-4147-A177-3AD203B41FA5}">
                      <a16:colId xmlns:a16="http://schemas.microsoft.com/office/drawing/2014/main" val="20001"/>
                    </a:ext>
                  </a:extLst>
                </a:gridCol>
              </a:tblGrid>
              <a:tr h="326708">
                <a:tc gridSpan="2">
                  <a:txBody>
                    <a:bodyPr/>
                    <a:lstStyle/>
                    <a:p>
                      <a:pPr marL="0" indent="0" algn="l">
                        <a:spcBef>
                          <a:spcPts val="0"/>
                        </a:spcBef>
                        <a:spcAft>
                          <a:spcPts val="0"/>
                        </a:spcAft>
                      </a:pPr>
                      <a:r>
                        <a:rPr sz="1050" b="1" i="0">
                          <a:solidFill>
                            <a:srgbClr val="FFFFFF"/>
                          </a:solidFill>
                          <a:latin typeface="Arial"/>
                          <a:ea typeface="Arial"/>
                          <a:cs typeface="Arial"/>
                        </a:rPr>
                        <a:t>Uses</a:t>
                      </a:r>
                      <a:endParaRPr sz="105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426A5F"/>
                    </a:solidFill>
                  </a:tcPr>
                </a:tc>
                <a:tc hMerge="1">
                  <a:txBody>
                    <a:bodyPr/>
                    <a:lstStyle/>
                    <a:p>
                      <a:pPr marL="0" indent="0" algn="l">
                        <a:spcBef>
                          <a:spcPts val="0"/>
                        </a:spcBef>
                        <a:spcAft>
                          <a:spcPts val="0"/>
                        </a:spcAft>
                      </a:pPr>
                      <a:endParaRPr sz="105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426A5F"/>
                    </a:solidFill>
                  </a:tcPr>
                </a:tc>
                <a:extLst>
                  <a:ext uri="{0D108BD9-81ED-4DB2-BD59-A6C34878D82A}">
                    <a16:rowId xmlns:a16="http://schemas.microsoft.com/office/drawing/2014/main" val="10000"/>
                  </a:ext>
                </a:extLst>
              </a:tr>
              <a:tr h="341948">
                <a:tc>
                  <a:txBody>
                    <a:bodyPr/>
                    <a:lstStyle/>
                    <a:p>
                      <a:pPr marL="0" indent="0" algn="l">
                        <a:spcBef>
                          <a:spcPts val="0"/>
                        </a:spcBef>
                        <a:spcAft>
                          <a:spcPts val="0"/>
                        </a:spcAft>
                      </a:pPr>
                      <a:r>
                        <a:rPr sz="780" b="0" i="0">
                          <a:solidFill>
                            <a:srgbClr val="333333"/>
                          </a:solidFill>
                          <a:latin typeface="Arial"/>
                          <a:ea typeface="Arial"/>
                          <a:cs typeface="Arial"/>
                        </a:rPr>
                        <a:t>Purchase equity</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780" b="0" i="0">
                          <a:solidFill>
                            <a:srgbClr val="333333"/>
                          </a:solidFill>
                          <a:latin typeface="Arial"/>
                          <a:ea typeface="Arial"/>
                          <a:cs typeface="Arial"/>
                        </a:rPr>
                        <a:t>$1,190.0</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1"/>
                  </a:ext>
                </a:extLst>
              </a:tr>
              <a:tr h="341948">
                <a:tc>
                  <a:txBody>
                    <a:bodyPr/>
                    <a:lstStyle/>
                    <a:p>
                      <a:pPr marL="0" indent="0" algn="l">
                        <a:spcBef>
                          <a:spcPts val="0"/>
                        </a:spcBef>
                        <a:spcAft>
                          <a:spcPts val="0"/>
                        </a:spcAft>
                      </a:pPr>
                      <a:r>
                        <a:rPr sz="780" b="0" i="0">
                          <a:solidFill>
                            <a:srgbClr val="333333"/>
                          </a:solidFill>
                          <a:latin typeface="Arial"/>
                          <a:ea typeface="Arial"/>
                          <a:cs typeface="Arial"/>
                        </a:rPr>
                        <a:t>Refinanced debt</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780" b="0" i="0">
                          <a:solidFill>
                            <a:srgbClr val="333333"/>
                          </a:solidFill>
                          <a:latin typeface="Arial"/>
                          <a:ea typeface="Arial"/>
                          <a:cs typeface="Arial"/>
                        </a:rPr>
                        <a:t>$25.0</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2"/>
                  </a:ext>
                </a:extLst>
              </a:tr>
              <a:tr h="341948">
                <a:tc>
                  <a:txBody>
                    <a:bodyPr/>
                    <a:lstStyle/>
                    <a:p>
                      <a:pPr marL="0" indent="0" algn="l">
                        <a:spcBef>
                          <a:spcPts val="0"/>
                        </a:spcBef>
                        <a:spcAft>
                          <a:spcPts val="0"/>
                        </a:spcAft>
                      </a:pPr>
                      <a:r>
                        <a:rPr sz="780" b="0" i="0">
                          <a:solidFill>
                            <a:srgbClr val="333333"/>
                          </a:solidFill>
                          <a:latin typeface="Arial"/>
                          <a:ea typeface="Arial"/>
                          <a:cs typeface="Arial"/>
                        </a:rPr>
                        <a:t>Cash to balance</a:t>
                      </a:r>
                      <a:endParaRPr sz="780"/>
                    </a:p>
                    <a:p>
                      <a:pPr marL="0" indent="0" algn="l">
                        <a:spcBef>
                          <a:spcPts val="0"/>
                        </a:spcBef>
                        <a:spcAft>
                          <a:spcPts val="0"/>
                        </a:spcAft>
                      </a:pPr>
                      <a:r>
                        <a:rPr sz="780" b="0" i="0">
                          <a:solidFill>
                            <a:srgbClr val="333333"/>
                          </a:solidFill>
                          <a:latin typeface="Arial"/>
                          <a:ea typeface="Arial"/>
                          <a:cs typeface="Arial"/>
                        </a:rPr>
                        <a:t>sheet</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780" b="0" i="0">
                          <a:solidFill>
                            <a:srgbClr val="333333"/>
                          </a:solidFill>
                          <a:latin typeface="Arial"/>
                          <a:ea typeface="Arial"/>
                          <a:cs typeface="Arial"/>
                        </a:rPr>
                        <a:t>$10.0</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3"/>
                  </a:ext>
                </a:extLst>
              </a:tr>
              <a:tr h="341948">
                <a:tc>
                  <a:txBody>
                    <a:bodyPr/>
                    <a:lstStyle/>
                    <a:p>
                      <a:pPr marL="0" indent="0" algn="l">
                        <a:spcBef>
                          <a:spcPts val="0"/>
                        </a:spcBef>
                        <a:spcAft>
                          <a:spcPts val="0"/>
                        </a:spcAft>
                      </a:pPr>
                      <a:r>
                        <a:rPr sz="780" b="0" i="0">
                          <a:solidFill>
                            <a:srgbClr val="333333"/>
                          </a:solidFill>
                          <a:latin typeface="Arial"/>
                          <a:ea typeface="Arial"/>
                          <a:cs typeface="Arial"/>
                        </a:rPr>
                        <a:t>Transaction costs</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780" b="0" i="0">
                          <a:solidFill>
                            <a:srgbClr val="333333"/>
                          </a:solidFill>
                          <a:latin typeface="Arial"/>
                          <a:ea typeface="Arial"/>
                          <a:cs typeface="Arial"/>
                        </a:rPr>
                        <a:t>$7.5</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4"/>
                  </a:ext>
                </a:extLst>
              </a:tr>
              <a:tr h="341948">
                <a:tc>
                  <a:txBody>
                    <a:bodyPr/>
                    <a:lstStyle/>
                    <a:p>
                      <a:pPr marL="0" indent="0" algn="l">
                        <a:spcBef>
                          <a:spcPts val="0"/>
                        </a:spcBef>
                        <a:spcAft>
                          <a:spcPts val="0"/>
                        </a:spcAft>
                      </a:pPr>
                      <a:r>
                        <a:rPr sz="780" b="0" i="0">
                          <a:solidFill>
                            <a:srgbClr val="333333"/>
                          </a:solidFill>
                          <a:latin typeface="Arial"/>
                          <a:ea typeface="Arial"/>
                          <a:cs typeface="Arial"/>
                        </a:rPr>
                        <a:t>Fees &amp; expenses</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780" b="0" i="0">
                          <a:solidFill>
                            <a:srgbClr val="333333"/>
                          </a:solidFill>
                          <a:latin typeface="Arial"/>
                          <a:ea typeface="Arial"/>
                          <a:cs typeface="Arial"/>
                        </a:rPr>
                        <a:t>$30.0</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5"/>
                  </a:ext>
                </a:extLst>
              </a:tr>
              <a:tr h="341948">
                <a:tc>
                  <a:txBody>
                    <a:bodyPr/>
                    <a:lstStyle/>
                    <a:p>
                      <a:pPr marL="0" indent="0" algn="l">
                        <a:spcBef>
                          <a:spcPts val="0"/>
                        </a:spcBef>
                        <a:spcAft>
                          <a:spcPts val="0"/>
                        </a:spcAft>
                      </a:pPr>
                      <a:r>
                        <a:rPr sz="780" b="1" i="0">
                          <a:solidFill>
                            <a:srgbClr val="333333"/>
                          </a:solidFill>
                          <a:latin typeface="Arial"/>
                          <a:ea typeface="Arial"/>
                          <a:cs typeface="Arial"/>
                        </a:rPr>
                        <a:t>Total uses</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CADCD7"/>
                    </a:solidFill>
                  </a:tcPr>
                </a:tc>
                <a:tc>
                  <a:txBody>
                    <a:bodyPr/>
                    <a:lstStyle/>
                    <a:p>
                      <a:pPr marL="0" indent="0" algn="l">
                        <a:spcBef>
                          <a:spcPts val="0"/>
                        </a:spcBef>
                        <a:spcAft>
                          <a:spcPts val="0"/>
                        </a:spcAft>
                      </a:pPr>
                      <a:r>
                        <a:rPr sz="780" b="1" i="0">
                          <a:solidFill>
                            <a:srgbClr val="333333"/>
                          </a:solidFill>
                          <a:latin typeface="Arial"/>
                          <a:ea typeface="Arial"/>
                          <a:cs typeface="Arial"/>
                        </a:rPr>
                        <a:t>$1,262.5</a:t>
                      </a:r>
                      <a:endParaRPr sz="78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CADCD7"/>
                    </a:solidFill>
                  </a:tcPr>
                </a:tc>
                <a:extLst>
                  <a:ext uri="{0D108BD9-81ED-4DB2-BD59-A6C34878D82A}">
                    <a16:rowId xmlns:a16="http://schemas.microsoft.com/office/drawing/2014/main" val="10006"/>
                  </a:ext>
                </a:extLst>
              </a:tr>
            </a:tbl>
          </a:graphicData>
        </a:graphic>
      </p:graphicFrame>
      <p:graphicFrame>
        <p:nvGraphicFramePr>
          <p:cNvPr id="46" name="Editable Entry Capitalization"/>
          <p:cNvGraphicFramePr/>
          <p:nvPr/>
        </p:nvGraphicFramePr>
        <p:xfrm>
          <a:off x="3607308" y="1219581"/>
          <a:ext cx="2654046" cy="2631567"/>
        </p:xfrm>
        <a:graphic>
          <a:graphicData uri="http://schemas.openxmlformats.org/drawingml/2006/table">
            <a:tbl>
              <a:tblPr/>
              <a:tblGrid>
                <a:gridCol w="1592580">
                  <a:extLst>
                    <a:ext uri="{9D8B030D-6E8A-4147-A177-3AD203B41FA5}">
                      <a16:colId xmlns:a16="http://schemas.microsoft.com/office/drawing/2014/main" val="20000"/>
                    </a:ext>
                  </a:extLst>
                </a:gridCol>
                <a:gridCol w="1061466">
                  <a:extLst>
                    <a:ext uri="{9D8B030D-6E8A-4147-A177-3AD203B41FA5}">
                      <a16:colId xmlns:a16="http://schemas.microsoft.com/office/drawing/2014/main" val="20001"/>
                    </a:ext>
                  </a:extLst>
                </a:gridCol>
              </a:tblGrid>
              <a:tr h="302895">
                <a:tc gridSpan="2">
                  <a:txBody>
                    <a:bodyPr/>
                    <a:lstStyle/>
                    <a:p>
                      <a:pPr marL="0" indent="0" algn="l">
                        <a:spcBef>
                          <a:spcPts val="0"/>
                        </a:spcBef>
                        <a:spcAft>
                          <a:spcPts val="0"/>
                        </a:spcAft>
                      </a:pPr>
                      <a:r>
                        <a:rPr sz="1050" b="1" i="0">
                          <a:solidFill>
                            <a:srgbClr val="FFFFFF"/>
                          </a:solidFill>
                          <a:latin typeface="Arial"/>
                          <a:ea typeface="Arial"/>
                          <a:cs typeface="Arial"/>
                        </a:rPr>
                        <a:t>Entry capitalization</a:t>
                      </a:r>
                      <a:endParaRPr sz="105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506F80"/>
                    </a:solidFill>
                  </a:tcPr>
                </a:tc>
                <a:tc hMerge="1">
                  <a:txBody>
                    <a:bodyPr/>
                    <a:lstStyle/>
                    <a:p>
                      <a:pPr marL="0" indent="0" algn="l">
                        <a:spcBef>
                          <a:spcPts val="0"/>
                        </a:spcBef>
                        <a:spcAft>
                          <a:spcPts val="0"/>
                        </a:spcAft>
                      </a:pPr>
                      <a:endParaRPr sz="105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506F80"/>
                    </a:solidFill>
                  </a:tcPr>
                </a:tc>
                <a:extLst>
                  <a:ext uri="{0D108BD9-81ED-4DB2-BD59-A6C34878D82A}">
                    <a16:rowId xmlns:a16="http://schemas.microsoft.com/office/drawing/2014/main" val="10000"/>
                  </a:ext>
                </a:extLst>
              </a:tr>
              <a:tr h="291084">
                <a:tc>
                  <a:txBody>
                    <a:bodyPr/>
                    <a:lstStyle/>
                    <a:p>
                      <a:pPr marL="0" indent="0" algn="l">
                        <a:spcBef>
                          <a:spcPts val="0"/>
                        </a:spcBef>
                        <a:spcAft>
                          <a:spcPts val="0"/>
                        </a:spcAft>
                      </a:pPr>
                      <a:r>
                        <a:rPr sz="825" b="0" i="0">
                          <a:solidFill>
                            <a:srgbClr val="333333"/>
                          </a:solidFill>
                          <a:latin typeface="Arial"/>
                          <a:ea typeface="Arial"/>
                          <a:cs typeface="Arial"/>
                        </a:rPr>
                        <a:t>Transaction enterprise value</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825" b="0" i="0">
                          <a:solidFill>
                            <a:srgbClr val="333333"/>
                          </a:solidFill>
                          <a:latin typeface="Arial"/>
                          <a:ea typeface="Arial"/>
                          <a:cs typeface="Arial"/>
                        </a:rPr>
                        <a:t>$1,200.0</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1"/>
                  </a:ext>
                </a:extLst>
              </a:tr>
              <a:tr h="291084">
                <a:tc>
                  <a:txBody>
                    <a:bodyPr/>
                    <a:lstStyle/>
                    <a:p>
                      <a:pPr marL="0" indent="0" algn="l">
                        <a:spcBef>
                          <a:spcPts val="0"/>
                        </a:spcBef>
                        <a:spcAft>
                          <a:spcPts val="0"/>
                        </a:spcAft>
                      </a:pPr>
                      <a:r>
                        <a:rPr sz="825" b="0" i="0">
                          <a:solidFill>
                            <a:srgbClr val="333333"/>
                          </a:solidFill>
                          <a:latin typeface="Arial"/>
                          <a:ea typeface="Arial"/>
                          <a:cs typeface="Arial"/>
                        </a:rPr>
                        <a:t>Gross debt</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825" b="0" i="0">
                          <a:solidFill>
                            <a:srgbClr val="333333"/>
                          </a:solidFill>
                          <a:latin typeface="Arial"/>
                          <a:ea typeface="Arial"/>
                          <a:cs typeface="Arial"/>
                        </a:rPr>
                        <a:t>$835.0</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2"/>
                  </a:ext>
                </a:extLst>
              </a:tr>
              <a:tr h="291084">
                <a:tc>
                  <a:txBody>
                    <a:bodyPr/>
                    <a:lstStyle/>
                    <a:p>
                      <a:pPr marL="0" indent="0" algn="l">
                        <a:spcBef>
                          <a:spcPts val="0"/>
                        </a:spcBef>
                        <a:spcAft>
                          <a:spcPts val="0"/>
                        </a:spcAft>
                      </a:pPr>
                      <a:r>
                        <a:rPr sz="825" b="0" i="0">
                          <a:solidFill>
                            <a:srgbClr val="333333"/>
                          </a:solidFill>
                          <a:latin typeface="Arial"/>
                          <a:ea typeface="Arial"/>
                          <a:cs typeface="Arial"/>
                        </a:rPr>
                        <a:t>Net debt</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825" b="0" i="0">
                          <a:solidFill>
                            <a:srgbClr val="333333"/>
                          </a:solidFill>
                          <a:latin typeface="Arial"/>
                          <a:ea typeface="Arial"/>
                          <a:cs typeface="Arial"/>
                        </a:rPr>
                        <a:t>$825.0</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3"/>
                  </a:ext>
                </a:extLst>
              </a:tr>
              <a:tr h="291084">
                <a:tc>
                  <a:txBody>
                    <a:bodyPr/>
                    <a:lstStyle/>
                    <a:p>
                      <a:pPr marL="0" indent="0" algn="l">
                        <a:spcBef>
                          <a:spcPts val="0"/>
                        </a:spcBef>
                        <a:spcAft>
                          <a:spcPts val="0"/>
                        </a:spcAft>
                      </a:pPr>
                      <a:r>
                        <a:rPr sz="825" b="0" i="0">
                          <a:solidFill>
                            <a:srgbClr val="333333"/>
                          </a:solidFill>
                          <a:latin typeface="Arial"/>
                          <a:ea typeface="Arial"/>
                          <a:cs typeface="Arial"/>
                        </a:rPr>
                        <a:t>Sponsor equity</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825" b="0" i="0">
                          <a:solidFill>
                            <a:srgbClr val="333333"/>
                          </a:solidFill>
                          <a:latin typeface="Arial"/>
                          <a:ea typeface="Arial"/>
                          <a:cs typeface="Arial"/>
                        </a:rPr>
                        <a:t>$412.5</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4"/>
                  </a:ext>
                </a:extLst>
              </a:tr>
              <a:tr h="291084">
                <a:tc>
                  <a:txBody>
                    <a:bodyPr/>
                    <a:lstStyle/>
                    <a:p>
                      <a:pPr marL="0" indent="0" algn="l">
                        <a:spcBef>
                          <a:spcPts val="0"/>
                        </a:spcBef>
                        <a:spcAft>
                          <a:spcPts val="0"/>
                        </a:spcAft>
                      </a:pPr>
                      <a:r>
                        <a:rPr sz="825" b="0" i="0">
                          <a:solidFill>
                            <a:srgbClr val="333333"/>
                          </a:solidFill>
                          <a:latin typeface="Arial"/>
                          <a:ea typeface="Arial"/>
                          <a:cs typeface="Arial"/>
                        </a:rPr>
                        <a:t>Gross debt / EBITDA</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825" b="0" i="0">
                          <a:solidFill>
                            <a:srgbClr val="333333"/>
                          </a:solidFill>
                          <a:latin typeface="Arial"/>
                          <a:ea typeface="Arial"/>
                          <a:cs typeface="Arial"/>
                        </a:rPr>
                        <a:t>7.0x</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5"/>
                  </a:ext>
                </a:extLst>
              </a:tr>
              <a:tr h="291084">
                <a:tc>
                  <a:txBody>
                    <a:bodyPr/>
                    <a:lstStyle/>
                    <a:p>
                      <a:pPr marL="0" indent="0" algn="l">
                        <a:spcBef>
                          <a:spcPts val="0"/>
                        </a:spcBef>
                        <a:spcAft>
                          <a:spcPts val="0"/>
                        </a:spcAft>
                      </a:pPr>
                      <a:r>
                        <a:rPr sz="825" b="0" i="0">
                          <a:solidFill>
                            <a:srgbClr val="333333"/>
                          </a:solidFill>
                          <a:latin typeface="Arial"/>
                          <a:ea typeface="Arial"/>
                          <a:cs typeface="Arial"/>
                        </a:rPr>
                        <a:t>Net debt / EBITDA</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825" b="0" i="0">
                          <a:solidFill>
                            <a:srgbClr val="333333"/>
                          </a:solidFill>
                          <a:latin typeface="Arial"/>
                          <a:ea typeface="Arial"/>
                          <a:cs typeface="Arial"/>
                        </a:rPr>
                        <a:t>6.9x</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6"/>
                  </a:ext>
                </a:extLst>
              </a:tr>
              <a:tr h="291084">
                <a:tc>
                  <a:txBody>
                    <a:bodyPr/>
                    <a:lstStyle/>
                    <a:p>
                      <a:pPr marL="0" indent="0" algn="l">
                        <a:spcBef>
                          <a:spcPts val="0"/>
                        </a:spcBef>
                        <a:spcAft>
                          <a:spcPts val="0"/>
                        </a:spcAft>
                      </a:pPr>
                      <a:r>
                        <a:rPr sz="825" b="0" i="0">
                          <a:solidFill>
                            <a:srgbClr val="333333"/>
                          </a:solidFill>
                          <a:latin typeface="Arial"/>
                          <a:ea typeface="Arial"/>
                          <a:cs typeface="Arial"/>
                        </a:rPr>
                        <a:t>Sponsor equity / sources</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825" b="0" i="0">
                          <a:solidFill>
                            <a:srgbClr val="333333"/>
                          </a:solidFill>
                          <a:latin typeface="Arial"/>
                          <a:ea typeface="Arial"/>
                          <a:cs typeface="Arial"/>
                        </a:rPr>
                        <a:t>32.7%</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7"/>
                  </a:ext>
                </a:extLst>
              </a:tr>
              <a:tr h="291084">
                <a:tc>
                  <a:txBody>
                    <a:bodyPr/>
                    <a:lstStyle/>
                    <a:p>
                      <a:pPr marL="0" indent="0" algn="l">
                        <a:spcBef>
                          <a:spcPts val="0"/>
                        </a:spcBef>
                        <a:spcAft>
                          <a:spcPts val="0"/>
                        </a:spcAft>
                      </a:pPr>
                      <a:r>
                        <a:rPr sz="825" b="0" i="0">
                          <a:solidFill>
                            <a:srgbClr val="333333"/>
                          </a:solidFill>
                          <a:latin typeface="Arial"/>
                          <a:ea typeface="Arial"/>
                          <a:cs typeface="Arial"/>
                        </a:rPr>
                        <a:t>Optional debt repayment</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825" b="0" i="0">
                          <a:solidFill>
                            <a:srgbClr val="333333"/>
                          </a:solidFill>
                          <a:latin typeface="Arial"/>
                          <a:ea typeface="Arial"/>
                          <a:cs typeface="Arial"/>
                        </a:rPr>
                        <a:t>0.0%</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8"/>
                  </a:ext>
                </a:extLst>
              </a:tr>
            </a:tbl>
          </a:graphicData>
        </a:graphic>
      </p:graphicFrame>
      <p:graphicFrame>
        <p:nvGraphicFramePr>
          <p:cNvPr id="47" name="Editable Cash Flow and Returns"/>
          <p:cNvGraphicFramePr/>
          <p:nvPr/>
        </p:nvGraphicFramePr>
        <p:xfrm>
          <a:off x="6261354" y="1219581"/>
          <a:ext cx="2654046" cy="2631567"/>
        </p:xfrm>
        <a:graphic>
          <a:graphicData uri="http://schemas.openxmlformats.org/drawingml/2006/table">
            <a:tbl>
              <a:tblPr/>
              <a:tblGrid>
                <a:gridCol w="1592580">
                  <a:extLst>
                    <a:ext uri="{9D8B030D-6E8A-4147-A177-3AD203B41FA5}">
                      <a16:colId xmlns:a16="http://schemas.microsoft.com/office/drawing/2014/main" val="20000"/>
                    </a:ext>
                  </a:extLst>
                </a:gridCol>
                <a:gridCol w="1061466">
                  <a:extLst>
                    <a:ext uri="{9D8B030D-6E8A-4147-A177-3AD203B41FA5}">
                      <a16:colId xmlns:a16="http://schemas.microsoft.com/office/drawing/2014/main" val="20001"/>
                    </a:ext>
                  </a:extLst>
                </a:gridCol>
              </a:tblGrid>
              <a:tr h="302895">
                <a:tc gridSpan="2">
                  <a:txBody>
                    <a:bodyPr/>
                    <a:lstStyle/>
                    <a:p>
                      <a:pPr marL="0" indent="0" algn="l">
                        <a:spcBef>
                          <a:spcPts val="0"/>
                        </a:spcBef>
                        <a:spcAft>
                          <a:spcPts val="0"/>
                        </a:spcAft>
                      </a:pPr>
                      <a:r>
                        <a:rPr sz="1050" b="1" i="0">
                          <a:solidFill>
                            <a:srgbClr val="FFFFFF"/>
                          </a:solidFill>
                          <a:latin typeface="Arial"/>
                          <a:ea typeface="Arial"/>
                          <a:cs typeface="Arial"/>
                        </a:rPr>
                        <a:t>Cash flow and returns</a:t>
                      </a:r>
                      <a:endParaRPr sz="105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426A5F"/>
                    </a:solidFill>
                  </a:tcPr>
                </a:tc>
                <a:tc hMerge="1">
                  <a:txBody>
                    <a:bodyPr/>
                    <a:lstStyle/>
                    <a:p>
                      <a:pPr marL="0" indent="0" algn="l">
                        <a:spcBef>
                          <a:spcPts val="0"/>
                        </a:spcBef>
                        <a:spcAft>
                          <a:spcPts val="0"/>
                        </a:spcAft>
                      </a:pPr>
                      <a:endParaRPr sz="105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426A5F"/>
                    </a:solidFill>
                  </a:tcPr>
                </a:tc>
                <a:extLst>
                  <a:ext uri="{0D108BD9-81ED-4DB2-BD59-A6C34878D82A}">
                    <a16:rowId xmlns:a16="http://schemas.microsoft.com/office/drawing/2014/main" val="10000"/>
                  </a:ext>
                </a:extLst>
              </a:tr>
              <a:tr h="291084">
                <a:tc>
                  <a:txBody>
                    <a:bodyPr/>
                    <a:lstStyle/>
                    <a:p>
                      <a:pPr marL="0" indent="0" algn="l">
                        <a:spcBef>
                          <a:spcPts val="0"/>
                        </a:spcBef>
                        <a:spcAft>
                          <a:spcPts val="0"/>
                        </a:spcAft>
                      </a:pPr>
                      <a:r>
                        <a:rPr sz="825" b="0" i="0">
                          <a:solidFill>
                            <a:srgbClr val="333333"/>
                          </a:solidFill>
                          <a:latin typeface="Arial"/>
                          <a:ea typeface="Arial"/>
                          <a:cs typeface="Arial"/>
                        </a:rPr>
                        <a:t>2031 exit EBITDA</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825" b="0" i="0">
                          <a:solidFill>
                            <a:srgbClr val="333333"/>
                          </a:solidFill>
                          <a:latin typeface="Arial"/>
                          <a:ea typeface="Arial"/>
                          <a:cs typeface="Arial"/>
                        </a:rPr>
                        <a:t>$159.5</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1"/>
                  </a:ext>
                </a:extLst>
              </a:tr>
              <a:tr h="291084">
                <a:tc>
                  <a:txBody>
                    <a:bodyPr/>
                    <a:lstStyle/>
                    <a:p>
                      <a:pPr marL="0" indent="0" algn="l">
                        <a:spcBef>
                          <a:spcPts val="0"/>
                        </a:spcBef>
                        <a:spcAft>
                          <a:spcPts val="0"/>
                        </a:spcAft>
                      </a:pPr>
                      <a:r>
                        <a:rPr sz="825" b="0" i="0">
                          <a:solidFill>
                            <a:srgbClr val="333333"/>
                          </a:solidFill>
                          <a:latin typeface="Arial"/>
                          <a:ea typeface="Arial"/>
                          <a:cs typeface="Arial"/>
                        </a:rPr>
                        <a:t>2031 exit multiple</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825" b="0" i="0">
                          <a:solidFill>
                            <a:srgbClr val="333333"/>
                          </a:solidFill>
                          <a:latin typeface="Arial"/>
                          <a:ea typeface="Arial"/>
                          <a:cs typeface="Arial"/>
                        </a:rPr>
                        <a:t>10.0x</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2"/>
                  </a:ext>
                </a:extLst>
              </a:tr>
              <a:tr h="291084">
                <a:tc>
                  <a:txBody>
                    <a:bodyPr/>
                    <a:lstStyle/>
                    <a:p>
                      <a:pPr marL="0" indent="0" algn="l">
                        <a:spcBef>
                          <a:spcPts val="0"/>
                        </a:spcBef>
                        <a:spcAft>
                          <a:spcPts val="0"/>
                        </a:spcAft>
                      </a:pPr>
                      <a:r>
                        <a:rPr sz="825" b="0" i="0">
                          <a:solidFill>
                            <a:srgbClr val="333333"/>
                          </a:solidFill>
                          <a:latin typeface="Arial"/>
                          <a:ea typeface="Arial"/>
                          <a:cs typeface="Arial"/>
                        </a:rPr>
                        <a:t>2031 year-end debt</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825" b="0" i="0">
                          <a:solidFill>
                            <a:srgbClr val="333333"/>
                          </a:solidFill>
                          <a:latin typeface="Arial"/>
                          <a:ea typeface="Arial"/>
                          <a:cs typeface="Arial"/>
                        </a:rPr>
                        <a:t>$811.0</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3"/>
                  </a:ext>
                </a:extLst>
              </a:tr>
              <a:tr h="291084">
                <a:tc>
                  <a:txBody>
                    <a:bodyPr/>
                    <a:lstStyle/>
                    <a:p>
                      <a:pPr marL="0" indent="0" algn="l">
                        <a:spcBef>
                          <a:spcPts val="0"/>
                        </a:spcBef>
                        <a:spcAft>
                          <a:spcPts val="0"/>
                        </a:spcAft>
                      </a:pPr>
                      <a:r>
                        <a:rPr sz="825" b="0" i="0">
                          <a:solidFill>
                            <a:srgbClr val="333333"/>
                          </a:solidFill>
                          <a:latin typeface="Arial"/>
                          <a:ea typeface="Arial"/>
                          <a:cs typeface="Arial"/>
                        </a:rPr>
                        <a:t>2031 ending cash</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825" b="0" i="0">
                          <a:solidFill>
                            <a:srgbClr val="333333"/>
                          </a:solidFill>
                          <a:latin typeface="Arial"/>
                          <a:ea typeface="Arial"/>
                          <a:cs typeface="Arial"/>
                        </a:rPr>
                        <a:t>$157.4</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4"/>
                  </a:ext>
                </a:extLst>
              </a:tr>
              <a:tr h="291084">
                <a:tc>
                  <a:txBody>
                    <a:bodyPr/>
                    <a:lstStyle/>
                    <a:p>
                      <a:pPr marL="0" indent="0" algn="l">
                        <a:spcBef>
                          <a:spcPts val="0"/>
                        </a:spcBef>
                        <a:spcAft>
                          <a:spcPts val="0"/>
                        </a:spcAft>
                      </a:pPr>
                      <a:r>
                        <a:rPr sz="825" b="0" i="0">
                          <a:solidFill>
                            <a:srgbClr val="333333"/>
                          </a:solidFill>
                          <a:latin typeface="Arial"/>
                          <a:ea typeface="Arial"/>
                          <a:cs typeface="Arial"/>
                        </a:rPr>
                        <a:t>Exit equity value</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825" b="0" i="0">
                          <a:solidFill>
                            <a:srgbClr val="333333"/>
                          </a:solidFill>
                          <a:latin typeface="Arial"/>
                          <a:ea typeface="Arial"/>
                          <a:cs typeface="Arial"/>
                        </a:rPr>
                        <a:t>$893.7</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5"/>
                  </a:ext>
                </a:extLst>
              </a:tr>
              <a:tr h="291084">
                <a:tc>
                  <a:txBody>
                    <a:bodyPr/>
                    <a:lstStyle/>
                    <a:p>
                      <a:pPr marL="0" indent="0" algn="l">
                        <a:spcBef>
                          <a:spcPts val="0"/>
                        </a:spcBef>
                        <a:spcAft>
                          <a:spcPts val="0"/>
                        </a:spcAft>
                      </a:pPr>
                      <a:r>
                        <a:rPr sz="825" b="0" i="0">
                          <a:solidFill>
                            <a:srgbClr val="333333"/>
                          </a:solidFill>
                          <a:latin typeface="Arial"/>
                          <a:ea typeface="Arial"/>
                          <a:cs typeface="Arial"/>
                        </a:rPr>
                        <a:t>Sponsor MOIC</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0AE"/>
                    </a:solidFill>
                  </a:tcPr>
                </a:tc>
                <a:tc>
                  <a:txBody>
                    <a:bodyPr/>
                    <a:lstStyle/>
                    <a:p>
                      <a:pPr marL="0" indent="0" algn="l">
                        <a:spcBef>
                          <a:spcPts val="0"/>
                        </a:spcBef>
                        <a:spcAft>
                          <a:spcPts val="0"/>
                        </a:spcAft>
                      </a:pPr>
                      <a:r>
                        <a:rPr sz="825" b="0" i="0">
                          <a:solidFill>
                            <a:srgbClr val="333333"/>
                          </a:solidFill>
                          <a:latin typeface="Arial"/>
                          <a:ea typeface="Arial"/>
                          <a:cs typeface="Arial"/>
                        </a:rPr>
                        <a:t>2.17x</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0AE"/>
                    </a:solidFill>
                  </a:tcPr>
                </a:tc>
                <a:extLst>
                  <a:ext uri="{0D108BD9-81ED-4DB2-BD59-A6C34878D82A}">
                    <a16:rowId xmlns:a16="http://schemas.microsoft.com/office/drawing/2014/main" val="10006"/>
                  </a:ext>
                </a:extLst>
              </a:tr>
              <a:tr h="291084">
                <a:tc>
                  <a:txBody>
                    <a:bodyPr/>
                    <a:lstStyle/>
                    <a:p>
                      <a:pPr marL="0" indent="0" algn="l">
                        <a:spcBef>
                          <a:spcPts val="0"/>
                        </a:spcBef>
                        <a:spcAft>
                          <a:spcPts val="0"/>
                        </a:spcAft>
                      </a:pPr>
                      <a:r>
                        <a:rPr sz="825" b="0" i="0">
                          <a:solidFill>
                            <a:srgbClr val="333333"/>
                          </a:solidFill>
                          <a:latin typeface="Arial"/>
                          <a:ea typeface="Arial"/>
                          <a:cs typeface="Arial"/>
                        </a:rPr>
                        <a:t>Sponsor IRR</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0AE"/>
                    </a:solidFill>
                  </a:tcPr>
                </a:tc>
                <a:tc>
                  <a:txBody>
                    <a:bodyPr/>
                    <a:lstStyle/>
                    <a:p>
                      <a:pPr marL="0" indent="0" algn="l">
                        <a:spcBef>
                          <a:spcPts val="0"/>
                        </a:spcBef>
                        <a:spcAft>
                          <a:spcPts val="0"/>
                        </a:spcAft>
                      </a:pPr>
                      <a:r>
                        <a:rPr sz="825" b="0" i="0">
                          <a:solidFill>
                            <a:srgbClr val="333333"/>
                          </a:solidFill>
                          <a:latin typeface="Arial"/>
                          <a:ea typeface="Arial"/>
                          <a:cs typeface="Arial"/>
                        </a:rPr>
                        <a:t>16.7%</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0AE"/>
                    </a:solidFill>
                  </a:tcPr>
                </a:tc>
                <a:extLst>
                  <a:ext uri="{0D108BD9-81ED-4DB2-BD59-A6C34878D82A}">
                    <a16:rowId xmlns:a16="http://schemas.microsoft.com/office/drawing/2014/main" val="10007"/>
                  </a:ext>
                </a:extLst>
              </a:tr>
              <a:tr h="291084">
                <a:tc>
                  <a:txBody>
                    <a:bodyPr/>
                    <a:lstStyle/>
                    <a:p>
                      <a:pPr marL="0" indent="0" algn="l">
                        <a:spcBef>
                          <a:spcPts val="0"/>
                        </a:spcBef>
                        <a:spcAft>
                          <a:spcPts val="0"/>
                        </a:spcAft>
                      </a:pPr>
                      <a:r>
                        <a:rPr sz="825" b="0" i="0">
                          <a:solidFill>
                            <a:srgbClr val="333333"/>
                          </a:solidFill>
                          <a:latin typeface="Arial"/>
                          <a:ea typeface="Arial"/>
                          <a:cs typeface="Arial"/>
                        </a:rPr>
                        <a:t>Interim distribution</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l">
                        <a:spcBef>
                          <a:spcPts val="0"/>
                        </a:spcBef>
                        <a:spcAft>
                          <a:spcPts val="0"/>
                        </a:spcAft>
                      </a:pPr>
                      <a:r>
                        <a:rPr sz="825" b="0" i="0">
                          <a:solidFill>
                            <a:srgbClr val="333333"/>
                          </a:solidFill>
                          <a:latin typeface="Arial"/>
                          <a:ea typeface="Arial"/>
                          <a:cs typeface="Arial"/>
                        </a:rPr>
                        <a:t>-</a:t>
                      </a:r>
                      <a:endParaRPr sz="82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8"/>
                  </a:ext>
                </a:extLst>
              </a:tr>
            </a:tbl>
          </a:graphicData>
        </a:graphic>
      </p:graphicFrame>
      <p:graphicFrame>
        <p:nvGraphicFramePr>
          <p:cNvPr id="48" name="Editable IRR Sensitivity"/>
          <p:cNvGraphicFramePr/>
          <p:nvPr/>
        </p:nvGraphicFramePr>
        <p:xfrm>
          <a:off x="3607308" y="4212050"/>
          <a:ext cx="2623473" cy="1968817"/>
        </p:xfrm>
        <a:graphic>
          <a:graphicData uri="http://schemas.openxmlformats.org/drawingml/2006/table">
            <a:tbl>
              <a:tblPr/>
              <a:tblGrid>
                <a:gridCol w="701993">
                  <a:extLst>
                    <a:ext uri="{9D8B030D-6E8A-4147-A177-3AD203B41FA5}">
                      <a16:colId xmlns:a16="http://schemas.microsoft.com/office/drawing/2014/main" val="20000"/>
                    </a:ext>
                  </a:extLst>
                </a:gridCol>
                <a:gridCol w="384296">
                  <a:extLst>
                    <a:ext uri="{9D8B030D-6E8A-4147-A177-3AD203B41FA5}">
                      <a16:colId xmlns:a16="http://schemas.microsoft.com/office/drawing/2014/main" val="20001"/>
                    </a:ext>
                  </a:extLst>
                </a:gridCol>
                <a:gridCol w="384296">
                  <a:extLst>
                    <a:ext uri="{9D8B030D-6E8A-4147-A177-3AD203B41FA5}">
                      <a16:colId xmlns:a16="http://schemas.microsoft.com/office/drawing/2014/main" val="20002"/>
                    </a:ext>
                  </a:extLst>
                </a:gridCol>
                <a:gridCol w="384296">
                  <a:extLst>
                    <a:ext uri="{9D8B030D-6E8A-4147-A177-3AD203B41FA5}">
                      <a16:colId xmlns:a16="http://schemas.microsoft.com/office/drawing/2014/main" val="20003"/>
                    </a:ext>
                  </a:extLst>
                </a:gridCol>
                <a:gridCol w="384296">
                  <a:extLst>
                    <a:ext uri="{9D8B030D-6E8A-4147-A177-3AD203B41FA5}">
                      <a16:colId xmlns:a16="http://schemas.microsoft.com/office/drawing/2014/main" val="20004"/>
                    </a:ext>
                  </a:extLst>
                </a:gridCol>
                <a:gridCol w="384296">
                  <a:extLst>
                    <a:ext uri="{9D8B030D-6E8A-4147-A177-3AD203B41FA5}">
                      <a16:colId xmlns:a16="http://schemas.microsoft.com/office/drawing/2014/main" val="20005"/>
                    </a:ext>
                  </a:extLst>
                </a:gridCol>
              </a:tblGrid>
              <a:tr h="283369">
                <a:tc gridSpan="6">
                  <a:txBody>
                    <a:bodyPr/>
                    <a:lstStyle/>
                    <a:p>
                      <a:pPr marL="0" indent="0" algn="l">
                        <a:spcBef>
                          <a:spcPts val="0"/>
                        </a:spcBef>
                        <a:spcAft>
                          <a:spcPts val="0"/>
                        </a:spcAft>
                      </a:pPr>
                      <a:r>
                        <a:rPr sz="915" b="1" i="0">
                          <a:solidFill>
                            <a:srgbClr val="FFFFFF"/>
                          </a:solidFill>
                          <a:latin typeface="Arial"/>
                          <a:ea typeface="Arial"/>
                          <a:cs typeface="Arial"/>
                        </a:rPr>
                        <a:t>Sponsor IRR | Revenue growth sensitivity</a:t>
                      </a:r>
                      <a:endParaRPr sz="91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506F80"/>
                    </a:solidFill>
                  </a:tcPr>
                </a:tc>
                <a:tc hMerge="1">
                  <a:txBody>
                    <a:bodyPr/>
                    <a:lstStyle/>
                    <a:p>
                      <a:pPr marL="0" indent="0" algn="l">
                        <a:spcBef>
                          <a:spcPts val="0"/>
                        </a:spcBef>
                        <a:spcAft>
                          <a:spcPts val="0"/>
                        </a:spcAft>
                      </a:pPr>
                      <a:endParaRPr sz="91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506F80"/>
                    </a:solidFill>
                  </a:tcPr>
                </a:tc>
                <a:tc hMerge="1">
                  <a:txBody>
                    <a:bodyPr/>
                    <a:lstStyle/>
                    <a:p>
                      <a:pPr marL="0" indent="0" algn="l">
                        <a:spcBef>
                          <a:spcPts val="0"/>
                        </a:spcBef>
                        <a:spcAft>
                          <a:spcPts val="0"/>
                        </a:spcAft>
                      </a:pPr>
                      <a:endParaRPr sz="91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506F80"/>
                    </a:solidFill>
                  </a:tcPr>
                </a:tc>
                <a:tc hMerge="1">
                  <a:txBody>
                    <a:bodyPr/>
                    <a:lstStyle/>
                    <a:p>
                      <a:pPr marL="0" indent="0" algn="l">
                        <a:spcBef>
                          <a:spcPts val="0"/>
                        </a:spcBef>
                        <a:spcAft>
                          <a:spcPts val="0"/>
                        </a:spcAft>
                      </a:pPr>
                      <a:endParaRPr sz="91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506F80"/>
                    </a:solidFill>
                  </a:tcPr>
                </a:tc>
                <a:tc hMerge="1">
                  <a:txBody>
                    <a:bodyPr/>
                    <a:lstStyle/>
                    <a:p>
                      <a:pPr marL="0" indent="0" algn="l">
                        <a:spcBef>
                          <a:spcPts val="0"/>
                        </a:spcBef>
                        <a:spcAft>
                          <a:spcPts val="0"/>
                        </a:spcAft>
                      </a:pPr>
                      <a:endParaRPr sz="91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506F80"/>
                    </a:solidFill>
                  </a:tcPr>
                </a:tc>
                <a:tc hMerge="1">
                  <a:txBody>
                    <a:bodyPr/>
                    <a:lstStyle/>
                    <a:p>
                      <a:pPr marL="0" indent="0" algn="l">
                        <a:spcBef>
                          <a:spcPts val="0"/>
                        </a:spcBef>
                        <a:spcAft>
                          <a:spcPts val="0"/>
                        </a:spcAft>
                      </a:pPr>
                      <a:endParaRPr sz="91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506F80"/>
                    </a:solidFill>
                  </a:tcPr>
                </a:tc>
                <a:extLst>
                  <a:ext uri="{0D108BD9-81ED-4DB2-BD59-A6C34878D82A}">
                    <a16:rowId xmlns:a16="http://schemas.microsoft.com/office/drawing/2014/main" val="10000"/>
                  </a:ext>
                </a:extLst>
              </a:tr>
              <a:tr h="242888">
                <a:tc>
                  <a:txBody>
                    <a:bodyPr/>
                    <a:lstStyle/>
                    <a:p>
                      <a:pPr marL="0" indent="0" algn="ctr">
                        <a:spcBef>
                          <a:spcPts val="0"/>
                        </a:spcBef>
                        <a:spcAft>
                          <a:spcPts val="0"/>
                        </a:spcAft>
                      </a:pPr>
                      <a:r>
                        <a:rPr sz="690" b="1" i="0">
                          <a:solidFill>
                            <a:srgbClr val="333333"/>
                          </a:solidFill>
                          <a:latin typeface="Arial"/>
                          <a:ea typeface="Arial"/>
                          <a:cs typeface="Arial"/>
                        </a:rPr>
                        <a:t>Exit multiple</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CADCD7"/>
                    </a:solidFill>
                  </a:tcPr>
                </a:tc>
                <a:tc>
                  <a:txBody>
                    <a:bodyPr/>
                    <a:lstStyle/>
                    <a:p>
                      <a:pPr marL="0" indent="0" algn="ctr">
                        <a:spcBef>
                          <a:spcPts val="0"/>
                        </a:spcBef>
                        <a:spcAft>
                          <a:spcPts val="0"/>
                        </a:spcAft>
                      </a:pPr>
                      <a:r>
                        <a:rPr sz="690" b="1" i="0">
                          <a:solidFill>
                            <a:srgbClr val="333333"/>
                          </a:solidFill>
                          <a:latin typeface="Arial"/>
                          <a:ea typeface="Arial"/>
                          <a:cs typeface="Arial"/>
                        </a:rPr>
                        <a:t>3.0%</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CADCD7"/>
                    </a:solidFill>
                  </a:tcPr>
                </a:tc>
                <a:tc>
                  <a:txBody>
                    <a:bodyPr/>
                    <a:lstStyle/>
                    <a:p>
                      <a:pPr marL="0" indent="0" algn="ctr">
                        <a:spcBef>
                          <a:spcPts val="0"/>
                        </a:spcBef>
                        <a:spcAft>
                          <a:spcPts val="0"/>
                        </a:spcAft>
                      </a:pPr>
                      <a:r>
                        <a:rPr sz="690" b="1" i="0">
                          <a:solidFill>
                            <a:srgbClr val="333333"/>
                          </a:solidFill>
                          <a:latin typeface="Arial"/>
                          <a:ea typeface="Arial"/>
                          <a:cs typeface="Arial"/>
                        </a:rPr>
                        <a:t>3.5%</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CADCD7"/>
                    </a:solidFill>
                  </a:tcPr>
                </a:tc>
                <a:tc>
                  <a:txBody>
                    <a:bodyPr/>
                    <a:lstStyle/>
                    <a:p>
                      <a:pPr marL="0" indent="0" algn="ctr">
                        <a:spcBef>
                          <a:spcPts val="0"/>
                        </a:spcBef>
                        <a:spcAft>
                          <a:spcPts val="0"/>
                        </a:spcAft>
                      </a:pPr>
                      <a:r>
                        <a:rPr sz="690" b="1" i="0">
                          <a:solidFill>
                            <a:srgbClr val="333333"/>
                          </a:solidFill>
                          <a:latin typeface="Arial"/>
                          <a:ea typeface="Arial"/>
                          <a:cs typeface="Arial"/>
                        </a:rPr>
                        <a:t>4.5%</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CADCD7"/>
                    </a:solidFill>
                  </a:tcPr>
                </a:tc>
                <a:tc>
                  <a:txBody>
                    <a:bodyPr/>
                    <a:lstStyle/>
                    <a:p>
                      <a:pPr marL="0" indent="0" algn="ctr">
                        <a:spcBef>
                          <a:spcPts val="0"/>
                        </a:spcBef>
                        <a:spcAft>
                          <a:spcPts val="0"/>
                        </a:spcAft>
                      </a:pPr>
                      <a:r>
                        <a:rPr sz="690" b="1" i="0">
                          <a:solidFill>
                            <a:srgbClr val="333333"/>
                          </a:solidFill>
                          <a:latin typeface="Arial"/>
                          <a:ea typeface="Arial"/>
                          <a:cs typeface="Arial"/>
                        </a:rPr>
                        <a:t>5.0%</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CADCD7"/>
                    </a:solidFill>
                  </a:tcPr>
                </a:tc>
                <a:tc>
                  <a:txBody>
                    <a:bodyPr/>
                    <a:lstStyle/>
                    <a:p>
                      <a:pPr marL="0" indent="0" algn="ctr">
                        <a:spcBef>
                          <a:spcPts val="0"/>
                        </a:spcBef>
                        <a:spcAft>
                          <a:spcPts val="0"/>
                        </a:spcAft>
                      </a:pPr>
                      <a:r>
                        <a:rPr sz="690" b="1" i="0">
                          <a:solidFill>
                            <a:srgbClr val="333333"/>
                          </a:solidFill>
                          <a:latin typeface="Arial"/>
                          <a:ea typeface="Arial"/>
                          <a:cs typeface="Arial"/>
                        </a:rPr>
                        <a:t>5.5%</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CADCD7"/>
                    </a:solidFill>
                  </a:tcPr>
                </a:tc>
                <a:extLst>
                  <a:ext uri="{0D108BD9-81ED-4DB2-BD59-A6C34878D82A}">
                    <a16:rowId xmlns:a16="http://schemas.microsoft.com/office/drawing/2014/main" val="10001"/>
                  </a:ext>
                </a:extLst>
              </a:tr>
              <a:tr h="288512">
                <a:tc>
                  <a:txBody>
                    <a:bodyPr/>
                    <a:lstStyle/>
                    <a:p>
                      <a:pPr marL="0" indent="0" algn="ctr">
                        <a:spcBef>
                          <a:spcPts val="0"/>
                        </a:spcBef>
                        <a:spcAft>
                          <a:spcPts val="0"/>
                        </a:spcAft>
                      </a:pPr>
                      <a:r>
                        <a:rPr sz="690" b="1" i="0">
                          <a:solidFill>
                            <a:srgbClr val="333333"/>
                          </a:solidFill>
                          <a:latin typeface="Arial"/>
                          <a:ea typeface="Arial"/>
                          <a:cs typeface="Arial"/>
                        </a:rPr>
                        <a:t>9.0x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EDF2F3"/>
                    </a:solidFill>
                  </a:tcPr>
                </a:tc>
                <a:tc>
                  <a:txBody>
                    <a:bodyPr/>
                    <a:lstStyle/>
                    <a:p>
                      <a:pPr marL="0" indent="0" algn="ctr">
                        <a:spcBef>
                          <a:spcPts val="0"/>
                        </a:spcBef>
                        <a:spcAft>
                          <a:spcPts val="0"/>
                        </a:spcAft>
                      </a:pPr>
                      <a:r>
                        <a:rPr sz="690" b="0" i="0">
                          <a:solidFill>
                            <a:srgbClr val="333333"/>
                          </a:solidFill>
                          <a:latin typeface="Arial"/>
                          <a:ea typeface="Arial"/>
                          <a:cs typeface="Arial"/>
                        </a:rPr>
                        <a:t>8.6%</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9.9%</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12.4%</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13.5%</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14.7%</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2"/>
                  </a:ext>
                </a:extLst>
              </a:tr>
              <a:tr h="288512">
                <a:tc>
                  <a:txBody>
                    <a:bodyPr/>
                    <a:lstStyle/>
                    <a:p>
                      <a:pPr marL="0" indent="0" algn="ctr">
                        <a:spcBef>
                          <a:spcPts val="0"/>
                        </a:spcBef>
                        <a:spcAft>
                          <a:spcPts val="0"/>
                        </a:spcAft>
                      </a:pPr>
                      <a:r>
                        <a:rPr sz="690" b="1" i="0">
                          <a:solidFill>
                            <a:srgbClr val="333333"/>
                          </a:solidFill>
                          <a:latin typeface="Arial"/>
                          <a:ea typeface="Arial"/>
                          <a:cs typeface="Arial"/>
                        </a:rPr>
                        <a:t>9.5x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EDF2F3"/>
                    </a:solidFill>
                  </a:tcPr>
                </a:tc>
                <a:tc>
                  <a:txBody>
                    <a:bodyPr/>
                    <a:lstStyle/>
                    <a:p>
                      <a:pPr marL="0" indent="0" algn="ctr">
                        <a:spcBef>
                          <a:spcPts val="0"/>
                        </a:spcBef>
                        <a:spcAft>
                          <a:spcPts val="0"/>
                        </a:spcAft>
                      </a:pPr>
                      <a:r>
                        <a:rPr sz="690" b="0" i="0">
                          <a:solidFill>
                            <a:srgbClr val="333333"/>
                          </a:solidFill>
                          <a:latin typeface="Arial"/>
                          <a:ea typeface="Arial"/>
                          <a:cs typeface="Arial"/>
                        </a:rPr>
                        <a:t>11.0%</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12.3%</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14.6%</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15.8%</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16.9%</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3"/>
                  </a:ext>
                </a:extLst>
              </a:tr>
              <a:tr h="288512">
                <a:tc>
                  <a:txBody>
                    <a:bodyPr/>
                    <a:lstStyle/>
                    <a:p>
                      <a:pPr marL="0" indent="0" algn="ctr">
                        <a:spcBef>
                          <a:spcPts val="0"/>
                        </a:spcBef>
                        <a:spcAft>
                          <a:spcPts val="0"/>
                        </a:spcAft>
                      </a:pPr>
                      <a:r>
                        <a:rPr sz="690" b="1" i="0">
                          <a:solidFill>
                            <a:srgbClr val="333333"/>
                          </a:solidFill>
                          <a:latin typeface="Arial"/>
                          <a:ea typeface="Arial"/>
                          <a:cs typeface="Arial"/>
                        </a:rPr>
                        <a:t>10.0x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EDF2F3"/>
                    </a:solidFill>
                  </a:tcPr>
                </a:tc>
                <a:tc>
                  <a:txBody>
                    <a:bodyPr/>
                    <a:lstStyle/>
                    <a:p>
                      <a:pPr marL="0" indent="0" algn="ctr">
                        <a:spcBef>
                          <a:spcPts val="0"/>
                        </a:spcBef>
                        <a:spcAft>
                          <a:spcPts val="0"/>
                        </a:spcAft>
                      </a:pPr>
                      <a:r>
                        <a:rPr sz="690" b="0" i="0">
                          <a:solidFill>
                            <a:srgbClr val="333333"/>
                          </a:solidFill>
                          <a:latin typeface="Arial"/>
                          <a:ea typeface="Arial"/>
                          <a:cs typeface="Arial"/>
                        </a:rPr>
                        <a:t>13.2%</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14.4%</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16.7%</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0AE"/>
                    </a:solidFill>
                  </a:tcPr>
                </a:tc>
                <a:tc>
                  <a:txBody>
                    <a:bodyPr/>
                    <a:lstStyle/>
                    <a:p>
                      <a:pPr marL="0" indent="0" algn="ctr">
                        <a:spcBef>
                          <a:spcPts val="0"/>
                        </a:spcBef>
                        <a:spcAft>
                          <a:spcPts val="0"/>
                        </a:spcAft>
                      </a:pPr>
                      <a:r>
                        <a:rPr sz="690" b="0" i="0">
                          <a:solidFill>
                            <a:srgbClr val="333333"/>
                          </a:solidFill>
                          <a:latin typeface="Arial"/>
                          <a:ea typeface="Arial"/>
                          <a:cs typeface="Arial"/>
                        </a:rPr>
                        <a:t>17.8%</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18.9%</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4"/>
                  </a:ext>
                </a:extLst>
              </a:tr>
              <a:tr h="288512">
                <a:tc>
                  <a:txBody>
                    <a:bodyPr/>
                    <a:lstStyle/>
                    <a:p>
                      <a:pPr marL="0" indent="0" algn="ctr">
                        <a:spcBef>
                          <a:spcPts val="0"/>
                        </a:spcBef>
                        <a:spcAft>
                          <a:spcPts val="0"/>
                        </a:spcAft>
                      </a:pPr>
                      <a:r>
                        <a:rPr sz="690" b="1" i="0">
                          <a:solidFill>
                            <a:srgbClr val="333333"/>
                          </a:solidFill>
                          <a:latin typeface="Arial"/>
                          <a:ea typeface="Arial"/>
                          <a:cs typeface="Arial"/>
                        </a:rPr>
                        <a:t>10.5x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EDF2F3"/>
                    </a:solidFill>
                  </a:tcPr>
                </a:tc>
                <a:tc>
                  <a:txBody>
                    <a:bodyPr/>
                    <a:lstStyle/>
                    <a:p>
                      <a:pPr marL="0" indent="0" algn="ctr">
                        <a:spcBef>
                          <a:spcPts val="0"/>
                        </a:spcBef>
                        <a:spcAft>
                          <a:spcPts val="0"/>
                        </a:spcAft>
                      </a:pPr>
                      <a:r>
                        <a:rPr sz="690" b="0" i="0">
                          <a:solidFill>
                            <a:srgbClr val="333333"/>
                          </a:solidFill>
                          <a:latin typeface="Arial"/>
                          <a:ea typeface="Arial"/>
                          <a:cs typeface="Arial"/>
                        </a:rPr>
                        <a:t>15.3%</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16.4%</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18.7%</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19.8%</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20.8%</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5"/>
                  </a:ext>
                </a:extLst>
              </a:tr>
              <a:tr h="288512">
                <a:tc>
                  <a:txBody>
                    <a:bodyPr/>
                    <a:lstStyle/>
                    <a:p>
                      <a:pPr marL="0" indent="0" algn="ctr">
                        <a:spcBef>
                          <a:spcPts val="0"/>
                        </a:spcBef>
                        <a:spcAft>
                          <a:spcPts val="0"/>
                        </a:spcAft>
                      </a:pPr>
                      <a:r>
                        <a:rPr sz="690" b="1" i="0">
                          <a:solidFill>
                            <a:srgbClr val="333333"/>
                          </a:solidFill>
                          <a:latin typeface="Arial"/>
                          <a:ea typeface="Arial"/>
                          <a:cs typeface="Arial"/>
                        </a:rPr>
                        <a:t>11.0x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EDF2F3"/>
                    </a:solidFill>
                  </a:tcPr>
                </a:tc>
                <a:tc>
                  <a:txBody>
                    <a:bodyPr/>
                    <a:lstStyle/>
                    <a:p>
                      <a:pPr marL="0" indent="0" algn="ctr">
                        <a:spcBef>
                          <a:spcPts val="0"/>
                        </a:spcBef>
                        <a:spcAft>
                          <a:spcPts val="0"/>
                        </a:spcAft>
                      </a:pPr>
                      <a:r>
                        <a:rPr sz="690" b="0" i="0">
                          <a:solidFill>
                            <a:srgbClr val="333333"/>
                          </a:solidFill>
                          <a:latin typeface="Arial"/>
                          <a:ea typeface="Arial"/>
                          <a:cs typeface="Arial"/>
                        </a:rPr>
                        <a:t>17.2%</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18.3%</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20.5%</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21.6%</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22.6%</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6"/>
                  </a:ext>
                </a:extLst>
              </a:tr>
            </a:tbl>
          </a:graphicData>
        </a:graphic>
      </p:graphicFrame>
      <p:graphicFrame>
        <p:nvGraphicFramePr>
          <p:cNvPr id="49" name="Editable MOIC Sensitivity"/>
          <p:cNvGraphicFramePr/>
          <p:nvPr/>
        </p:nvGraphicFramePr>
        <p:xfrm>
          <a:off x="6291929" y="4212050"/>
          <a:ext cx="2623473" cy="1968817"/>
        </p:xfrm>
        <a:graphic>
          <a:graphicData uri="http://schemas.openxmlformats.org/drawingml/2006/table">
            <a:tbl>
              <a:tblPr/>
              <a:tblGrid>
                <a:gridCol w="701993">
                  <a:extLst>
                    <a:ext uri="{9D8B030D-6E8A-4147-A177-3AD203B41FA5}">
                      <a16:colId xmlns:a16="http://schemas.microsoft.com/office/drawing/2014/main" val="20000"/>
                    </a:ext>
                  </a:extLst>
                </a:gridCol>
                <a:gridCol w="384296">
                  <a:extLst>
                    <a:ext uri="{9D8B030D-6E8A-4147-A177-3AD203B41FA5}">
                      <a16:colId xmlns:a16="http://schemas.microsoft.com/office/drawing/2014/main" val="20001"/>
                    </a:ext>
                  </a:extLst>
                </a:gridCol>
                <a:gridCol w="384296">
                  <a:extLst>
                    <a:ext uri="{9D8B030D-6E8A-4147-A177-3AD203B41FA5}">
                      <a16:colId xmlns:a16="http://schemas.microsoft.com/office/drawing/2014/main" val="20002"/>
                    </a:ext>
                  </a:extLst>
                </a:gridCol>
                <a:gridCol w="384296">
                  <a:extLst>
                    <a:ext uri="{9D8B030D-6E8A-4147-A177-3AD203B41FA5}">
                      <a16:colId xmlns:a16="http://schemas.microsoft.com/office/drawing/2014/main" val="20003"/>
                    </a:ext>
                  </a:extLst>
                </a:gridCol>
                <a:gridCol w="384296">
                  <a:extLst>
                    <a:ext uri="{9D8B030D-6E8A-4147-A177-3AD203B41FA5}">
                      <a16:colId xmlns:a16="http://schemas.microsoft.com/office/drawing/2014/main" val="20004"/>
                    </a:ext>
                  </a:extLst>
                </a:gridCol>
                <a:gridCol w="384296">
                  <a:extLst>
                    <a:ext uri="{9D8B030D-6E8A-4147-A177-3AD203B41FA5}">
                      <a16:colId xmlns:a16="http://schemas.microsoft.com/office/drawing/2014/main" val="20005"/>
                    </a:ext>
                  </a:extLst>
                </a:gridCol>
              </a:tblGrid>
              <a:tr h="283369">
                <a:tc gridSpan="6">
                  <a:txBody>
                    <a:bodyPr/>
                    <a:lstStyle/>
                    <a:p>
                      <a:pPr marL="0" indent="0" algn="l">
                        <a:spcBef>
                          <a:spcPts val="0"/>
                        </a:spcBef>
                        <a:spcAft>
                          <a:spcPts val="0"/>
                        </a:spcAft>
                      </a:pPr>
                      <a:r>
                        <a:rPr sz="915" b="1" i="0">
                          <a:solidFill>
                            <a:srgbClr val="FFFFFF"/>
                          </a:solidFill>
                          <a:latin typeface="Arial"/>
                          <a:ea typeface="Arial"/>
                          <a:cs typeface="Arial"/>
                        </a:rPr>
                        <a:t>Sponsor MOIC | Revenue growth sensitivity</a:t>
                      </a:r>
                      <a:endParaRPr sz="91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506F80"/>
                    </a:solidFill>
                  </a:tcPr>
                </a:tc>
                <a:tc hMerge="1">
                  <a:txBody>
                    <a:bodyPr/>
                    <a:lstStyle/>
                    <a:p>
                      <a:pPr marL="0" indent="0" algn="l">
                        <a:spcBef>
                          <a:spcPts val="0"/>
                        </a:spcBef>
                        <a:spcAft>
                          <a:spcPts val="0"/>
                        </a:spcAft>
                      </a:pPr>
                      <a:endParaRPr sz="91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506F80"/>
                    </a:solidFill>
                  </a:tcPr>
                </a:tc>
                <a:tc hMerge="1">
                  <a:txBody>
                    <a:bodyPr/>
                    <a:lstStyle/>
                    <a:p>
                      <a:pPr marL="0" indent="0" algn="l">
                        <a:spcBef>
                          <a:spcPts val="0"/>
                        </a:spcBef>
                        <a:spcAft>
                          <a:spcPts val="0"/>
                        </a:spcAft>
                      </a:pPr>
                      <a:endParaRPr sz="91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506F80"/>
                    </a:solidFill>
                  </a:tcPr>
                </a:tc>
                <a:tc hMerge="1">
                  <a:txBody>
                    <a:bodyPr/>
                    <a:lstStyle/>
                    <a:p>
                      <a:pPr marL="0" indent="0" algn="l">
                        <a:spcBef>
                          <a:spcPts val="0"/>
                        </a:spcBef>
                        <a:spcAft>
                          <a:spcPts val="0"/>
                        </a:spcAft>
                      </a:pPr>
                      <a:endParaRPr sz="91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506F80"/>
                    </a:solidFill>
                  </a:tcPr>
                </a:tc>
                <a:tc hMerge="1">
                  <a:txBody>
                    <a:bodyPr/>
                    <a:lstStyle/>
                    <a:p>
                      <a:pPr marL="0" indent="0" algn="l">
                        <a:spcBef>
                          <a:spcPts val="0"/>
                        </a:spcBef>
                        <a:spcAft>
                          <a:spcPts val="0"/>
                        </a:spcAft>
                      </a:pPr>
                      <a:endParaRPr sz="91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506F80"/>
                    </a:solidFill>
                  </a:tcPr>
                </a:tc>
                <a:tc hMerge="1">
                  <a:txBody>
                    <a:bodyPr/>
                    <a:lstStyle/>
                    <a:p>
                      <a:pPr marL="0" indent="0" algn="l">
                        <a:spcBef>
                          <a:spcPts val="0"/>
                        </a:spcBef>
                        <a:spcAft>
                          <a:spcPts val="0"/>
                        </a:spcAft>
                      </a:pPr>
                      <a:endParaRPr sz="915"/>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506F80"/>
                    </a:solidFill>
                  </a:tcPr>
                </a:tc>
                <a:extLst>
                  <a:ext uri="{0D108BD9-81ED-4DB2-BD59-A6C34878D82A}">
                    <a16:rowId xmlns:a16="http://schemas.microsoft.com/office/drawing/2014/main" val="10000"/>
                  </a:ext>
                </a:extLst>
              </a:tr>
              <a:tr h="242888">
                <a:tc>
                  <a:txBody>
                    <a:bodyPr/>
                    <a:lstStyle/>
                    <a:p>
                      <a:pPr marL="0" indent="0" algn="ctr">
                        <a:spcBef>
                          <a:spcPts val="0"/>
                        </a:spcBef>
                        <a:spcAft>
                          <a:spcPts val="0"/>
                        </a:spcAft>
                      </a:pPr>
                      <a:r>
                        <a:rPr sz="690" b="1" i="0">
                          <a:solidFill>
                            <a:srgbClr val="333333"/>
                          </a:solidFill>
                          <a:latin typeface="Arial"/>
                          <a:ea typeface="Arial"/>
                          <a:cs typeface="Arial"/>
                        </a:rPr>
                        <a:t>Exit multiple</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CADCD7"/>
                    </a:solidFill>
                  </a:tcPr>
                </a:tc>
                <a:tc>
                  <a:txBody>
                    <a:bodyPr/>
                    <a:lstStyle/>
                    <a:p>
                      <a:pPr marL="0" indent="0" algn="ctr">
                        <a:spcBef>
                          <a:spcPts val="0"/>
                        </a:spcBef>
                        <a:spcAft>
                          <a:spcPts val="0"/>
                        </a:spcAft>
                      </a:pPr>
                      <a:r>
                        <a:rPr sz="690" b="1" i="0">
                          <a:solidFill>
                            <a:srgbClr val="333333"/>
                          </a:solidFill>
                          <a:latin typeface="Arial"/>
                          <a:ea typeface="Arial"/>
                          <a:cs typeface="Arial"/>
                        </a:rPr>
                        <a:t>3.0%</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CADCD7"/>
                    </a:solidFill>
                  </a:tcPr>
                </a:tc>
                <a:tc>
                  <a:txBody>
                    <a:bodyPr/>
                    <a:lstStyle/>
                    <a:p>
                      <a:pPr marL="0" indent="0" algn="ctr">
                        <a:spcBef>
                          <a:spcPts val="0"/>
                        </a:spcBef>
                        <a:spcAft>
                          <a:spcPts val="0"/>
                        </a:spcAft>
                      </a:pPr>
                      <a:r>
                        <a:rPr sz="690" b="1" i="0">
                          <a:solidFill>
                            <a:srgbClr val="333333"/>
                          </a:solidFill>
                          <a:latin typeface="Arial"/>
                          <a:ea typeface="Arial"/>
                          <a:cs typeface="Arial"/>
                        </a:rPr>
                        <a:t>3.5%</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CADCD7"/>
                    </a:solidFill>
                  </a:tcPr>
                </a:tc>
                <a:tc>
                  <a:txBody>
                    <a:bodyPr/>
                    <a:lstStyle/>
                    <a:p>
                      <a:pPr marL="0" indent="0" algn="ctr">
                        <a:spcBef>
                          <a:spcPts val="0"/>
                        </a:spcBef>
                        <a:spcAft>
                          <a:spcPts val="0"/>
                        </a:spcAft>
                      </a:pPr>
                      <a:r>
                        <a:rPr sz="690" b="1" i="0">
                          <a:solidFill>
                            <a:srgbClr val="333333"/>
                          </a:solidFill>
                          <a:latin typeface="Arial"/>
                          <a:ea typeface="Arial"/>
                          <a:cs typeface="Arial"/>
                        </a:rPr>
                        <a:t>4.5%</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CADCD7"/>
                    </a:solidFill>
                  </a:tcPr>
                </a:tc>
                <a:tc>
                  <a:txBody>
                    <a:bodyPr/>
                    <a:lstStyle/>
                    <a:p>
                      <a:pPr marL="0" indent="0" algn="ctr">
                        <a:spcBef>
                          <a:spcPts val="0"/>
                        </a:spcBef>
                        <a:spcAft>
                          <a:spcPts val="0"/>
                        </a:spcAft>
                      </a:pPr>
                      <a:r>
                        <a:rPr sz="690" b="1" i="0">
                          <a:solidFill>
                            <a:srgbClr val="333333"/>
                          </a:solidFill>
                          <a:latin typeface="Arial"/>
                          <a:ea typeface="Arial"/>
                          <a:cs typeface="Arial"/>
                        </a:rPr>
                        <a:t>5.0%</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CADCD7"/>
                    </a:solidFill>
                  </a:tcPr>
                </a:tc>
                <a:tc>
                  <a:txBody>
                    <a:bodyPr/>
                    <a:lstStyle/>
                    <a:p>
                      <a:pPr marL="0" indent="0" algn="ctr">
                        <a:spcBef>
                          <a:spcPts val="0"/>
                        </a:spcBef>
                        <a:spcAft>
                          <a:spcPts val="0"/>
                        </a:spcAft>
                      </a:pPr>
                      <a:r>
                        <a:rPr sz="690" b="1" i="0">
                          <a:solidFill>
                            <a:srgbClr val="333333"/>
                          </a:solidFill>
                          <a:latin typeface="Arial"/>
                          <a:ea typeface="Arial"/>
                          <a:cs typeface="Arial"/>
                        </a:rPr>
                        <a:t>5.5%</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CADCD7"/>
                    </a:solidFill>
                  </a:tcPr>
                </a:tc>
                <a:extLst>
                  <a:ext uri="{0D108BD9-81ED-4DB2-BD59-A6C34878D82A}">
                    <a16:rowId xmlns:a16="http://schemas.microsoft.com/office/drawing/2014/main" val="10001"/>
                  </a:ext>
                </a:extLst>
              </a:tr>
              <a:tr h="288512">
                <a:tc>
                  <a:txBody>
                    <a:bodyPr/>
                    <a:lstStyle/>
                    <a:p>
                      <a:pPr marL="0" indent="0" algn="ctr">
                        <a:spcBef>
                          <a:spcPts val="0"/>
                        </a:spcBef>
                        <a:spcAft>
                          <a:spcPts val="0"/>
                        </a:spcAft>
                      </a:pPr>
                      <a:r>
                        <a:rPr sz="690" b="1" i="0">
                          <a:solidFill>
                            <a:srgbClr val="333333"/>
                          </a:solidFill>
                          <a:latin typeface="Arial"/>
                          <a:ea typeface="Arial"/>
                          <a:cs typeface="Arial"/>
                        </a:rPr>
                        <a:t>9.0x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EDF2F3"/>
                    </a:solidFill>
                  </a:tcPr>
                </a:tc>
                <a:tc>
                  <a:txBody>
                    <a:bodyPr/>
                    <a:lstStyle/>
                    <a:p>
                      <a:pPr marL="0" indent="0" algn="ctr">
                        <a:spcBef>
                          <a:spcPts val="0"/>
                        </a:spcBef>
                        <a:spcAft>
                          <a:spcPts val="0"/>
                        </a:spcAft>
                      </a:pPr>
                      <a:r>
                        <a:rPr sz="690" b="0" i="0">
                          <a:solidFill>
                            <a:srgbClr val="333333"/>
                          </a:solidFill>
                          <a:latin typeface="Arial"/>
                          <a:ea typeface="Arial"/>
                          <a:cs typeface="Arial"/>
                        </a:rPr>
                        <a:t>1.51x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1.60x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1.79x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1.89x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1.99x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2"/>
                  </a:ext>
                </a:extLst>
              </a:tr>
              <a:tr h="288512">
                <a:tc>
                  <a:txBody>
                    <a:bodyPr/>
                    <a:lstStyle/>
                    <a:p>
                      <a:pPr marL="0" indent="0" algn="ctr">
                        <a:spcBef>
                          <a:spcPts val="0"/>
                        </a:spcBef>
                        <a:spcAft>
                          <a:spcPts val="0"/>
                        </a:spcAft>
                      </a:pPr>
                      <a:r>
                        <a:rPr sz="690" b="1" i="0">
                          <a:solidFill>
                            <a:srgbClr val="333333"/>
                          </a:solidFill>
                          <a:latin typeface="Arial"/>
                          <a:ea typeface="Arial"/>
                          <a:cs typeface="Arial"/>
                        </a:rPr>
                        <a:t>9.5x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EDF2F3"/>
                    </a:solidFill>
                  </a:tcPr>
                </a:tc>
                <a:tc>
                  <a:txBody>
                    <a:bodyPr/>
                    <a:lstStyle/>
                    <a:p>
                      <a:pPr marL="0" indent="0" algn="ctr">
                        <a:spcBef>
                          <a:spcPts val="0"/>
                        </a:spcBef>
                        <a:spcAft>
                          <a:spcPts val="0"/>
                        </a:spcAft>
                      </a:pPr>
                      <a:r>
                        <a:rPr sz="690" b="0" i="0">
                          <a:solidFill>
                            <a:srgbClr val="333333"/>
                          </a:solidFill>
                          <a:latin typeface="Arial"/>
                          <a:ea typeface="Arial"/>
                          <a:cs typeface="Arial"/>
                        </a:rPr>
                        <a:t>1.69x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1.78x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1.98x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2.08x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2.18x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3"/>
                  </a:ext>
                </a:extLst>
              </a:tr>
              <a:tr h="288512">
                <a:tc>
                  <a:txBody>
                    <a:bodyPr/>
                    <a:lstStyle/>
                    <a:p>
                      <a:pPr marL="0" indent="0" algn="ctr">
                        <a:spcBef>
                          <a:spcPts val="0"/>
                        </a:spcBef>
                        <a:spcAft>
                          <a:spcPts val="0"/>
                        </a:spcAft>
                      </a:pPr>
                      <a:r>
                        <a:rPr sz="690" b="1" i="0">
                          <a:solidFill>
                            <a:srgbClr val="333333"/>
                          </a:solidFill>
                          <a:latin typeface="Arial"/>
                          <a:ea typeface="Arial"/>
                          <a:cs typeface="Arial"/>
                        </a:rPr>
                        <a:t>10.0x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EDF2F3"/>
                    </a:solidFill>
                  </a:tcPr>
                </a:tc>
                <a:tc>
                  <a:txBody>
                    <a:bodyPr/>
                    <a:lstStyle/>
                    <a:p>
                      <a:pPr marL="0" indent="0" algn="ctr">
                        <a:spcBef>
                          <a:spcPts val="0"/>
                        </a:spcBef>
                        <a:spcAft>
                          <a:spcPts val="0"/>
                        </a:spcAft>
                      </a:pPr>
                      <a:r>
                        <a:rPr sz="690" b="0" i="0">
                          <a:solidFill>
                            <a:srgbClr val="333333"/>
                          </a:solidFill>
                          <a:latin typeface="Arial"/>
                          <a:ea typeface="Arial"/>
                          <a:cs typeface="Arial"/>
                        </a:rPr>
                        <a:t>1.86x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1.96x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2.17x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0AE"/>
                    </a:solidFill>
                  </a:tcPr>
                </a:tc>
                <a:tc>
                  <a:txBody>
                    <a:bodyPr/>
                    <a:lstStyle/>
                    <a:p>
                      <a:pPr marL="0" indent="0" algn="ctr">
                        <a:spcBef>
                          <a:spcPts val="0"/>
                        </a:spcBef>
                        <a:spcAft>
                          <a:spcPts val="0"/>
                        </a:spcAft>
                      </a:pPr>
                      <a:r>
                        <a:rPr sz="690" b="0" i="0">
                          <a:solidFill>
                            <a:srgbClr val="333333"/>
                          </a:solidFill>
                          <a:latin typeface="Arial"/>
                          <a:ea typeface="Arial"/>
                          <a:cs typeface="Arial"/>
                        </a:rPr>
                        <a:t>2.27x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2.38x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4"/>
                  </a:ext>
                </a:extLst>
              </a:tr>
              <a:tr h="288512">
                <a:tc>
                  <a:txBody>
                    <a:bodyPr/>
                    <a:lstStyle/>
                    <a:p>
                      <a:pPr marL="0" indent="0" algn="ctr">
                        <a:spcBef>
                          <a:spcPts val="0"/>
                        </a:spcBef>
                        <a:spcAft>
                          <a:spcPts val="0"/>
                        </a:spcAft>
                      </a:pPr>
                      <a:r>
                        <a:rPr sz="690" b="1" i="0">
                          <a:solidFill>
                            <a:srgbClr val="333333"/>
                          </a:solidFill>
                          <a:latin typeface="Arial"/>
                          <a:ea typeface="Arial"/>
                          <a:cs typeface="Arial"/>
                        </a:rPr>
                        <a:t>10.5x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EDF2F3"/>
                    </a:solidFill>
                  </a:tcPr>
                </a:tc>
                <a:tc>
                  <a:txBody>
                    <a:bodyPr/>
                    <a:lstStyle/>
                    <a:p>
                      <a:pPr marL="0" indent="0" algn="ctr">
                        <a:spcBef>
                          <a:spcPts val="0"/>
                        </a:spcBef>
                        <a:spcAft>
                          <a:spcPts val="0"/>
                        </a:spcAft>
                      </a:pPr>
                      <a:r>
                        <a:rPr sz="690" b="0" i="0">
                          <a:solidFill>
                            <a:srgbClr val="333333"/>
                          </a:solidFill>
                          <a:latin typeface="Arial"/>
                          <a:ea typeface="Arial"/>
                          <a:cs typeface="Arial"/>
                        </a:rPr>
                        <a:t>2.04x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2.14x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2.35x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2.46x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2.58x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5"/>
                  </a:ext>
                </a:extLst>
              </a:tr>
              <a:tr h="288512">
                <a:tc>
                  <a:txBody>
                    <a:bodyPr/>
                    <a:lstStyle/>
                    <a:p>
                      <a:pPr marL="0" indent="0" algn="ctr">
                        <a:spcBef>
                          <a:spcPts val="0"/>
                        </a:spcBef>
                        <a:spcAft>
                          <a:spcPts val="0"/>
                        </a:spcAft>
                      </a:pPr>
                      <a:r>
                        <a:rPr sz="690" b="1" i="0">
                          <a:solidFill>
                            <a:srgbClr val="333333"/>
                          </a:solidFill>
                          <a:latin typeface="Arial"/>
                          <a:ea typeface="Arial"/>
                          <a:cs typeface="Arial"/>
                        </a:rPr>
                        <a:t>11.0x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EDF2F3"/>
                    </a:solidFill>
                  </a:tcPr>
                </a:tc>
                <a:tc>
                  <a:txBody>
                    <a:bodyPr/>
                    <a:lstStyle/>
                    <a:p>
                      <a:pPr marL="0" indent="0" algn="ctr">
                        <a:spcBef>
                          <a:spcPts val="0"/>
                        </a:spcBef>
                        <a:spcAft>
                          <a:spcPts val="0"/>
                        </a:spcAft>
                      </a:pPr>
                      <a:r>
                        <a:rPr sz="690" b="0" i="0">
                          <a:solidFill>
                            <a:srgbClr val="333333"/>
                          </a:solidFill>
                          <a:latin typeface="Arial"/>
                          <a:ea typeface="Arial"/>
                          <a:cs typeface="Arial"/>
                        </a:rPr>
                        <a:t>2.21x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2.32x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2.54x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2.66x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tc>
                  <a:txBody>
                    <a:bodyPr/>
                    <a:lstStyle/>
                    <a:p>
                      <a:pPr marL="0" indent="0" algn="ctr">
                        <a:spcBef>
                          <a:spcPts val="0"/>
                        </a:spcBef>
                        <a:spcAft>
                          <a:spcPts val="0"/>
                        </a:spcAft>
                      </a:pPr>
                      <a:r>
                        <a:rPr sz="690" b="0" i="0">
                          <a:solidFill>
                            <a:srgbClr val="333333"/>
                          </a:solidFill>
                          <a:latin typeface="Arial"/>
                          <a:ea typeface="Arial"/>
                          <a:cs typeface="Arial"/>
                        </a:rPr>
                        <a:t>2.77x</a:t>
                      </a:r>
                      <a:endParaRPr sz="690"/>
                    </a:p>
                  </a:txBody>
                  <a:tcPr marL="19050" marR="19050" marT="0" marB="0" anchor="ctr">
                    <a:lnL w="4762">
                      <a:solidFill>
                        <a:srgbClr val="AABAC3"/>
                      </a:solidFill>
                    </a:lnL>
                    <a:lnR w="4762">
                      <a:solidFill>
                        <a:srgbClr val="AABAC3"/>
                      </a:solidFill>
                    </a:lnR>
                    <a:lnT w="4762">
                      <a:solidFill>
                        <a:srgbClr val="AABAC3"/>
                      </a:solidFill>
                    </a:lnT>
                    <a:lnB w="4762">
                      <a:solidFill>
                        <a:srgbClr val="AABAC3"/>
                      </a:solidFill>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45527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vised Technology Title">
            <a:extLst>
              <a:ext uri="{FF2B5EF4-FFF2-40B4-BE49-F238E27FC236}">
                <a16:creationId xmlns:a16="http://schemas.microsoft.com/office/drawing/2014/main" id="{72E6F273-5671-4740-8A29-1B8B0BC15AF9}"/>
              </a:ext>
            </a:extLst>
          </p:cNvPr>
          <p:cNvSpPr>
            <a:spLocks noGrp="1"/>
          </p:cNvSpPr>
          <p:nvPr/>
        </p:nvSpPr>
        <p:spPr>
          <a:xfrm>
            <a:off x="320040" y="407670"/>
            <a:ext cx="8503920" cy="409575"/>
          </a:xfrm>
          <a:prstGeom prst="rect">
            <a:avLst/>
          </a:prstGeom>
          <a:noFill/>
          <a:ln w="0">
            <a:noFill/>
          </a:ln>
        </p:spPr>
        <p:txBody>
          <a:bodyPr lIns="0" tIns="0" rIns="0" bIns="0" anchor="t">
            <a:noAutofit/>
          </a:bodyPr>
          <a:lstStyle/>
          <a:p>
            <a:pPr>
              <a:defRPr sz="1988" b="0">
                <a:solidFill>
                  <a:srgbClr val="4E6879"/>
                </a:solidFill>
                <a:latin typeface="Arial"/>
                <a:ea typeface="Arial"/>
                <a:cs typeface="Arial"/>
              </a:defRPr>
            </a:pPr>
            <a:r>
              <a:rPr sz="1988" b="0">
                <a:solidFill>
                  <a:srgbClr val="4E6879"/>
                </a:solidFill>
                <a:latin typeface="Arial"/>
                <a:ea typeface="Arial"/>
                <a:cs typeface="Arial"/>
              </a:rPr>
              <a:t>[Company Name] | Technology and Value Creation</a:t>
            </a:r>
          </a:p>
        </p:txBody>
      </p:sp>
      <p:sp>
        <p:nvSpPr>
          <p:cNvPr id="15" name="Revised Technology Identity">
            <a:extLst>
              <a:ext uri="{FF2B5EF4-FFF2-40B4-BE49-F238E27FC236}">
                <a16:creationId xmlns:a16="http://schemas.microsoft.com/office/drawing/2014/main" id="{B87E461C-32AD-4CC4-9640-D6552BAE6C25}"/>
              </a:ext>
            </a:extLst>
          </p:cNvPr>
          <p:cNvSpPr>
            <a:spLocks noGrp="1"/>
          </p:cNvSpPr>
          <p:nvPr/>
        </p:nvSpPr>
        <p:spPr>
          <a:xfrm>
            <a:off x="320040" y="912495"/>
            <a:ext cx="8595360" cy="228600"/>
          </a:xfrm>
          <a:prstGeom prst="rect">
            <a:avLst/>
          </a:prstGeom>
          <a:noFill/>
          <a:ln w="0">
            <a:noFill/>
          </a:ln>
        </p:spPr>
        <p:txBody>
          <a:bodyPr lIns="0" tIns="0" rIns="0" bIns="0" anchor="t">
            <a:noAutofit/>
          </a:bodyPr>
          <a:lstStyle/>
          <a:p>
            <a:pPr>
              <a:defRPr sz="1125" b="0">
                <a:solidFill>
                  <a:srgbClr val="333333"/>
                </a:solidFill>
                <a:latin typeface="Arial"/>
                <a:ea typeface="Arial"/>
                <a:cs typeface="Arial"/>
              </a:defRPr>
            </a:pPr>
            <a:r>
              <a:rPr sz="1125" b="0">
                <a:solidFill>
                  <a:srgbClr val="333333"/>
                </a:solidFill>
                <a:latin typeface="Arial"/>
                <a:ea typeface="Arial"/>
                <a:cs typeface="Arial"/>
              </a:rPr>
              <a:t>[Team Number] | [Team Members] | [Date]</a:t>
            </a:r>
          </a:p>
        </p:txBody>
      </p:sp>
      <p:sp>
        <p:nvSpPr>
          <p:cNvPr id="16" name="Revised Optional Label">
            <a:extLst>
              <a:ext uri="{FF2B5EF4-FFF2-40B4-BE49-F238E27FC236}">
                <a16:creationId xmlns:a16="http://schemas.microsoft.com/office/drawing/2014/main" id="{9C0D4F45-6E4E-4E99-A9BA-88931E22B6BE}"/>
              </a:ext>
            </a:extLst>
          </p:cNvPr>
          <p:cNvSpPr>
            <a:spLocks noGrp="1"/>
          </p:cNvSpPr>
          <p:nvPr/>
        </p:nvSpPr>
        <p:spPr>
          <a:xfrm>
            <a:off x="228600" y="1276350"/>
            <a:ext cx="8686800" cy="219075"/>
          </a:xfrm>
          <a:prstGeom prst="rect">
            <a:avLst/>
          </a:prstGeom>
          <a:noFill/>
          <a:ln w="0">
            <a:noFill/>
          </a:ln>
        </p:spPr>
        <p:txBody>
          <a:bodyPr lIns="0" tIns="0" rIns="0" bIns="0" anchor="t">
            <a:noAutofit/>
          </a:bodyPr>
          <a:lstStyle/>
          <a:p>
            <a:pPr>
              <a:defRPr sz="900" b="1">
                <a:solidFill>
                  <a:srgbClr val="426A5F"/>
                </a:solidFill>
                <a:latin typeface="Arial"/>
                <a:ea typeface="Arial"/>
                <a:cs typeface="Arial"/>
              </a:defRPr>
            </a:pPr>
            <a:r>
              <a:rPr sz="900" b="1">
                <a:solidFill>
                  <a:srgbClr val="426A5F"/>
                </a:solidFill>
                <a:latin typeface="Arial"/>
                <a:ea typeface="Arial"/>
                <a:cs typeface="Arial"/>
              </a:rPr>
              <a:t>OPTIONAL ADDITIONAL SLIDE</a:t>
            </a:r>
          </a:p>
        </p:txBody>
      </p:sp>
      <p:sp>
        <p:nvSpPr>
          <p:cNvPr id="17" name="Revised Technology Purpose">
            <a:extLst>
              <a:ext uri="{FF2B5EF4-FFF2-40B4-BE49-F238E27FC236}">
                <a16:creationId xmlns:a16="http://schemas.microsoft.com/office/drawing/2014/main" id="{BA1C0B85-FC9D-42BA-83E1-A169F520AFC2}"/>
              </a:ext>
            </a:extLst>
          </p:cNvPr>
          <p:cNvSpPr>
            <a:spLocks noGrp="1"/>
          </p:cNvSpPr>
          <p:nvPr/>
        </p:nvSpPr>
        <p:spPr>
          <a:xfrm>
            <a:off x="228600" y="1571625"/>
            <a:ext cx="8610600" cy="400050"/>
          </a:xfrm>
          <a:prstGeom prst="rect">
            <a:avLst/>
          </a:prstGeom>
          <a:noFill/>
          <a:ln w="0">
            <a:noFill/>
          </a:ln>
        </p:spPr>
        <p:txBody>
          <a:bodyPr lIns="0" tIns="0" rIns="0" bIns="0" anchor="t">
            <a:noAutofit/>
          </a:bodyPr>
          <a:lstStyle/>
          <a:p>
            <a:pPr>
              <a:defRPr sz="1200" b="0">
                <a:solidFill>
                  <a:srgbClr val="4E6879"/>
                </a:solidFill>
                <a:latin typeface="Arial"/>
                <a:ea typeface="Arial"/>
                <a:cs typeface="Arial"/>
              </a:defRPr>
            </a:pPr>
            <a:r>
              <a:rPr sz="1200" b="0">
                <a:solidFill>
                  <a:srgbClr val="4E6879"/>
                </a:solidFill>
                <a:latin typeface="Arial"/>
                <a:ea typeface="Arial"/>
                <a:cs typeface="Arial"/>
              </a:rPr>
              <a:t>Explore how technology could improve the business and strengthen your investment case.</a:t>
            </a:r>
          </a:p>
        </p:txBody>
      </p:sp>
      <p:sp>
        <p:nvSpPr>
          <p:cNvPr id="18" name="Revised Current Header">
            <a:extLst>
              <a:ext uri="{FF2B5EF4-FFF2-40B4-BE49-F238E27FC236}">
                <a16:creationId xmlns:a16="http://schemas.microsoft.com/office/drawing/2014/main" id="{9F2965F5-50D6-4013-90AD-8216429BC37C}"/>
              </a:ext>
            </a:extLst>
          </p:cNvPr>
          <p:cNvSpPr>
            <a:spLocks noGrp="1"/>
          </p:cNvSpPr>
          <p:nvPr/>
        </p:nvSpPr>
        <p:spPr>
          <a:xfrm>
            <a:off x="228600" y="2190750"/>
            <a:ext cx="4274820" cy="285750"/>
          </a:xfrm>
          <a:prstGeom prst="roundRect">
            <a:avLst>
              <a:gd name="adj" fmla="val 26667"/>
            </a:avLst>
          </a:prstGeom>
          <a:solidFill>
            <a:srgbClr val="426A5F"/>
          </a:solidFill>
          <a:ln w="0">
            <a:noFill/>
          </a:ln>
        </p:spPr>
        <p:txBody>
          <a:bodyPr lIns="0" tIns="0" rIns="0" bIns="0" anchor="t">
            <a:noAutofit/>
          </a:bodyPr>
          <a:lstStyle/>
          <a:p>
            <a:pPr algn="ctr">
              <a:defRPr sz="990" b="1">
                <a:solidFill>
                  <a:srgbClr val="FFFFFF"/>
                </a:solidFill>
                <a:latin typeface="Arial"/>
                <a:ea typeface="Arial"/>
                <a:cs typeface="Arial"/>
              </a:defRPr>
            </a:pPr>
            <a:r>
              <a:rPr sz="990" b="1">
                <a:solidFill>
                  <a:srgbClr val="FFFFFF"/>
                </a:solidFill>
                <a:latin typeface="Arial"/>
                <a:ea typeface="Arial"/>
                <a:cs typeface="Arial"/>
              </a:rPr>
              <a:t>Technology in the Business Today</a:t>
            </a:r>
          </a:p>
        </p:txBody>
      </p:sp>
      <p:sp>
        <p:nvSpPr>
          <p:cNvPr id="19" name="Revised Opportunity Header">
            <a:extLst>
              <a:ext uri="{FF2B5EF4-FFF2-40B4-BE49-F238E27FC236}">
                <a16:creationId xmlns:a16="http://schemas.microsoft.com/office/drawing/2014/main" id="{CFBE8C94-05E8-4A18-8A41-9BDE828F1A25}"/>
              </a:ext>
            </a:extLst>
          </p:cNvPr>
          <p:cNvSpPr>
            <a:spLocks noGrp="1"/>
          </p:cNvSpPr>
          <p:nvPr/>
        </p:nvSpPr>
        <p:spPr>
          <a:xfrm>
            <a:off x="4640580" y="2190750"/>
            <a:ext cx="4274820" cy="285750"/>
          </a:xfrm>
          <a:prstGeom prst="roundRect">
            <a:avLst>
              <a:gd name="adj" fmla="val 26667"/>
            </a:avLst>
          </a:prstGeom>
          <a:solidFill>
            <a:srgbClr val="486374"/>
          </a:solidFill>
          <a:ln w="0">
            <a:noFill/>
          </a:ln>
        </p:spPr>
        <p:txBody>
          <a:bodyPr lIns="0" tIns="0" rIns="0" bIns="0" anchor="t">
            <a:noAutofit/>
          </a:bodyPr>
          <a:lstStyle/>
          <a:p>
            <a:pPr algn="ctr">
              <a:defRPr sz="990" b="1">
                <a:solidFill>
                  <a:srgbClr val="FFFFFF"/>
                </a:solidFill>
                <a:latin typeface="Arial"/>
                <a:ea typeface="Arial"/>
                <a:cs typeface="Arial"/>
              </a:defRPr>
            </a:pPr>
            <a:r>
              <a:rPr sz="990" b="1">
                <a:solidFill>
                  <a:srgbClr val="FFFFFF"/>
                </a:solidFill>
                <a:latin typeface="Arial"/>
                <a:ea typeface="Arial"/>
                <a:cs typeface="Arial"/>
              </a:rPr>
              <a:t>An Opportunity to Create Value</a:t>
            </a:r>
          </a:p>
        </p:txBody>
      </p:sp>
      <p:sp>
        <p:nvSpPr>
          <p:cNvPr id="20" name="Revised Current Body">
            <a:extLst>
              <a:ext uri="{FF2B5EF4-FFF2-40B4-BE49-F238E27FC236}">
                <a16:creationId xmlns:a16="http://schemas.microsoft.com/office/drawing/2014/main" id="{AB0AF556-E934-4CB9-AB45-EB173CBF2AAB}"/>
              </a:ext>
            </a:extLst>
          </p:cNvPr>
          <p:cNvSpPr>
            <a:spLocks noGrp="1"/>
          </p:cNvSpPr>
          <p:nvPr/>
        </p:nvSpPr>
        <p:spPr>
          <a:xfrm>
            <a:off x="314325" y="2676525"/>
            <a:ext cx="4048125" cy="847725"/>
          </a:xfrm>
          <a:prstGeom prst="rect">
            <a:avLst/>
          </a:prstGeom>
          <a:noFill/>
          <a:ln w="0">
            <a:noFill/>
          </a:ln>
        </p:spPr>
        <p:txBody>
          <a:bodyPr lIns="0" tIns="0" rIns="0" bIns="0" anchor="t">
            <a:noAutofit/>
          </a:bodyPr>
          <a:lstStyle/>
          <a:p>
            <a:pPr>
              <a:defRPr sz="1125" b="0">
                <a:solidFill>
                  <a:srgbClr val="333333"/>
                </a:solidFill>
                <a:latin typeface="Arial"/>
                <a:ea typeface="Arial"/>
                <a:cs typeface="Arial"/>
              </a:defRPr>
            </a:pPr>
            <a:r>
              <a:rPr sz="1125" b="0">
                <a:solidFill>
                  <a:srgbClr val="333333"/>
                </a:solidFill>
                <a:latin typeface="Arial"/>
                <a:ea typeface="Arial"/>
                <a:cs typeface="Arial"/>
              </a:rPr>
              <a:t>[How the company uses technology today, and an opportunity worth exploring.]</a:t>
            </a:r>
          </a:p>
        </p:txBody>
      </p:sp>
      <p:sp>
        <p:nvSpPr>
          <p:cNvPr id="21" name="Revised Opportunity Body">
            <a:extLst>
              <a:ext uri="{FF2B5EF4-FFF2-40B4-BE49-F238E27FC236}">
                <a16:creationId xmlns:a16="http://schemas.microsoft.com/office/drawing/2014/main" id="{2E9CBA3B-BA6B-4D03-B0DF-4BE1A2C55CA9}"/>
              </a:ext>
            </a:extLst>
          </p:cNvPr>
          <p:cNvSpPr>
            <a:spLocks noGrp="1"/>
          </p:cNvSpPr>
          <p:nvPr/>
        </p:nvSpPr>
        <p:spPr>
          <a:xfrm>
            <a:off x="4726305" y="2676525"/>
            <a:ext cx="4048125" cy="847725"/>
          </a:xfrm>
          <a:prstGeom prst="rect">
            <a:avLst/>
          </a:prstGeom>
          <a:noFill/>
          <a:ln w="0">
            <a:noFill/>
          </a:ln>
        </p:spPr>
        <p:txBody>
          <a:bodyPr lIns="0" tIns="0" rIns="0" bIns="0" anchor="t">
            <a:noAutofit/>
          </a:bodyPr>
          <a:lstStyle/>
          <a:p>
            <a:pPr>
              <a:defRPr sz="1125" b="0">
                <a:solidFill>
                  <a:srgbClr val="333333"/>
                </a:solidFill>
                <a:latin typeface="Arial"/>
                <a:ea typeface="Arial"/>
                <a:cs typeface="Arial"/>
              </a:defRPr>
            </a:pPr>
            <a:r>
              <a:rPr sz="1125" b="0">
                <a:solidFill>
                  <a:srgbClr val="333333"/>
                </a:solidFill>
                <a:latin typeface="Arial"/>
                <a:ea typeface="Arial"/>
                <a:cs typeface="Arial"/>
              </a:rPr>
              <a:t>[Your idea, why it fits the company, and the evidence that makes it worth considering.]</a:t>
            </a:r>
          </a:p>
        </p:txBody>
      </p:sp>
      <p:sp>
        <p:nvSpPr>
          <p:cNvPr id="22" name="Revised Impact Header">
            <a:extLst>
              <a:ext uri="{FF2B5EF4-FFF2-40B4-BE49-F238E27FC236}">
                <a16:creationId xmlns:a16="http://schemas.microsoft.com/office/drawing/2014/main" id="{3ED16E95-9057-4E36-9A57-4E20488C8B49}"/>
              </a:ext>
            </a:extLst>
          </p:cNvPr>
          <p:cNvSpPr>
            <a:spLocks noGrp="1"/>
          </p:cNvSpPr>
          <p:nvPr/>
        </p:nvSpPr>
        <p:spPr>
          <a:xfrm>
            <a:off x="228600" y="3943350"/>
            <a:ext cx="8686800" cy="285750"/>
          </a:xfrm>
          <a:prstGeom prst="roundRect">
            <a:avLst>
              <a:gd name="adj" fmla="val 26667"/>
            </a:avLst>
          </a:prstGeom>
          <a:solidFill>
            <a:srgbClr val="426A5F"/>
          </a:solidFill>
          <a:ln w="0">
            <a:noFill/>
          </a:ln>
        </p:spPr>
        <p:txBody>
          <a:bodyPr lIns="0" tIns="0" rIns="0" bIns="0" anchor="t">
            <a:noAutofit/>
          </a:bodyPr>
          <a:lstStyle/>
          <a:p>
            <a:pPr algn="ctr">
              <a:defRPr sz="990" b="1">
                <a:solidFill>
                  <a:srgbClr val="FFFFFF"/>
                </a:solidFill>
                <a:latin typeface="Arial"/>
                <a:ea typeface="Arial"/>
                <a:cs typeface="Arial"/>
              </a:defRPr>
            </a:pPr>
            <a:r>
              <a:rPr sz="990" b="1">
                <a:solidFill>
                  <a:srgbClr val="FFFFFF"/>
                </a:solidFill>
                <a:latin typeface="Arial"/>
                <a:ea typeface="Arial"/>
                <a:cs typeface="Arial"/>
              </a:rPr>
              <a:t>Potential Business Impact</a:t>
            </a:r>
          </a:p>
        </p:txBody>
      </p:sp>
      <p:sp>
        <p:nvSpPr>
          <p:cNvPr id="23" name="Revised Impact Body">
            <a:extLst>
              <a:ext uri="{FF2B5EF4-FFF2-40B4-BE49-F238E27FC236}">
                <a16:creationId xmlns:a16="http://schemas.microsoft.com/office/drawing/2014/main" id="{AF191914-67F7-4874-99F1-3B86BEF107FE}"/>
              </a:ext>
            </a:extLst>
          </p:cNvPr>
          <p:cNvSpPr>
            <a:spLocks noGrp="1"/>
          </p:cNvSpPr>
          <p:nvPr/>
        </p:nvSpPr>
        <p:spPr>
          <a:xfrm>
            <a:off x="314325" y="4438650"/>
            <a:ext cx="8420100" cy="1266825"/>
          </a:xfrm>
          <a:prstGeom prst="rect">
            <a:avLst/>
          </a:prstGeom>
          <a:noFill/>
          <a:ln w="0">
            <a:noFill/>
          </a:ln>
        </p:spPr>
        <p:txBody>
          <a:bodyPr lIns="0" tIns="0" rIns="0" bIns="0" anchor="t">
            <a:noAutofit/>
          </a:bodyPr>
          <a:lstStyle/>
          <a:p>
            <a:pPr>
              <a:defRPr sz="1125" b="0">
                <a:solidFill>
                  <a:srgbClr val="333333"/>
                </a:solidFill>
                <a:latin typeface="Arial"/>
                <a:ea typeface="Arial"/>
                <a:cs typeface="Arial"/>
              </a:defRPr>
            </a:pPr>
            <a:r>
              <a:rPr sz="1125" b="0">
                <a:solidFill>
                  <a:srgbClr val="333333"/>
                </a:solidFill>
                <a:latin typeface="Arial"/>
                <a:ea typeface="Arial"/>
                <a:cs typeface="Arial"/>
              </a:rPr>
              <a:t>[How the idea could improve the business, considering the costs and time needed to put it into practice.]</a:t>
            </a:r>
          </a:p>
          <a:p>
            <a:endParaRPr sz="1125" b="0">
              <a:solidFill>
                <a:srgbClr val="333333"/>
              </a:solidFill>
              <a:latin typeface="Arial"/>
              <a:ea typeface="Arial"/>
              <a:cs typeface="Arial"/>
            </a:endParaRPr>
          </a:p>
          <a:p>
            <a:pPr>
              <a:defRPr sz="1125" b="0">
                <a:solidFill>
                  <a:srgbClr val="333333"/>
                </a:solidFill>
                <a:latin typeface="Arial"/>
                <a:ea typeface="Arial"/>
                <a:cs typeface="Arial"/>
              </a:defRPr>
            </a:pPr>
            <a:r>
              <a:rPr sz="1125" b="0">
                <a:solidFill>
                  <a:srgbClr val="333333"/>
                </a:solidFill>
                <a:latin typeface="Arial"/>
                <a:ea typeface="Arial"/>
                <a:cs typeface="Arial"/>
              </a:rPr>
              <a:t>[If you can support financial estimates, explain their effect on your model.]</a:t>
            </a:r>
          </a:p>
        </p:txBody>
      </p:sp>
      <p:sp>
        <p:nvSpPr>
          <p:cNvPr id="24" name="Revised Optional Footer">
            <a:extLst>
              <a:ext uri="{FF2B5EF4-FFF2-40B4-BE49-F238E27FC236}">
                <a16:creationId xmlns:a16="http://schemas.microsoft.com/office/drawing/2014/main" id="{671C22D0-00F2-474E-82B3-72110169A93A}"/>
              </a:ext>
            </a:extLst>
          </p:cNvPr>
          <p:cNvSpPr>
            <a:spLocks noGrp="1"/>
          </p:cNvSpPr>
          <p:nvPr/>
        </p:nvSpPr>
        <p:spPr>
          <a:xfrm>
            <a:off x="228600" y="6296025"/>
            <a:ext cx="8477250" cy="209550"/>
          </a:xfrm>
          <a:prstGeom prst="rect">
            <a:avLst/>
          </a:prstGeom>
          <a:noFill/>
          <a:ln w="0">
            <a:noFill/>
          </a:ln>
        </p:spPr>
        <p:txBody>
          <a:bodyPr lIns="0" tIns="0" rIns="0" bIns="0" anchor="t">
            <a:noAutofit/>
          </a:bodyPr>
          <a:lstStyle/>
          <a:p>
            <a:pPr>
              <a:defRPr sz="638" b="0">
                <a:solidFill>
                  <a:srgbClr val="333333"/>
                </a:solidFill>
                <a:latin typeface="Arial"/>
                <a:ea typeface="Arial"/>
                <a:cs typeface="Arial"/>
              </a:defRPr>
            </a:pPr>
            <a:r>
              <a:rPr sz="638" b="0">
                <a:solidFill>
                  <a:srgbClr val="333333"/>
                </a:solidFill>
                <a:latin typeface="Arial"/>
                <a:ea typeface="Arial"/>
                <a:cs typeface="Arial"/>
              </a:rPr>
              <a:t>You may adapt or omit this optional slide. A qualitative proposal does not require a change to the model.</a:t>
            </a:r>
          </a:p>
        </p:txBody>
      </p:sp>
      <p:sp>
        <p:nvSpPr>
          <p:cNvPr id="25" name="Revised Page Number">
            <a:extLst>
              <a:ext uri="{FF2B5EF4-FFF2-40B4-BE49-F238E27FC236}">
                <a16:creationId xmlns:a16="http://schemas.microsoft.com/office/drawing/2014/main" id="{EC672875-5D13-4183-85F0-3C5BACC7256C}"/>
              </a:ext>
            </a:extLst>
          </p:cNvPr>
          <p:cNvSpPr>
            <a:spLocks noGrp="1"/>
          </p:cNvSpPr>
          <p:nvPr/>
        </p:nvSpPr>
        <p:spPr>
          <a:xfrm>
            <a:off x="8791575" y="6419850"/>
            <a:ext cx="228600" cy="190500"/>
          </a:xfrm>
          <a:prstGeom prst="rect">
            <a:avLst/>
          </a:prstGeom>
          <a:noFill/>
          <a:ln w="0">
            <a:noFill/>
          </a:ln>
        </p:spPr>
        <p:txBody>
          <a:bodyPr lIns="0" tIns="0" rIns="0" bIns="0" anchor="t">
            <a:noAutofit/>
          </a:bodyPr>
          <a:lstStyle/>
          <a:p>
            <a:pPr>
              <a:defRPr sz="750" b="0">
                <a:solidFill>
                  <a:srgbClr val="888888"/>
                </a:solidFill>
                <a:latin typeface="Arial"/>
                <a:ea typeface="Arial"/>
                <a:cs typeface="Arial"/>
              </a:defRPr>
            </a:pPr>
            <a:r>
              <a:rPr sz="750" b="0">
                <a:solidFill>
                  <a:srgbClr val="888888"/>
                </a:solidFill>
                <a:latin typeface="Arial"/>
                <a:ea typeface="Arial"/>
                <a:cs typeface="Arial"/>
              </a:rPr>
              <a:t>4</a:t>
            </a:r>
          </a:p>
        </p:txBody>
      </p:sp>
    </p:spTree>
    <p:extLst>
      <p:ext uri="{BB962C8B-B14F-4D97-AF65-F5344CB8AC3E}">
        <p14:creationId xmlns:p14="http://schemas.microsoft.com/office/powerpoint/2010/main" val="814249529"/>
      </p:ext>
    </p:extLst>
  </p:cSld>
  <p:clrMapOvr>
    <a:masterClrMapping/>
  </p:clrMapOvr>
</p:sld>
</file>

<file path=ppt/theme/theme1.xml><?xml version="1.0" encoding="utf-8"?>
<a:theme xmlns:a="http://schemas.openxmlformats.org/drawingml/2006/main" name="AA_Content">
  <a:themeElements>
    <a:clrScheme name="Aviditi Final">
      <a:dk1>
        <a:srgbClr val="FFFFFF"/>
      </a:dk1>
      <a:lt1>
        <a:srgbClr val="353535"/>
      </a:lt1>
      <a:dk2>
        <a:srgbClr val="5F8097"/>
      </a:dk2>
      <a:lt2>
        <a:srgbClr val="476071"/>
      </a:lt2>
      <a:accent1>
        <a:srgbClr val="5F8097"/>
      </a:accent1>
      <a:accent2>
        <a:srgbClr val="9DB3C1"/>
      </a:accent2>
      <a:accent3>
        <a:srgbClr val="A5A5A5"/>
      </a:accent3>
      <a:accent4>
        <a:srgbClr val="9EBEB3"/>
      </a:accent4>
      <a:accent5>
        <a:srgbClr val="F0301D"/>
      </a:accent5>
      <a:accent6>
        <a:srgbClr val="DEB406"/>
      </a:accent6>
      <a:hlink>
        <a:srgbClr val="E80817"/>
      </a:hlink>
      <a:folHlink>
        <a:srgbClr val="DEB406"/>
      </a:folHlink>
    </a:clrScheme>
    <a:fontScheme name="Arial">
      <a:maj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viditi Final">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AA_Content">
  <a:themeElements>
    <a:clrScheme name="Aviditi Final">
      <a:dk1>
        <a:srgbClr val="FFFFFF"/>
      </a:dk1>
      <a:lt1>
        <a:srgbClr val="353535"/>
      </a:lt1>
      <a:dk2>
        <a:srgbClr val="5F8097"/>
      </a:dk2>
      <a:lt2>
        <a:srgbClr val="476071"/>
      </a:lt2>
      <a:accent1>
        <a:srgbClr val="5F8097"/>
      </a:accent1>
      <a:accent2>
        <a:srgbClr val="9DB3C1"/>
      </a:accent2>
      <a:accent3>
        <a:srgbClr val="A5A5A5"/>
      </a:accent3>
      <a:accent4>
        <a:srgbClr val="9EBEB3"/>
      </a:accent4>
      <a:accent5>
        <a:srgbClr val="F0301D"/>
      </a:accent5>
      <a:accent6>
        <a:srgbClr val="DEB406"/>
      </a:accent6>
      <a:hlink>
        <a:srgbClr val="E80817"/>
      </a:hlink>
      <a:folHlink>
        <a:srgbClr val="DEB406"/>
      </a:folHlink>
    </a:clrScheme>
    <a:fontScheme name="Arial">
      <a:maj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viditi Final">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2338</Words>
  <Application>Microsoft Macintosh PowerPoint</Application>
  <DocSecurity>0</DocSecurity>
  <PresentationFormat>On-screen Show (4:3)</PresentationFormat>
  <Paragraphs>557</Paragraphs>
  <Slides>4</Slides>
  <Notes>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vt:i4>
      </vt:variant>
    </vt:vector>
  </HeadingPairs>
  <TitlesOfParts>
    <vt:vector size="6" baseType="lpstr">
      <vt:lpstr>Arial</vt:lpstr>
      <vt:lpstr>AA_Content</vt:lpstr>
      <vt:lpstr>[Company Name] | Company Overview</vt:lpstr>
      <vt:lpstr>[Company Name] | Relevant Highlights</vt:lpstr>
      <vt:lpstr>[Company Name] | Short Form LBO Analysis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Ghaddar, Sami</cp:lastModifiedBy>
  <cp:revision>2</cp:revision>
  <dcterms:created xsi:type="dcterms:W3CDTF">2026-09-16T21:56:38Z</dcterms:created>
  <dcterms:modified xsi:type="dcterms:W3CDTF">2026-09-16T22:24:33Z</dcterms:modified>
</cp:coreProperties>
</file>